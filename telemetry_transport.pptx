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4.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5.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6.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7.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2aa8ce6-b271-d289-63ad-69890a9c60f0}">
          <p14:sldIdLst>
            <p14:sldId id="256"/>
            <p14:sldId id="257"/>
            <p14:sldId id="258"/>
            <p14:sldId id="259"/>
            <p14:sldId id="260"/>
          </p14:sldIdLst>
        </p14:section>
        <p14:section name="Baseline" id="{f86eb29c-0641-44b3-8b5c-e29487dbe484}">
          <p14:sldIdLst>
            <p14:sldId id="261"/>
            <p14:sldId id="262"/>
            <p14:sldId id="263"/>
            <p14:sldId id="264"/>
          </p14:sldIdLst>
        </p14:section>
        <p14:section name="Method" id="{f682fedd-7fab-8966-0eab-ea98eea2f023}">
          <p14:sldIdLst>
            <p14:sldId id="265"/>
            <p14:sldId id="266"/>
            <p14:sldId id="267"/>
            <p14:sldId id="268"/>
          </p14:sldIdLst>
        </p14:section>
        <p14:section name="Evaluation" id="{4185238a-9482-3b5b-dd85-24f60e4653b7}">
          <p14:sldIdLst>
            <p14:sldId id="269"/>
            <p14:sldId id="270"/>
            <p14:sldId id="271"/>
            <p14:sldId id="272"/>
            <p14:sldId id="273"/>
            <p14:sldId id="274"/>
            <p14:sldId id="275"/>
            <p14:sldId id="276"/>
          </p14:sldIdLst>
        </p14:section>
        <p14:section name="Close" id="{1951f3fa-b36a-af67-89c7-75f5badebd6e}">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Alarms</c:v>
                </c:pt>
              </c:strCache>
            </c:strRef>
          </c:tx>
          <c:spPr>
            <a:solidFill>
              <a:srgbClr val="E4572E"/>
            </a:solidFill>
            <a:effectLst/>
          </c:spPr>
          <c:invertIfNegative val="0"/>
          <c:dLbls>
            <c:numFmt formatCode="0" sourceLinked="0"/>
            <c:txPr>
              <a:bodyPr/>
              <a:lstStyle/>
              <a:p>
                <a:pPr>
                  <a:defRPr b="0" i="0" strike="noStrike" sz="1000" u="none">
                    <a:solidFill>
                      <a:srgbClr val="3B4A53"/>
                    </a:solidFill>
                    <a:latin typeface="+mn-lt"/>
                  </a:defRPr>
                </a:pPr>
              </a:p>
            </c:txPr>
            <c:showLegendKey val="0"/>
            <c:showVal val="1"/>
            <c:showCatName val="0"/>
            <c:showSerName val="0"/>
            <c:showPercent val="0"/>
            <c:showBubbleSize val="0"/>
            <c:showLeaderLines val="0"/>
          </c:dLbls>
          <c:cat>
            <c:multiLvlStrRef>
              <c:f>Sheet1!$A$2:$A$6</c:f>
              <c:multiLvlStrCache>
                <c:ptCount val="5"/>
                <c:lvl>
                  <c:pt idx="0">
                    <c:v>TCP</c:v>
                  </c:pt>
                  <c:pt idx="1">
                    <c:v>UDP</c:v>
                  </c:pt>
                  <c:pt idx="2">
                    <c:v>UDP+Prio</c:v>
                  </c:pt>
                  <c:pt idx="3">
                    <c:v>Transport-only</c:v>
                  </c:pt>
                  <c:pt idx="4">
                    <c:v>Proposed</c:v>
                  </c:pt>
                </c:lvl>
              </c:multiLvlStrCache>
            </c:multiLvlStrRef>
          </c:cat>
          <c:val>
            <c:numRef>
              <c:f>Sheet1!$B$2:$B$6</c:f>
              <c:numCache>
                <c:formatCode>General</c:formatCode>
                <c:ptCount val="5"/>
                <c:pt idx="0">
                  <c:v>20.077684431121867</c:v>
                </c:pt>
                <c:pt idx="1">
                  <c:v>31.350259467510266</c:v>
                </c:pt>
                <c:pt idx="2">
                  <c:v>98.06868616390658</c:v>
                </c:pt>
                <c:pt idx="3">
                  <c:v>31.294374934586035</c:v>
                </c:pt>
                <c:pt idx="4">
                  <c:v>100</c:v>
                </c:pt>
              </c:numCache>
            </c:numRef>
          </c:val>
        </c:ser>
        <c:ser>
          <c:idx val="1"/>
          <c:order val="1"/>
          <c:tx>
            <c:strRef>
              <c:f>Sheet1!$C$1</c:f>
              <c:strCache>
                <c:ptCount val="1"/>
                <c:pt idx="0">
                  <c:v>ECG</c:v>
                </c:pt>
              </c:strCache>
            </c:strRef>
          </c:tx>
          <c:spPr>
            <a:solidFill>
              <a:srgbClr val="0E7C86"/>
            </a:solidFill>
            <a:effectLst/>
          </c:spPr>
          <c:invertIfNegative val="0"/>
          <c:dLbls>
            <c:numFmt formatCode="0" sourceLinked="0"/>
            <c:txPr>
              <a:bodyPr/>
              <a:lstStyle/>
              <a:p>
                <a:pPr>
                  <a:defRPr b="0" i="0" strike="noStrike" sz="1000" u="none">
                    <a:solidFill>
                      <a:srgbClr val="3B4A53"/>
                    </a:solidFill>
                    <a:latin typeface="+mn-lt"/>
                  </a:defRPr>
                </a:pPr>
              </a:p>
            </c:txPr>
            <c:showLegendKey val="0"/>
            <c:showVal val="1"/>
            <c:showCatName val="0"/>
            <c:showSerName val="0"/>
            <c:showPercent val="0"/>
            <c:showBubbleSize val="0"/>
            <c:showLeaderLines val="0"/>
          </c:dLbls>
          <c:cat>
            <c:multiLvlStrRef>
              <c:f>Sheet1!$A$2:$A$6</c:f>
              <c:multiLvlStrCache>
                <c:ptCount val="5"/>
                <c:lvl>
                  <c:pt idx="0">
                    <c:v>TCP</c:v>
                  </c:pt>
                  <c:pt idx="1">
                    <c:v>UDP</c:v>
                  </c:pt>
                  <c:pt idx="2">
                    <c:v>UDP+Prio</c:v>
                  </c:pt>
                  <c:pt idx="3">
                    <c:v>Transport-only</c:v>
                  </c:pt>
                  <c:pt idx="4">
                    <c:v>Proposed</c:v>
                  </c:pt>
                </c:lvl>
              </c:multiLvlStrCache>
            </c:multiLvlStrRef>
          </c:cat>
          <c:val>
            <c:numRef>
              <c:f>Sheet1!$C$2:$C$6</c:f>
              <c:numCache>
                <c:formatCode>General</c:formatCode>
                <c:ptCount val="5"/>
                <c:pt idx="0">
                  <c:v>72.1046052631579</c:v>
                </c:pt>
                <c:pt idx="1">
                  <c:v>98.4826754385965</c:v>
                </c:pt>
                <c:pt idx="2">
                  <c:v>98.10723684210527</c:v>
                </c:pt>
                <c:pt idx="3">
                  <c:v>98.34802631578947</c:v>
                </c:pt>
                <c:pt idx="4">
                  <c:v>99.99912280701754</c:v>
                </c:pt>
              </c:numCache>
            </c:numRef>
          </c:val>
        </c:ser>
        <c:ser>
          <c:idx val="2"/>
          <c:order val="2"/>
          <c:tx>
            <c:strRef>
              <c:f>Sheet1!$D$1</c:f>
              <c:strCache>
                <c:ptCount val="1"/>
                <c:pt idx="0">
                  <c:v>Vitals</c:v>
                </c:pt>
              </c:strCache>
            </c:strRef>
          </c:tx>
          <c:spPr>
            <a:solidFill>
              <a:srgbClr val="5B8FB9"/>
            </a:solidFill>
            <a:effectLst/>
          </c:spPr>
          <c:invertIfNegative val="0"/>
          <c:dLbls>
            <c:numFmt formatCode="0" sourceLinked="0"/>
            <c:txPr>
              <a:bodyPr/>
              <a:lstStyle/>
              <a:p>
                <a:pPr>
                  <a:defRPr b="0" i="0" strike="noStrike" sz="1000" u="none">
                    <a:solidFill>
                      <a:srgbClr val="3B4A53"/>
                    </a:solidFill>
                    <a:latin typeface="+mn-lt"/>
                  </a:defRPr>
                </a:pPr>
              </a:p>
            </c:txPr>
            <c:showLegendKey val="0"/>
            <c:showVal val="1"/>
            <c:showCatName val="0"/>
            <c:showSerName val="0"/>
            <c:showPercent val="0"/>
            <c:showBubbleSize val="0"/>
            <c:showLeaderLines val="0"/>
          </c:dLbls>
          <c:cat>
            <c:multiLvlStrRef>
              <c:f>Sheet1!$A$2:$A$6</c:f>
              <c:multiLvlStrCache>
                <c:ptCount val="5"/>
                <c:lvl>
                  <c:pt idx="0">
                    <c:v>TCP</c:v>
                  </c:pt>
                  <c:pt idx="1">
                    <c:v>UDP</c:v>
                  </c:pt>
                  <c:pt idx="2">
                    <c:v>UDP+Prio</c:v>
                  </c:pt>
                  <c:pt idx="3">
                    <c:v>Transport-only</c:v>
                  </c:pt>
                  <c:pt idx="4">
                    <c:v>Proposed</c:v>
                  </c:pt>
                </c:lvl>
              </c:multiLvlStrCache>
            </c:multiLvlStrRef>
          </c:cat>
          <c:val>
            <c:numRef>
              <c:f>Sheet1!$D$2:$D$6</c:f>
              <c:numCache>
                <c:formatCode>General</c:formatCode>
                <c:ptCount val="5"/>
                <c:pt idx="0">
                  <c:v>99.0076754385965</c:v>
                </c:pt>
                <c:pt idx="1">
                  <c:v>98.61293859649123</c:v>
                </c:pt>
                <c:pt idx="2">
                  <c:v>97.94956140350877</c:v>
                </c:pt>
                <c:pt idx="3">
                  <c:v>100</c:v>
                </c:pt>
                <c:pt idx="4">
                  <c:v>100</c:v>
                </c:pt>
              </c:numCache>
            </c:numRef>
          </c:val>
        </c:ser>
        <c:dLbls>
          <c:numFmt formatCode="0" sourceLinked="0"/>
          <c:txPr>
            <a:bodyPr/>
            <a:lstStyle/>
            <a:p>
              <a:pPr>
                <a:defRPr b="0" i="0" strike="noStrike" sz="1000" u="none">
                  <a:solidFill>
                    <a:srgbClr val="3B4A5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B4A53"/>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D5E0E3"/>
              </a:solidFill>
              <a:prstDash val="solid"/>
              <a:round/>
            </a:ln>
          </c:spPr>
        </c:majorGridlines>
        <c:title>
          <c:tx>
            <c:rich>
              <a:bodyPr/>
              <a:lstStyle/>
              <a:p>
                <a:pPr>
                  <a:defRPr sz="1100" b="0" i="0" u="none" strike="noStrike">
                    <a:solidFill>
                      <a:srgbClr val="3B4A53"/>
                    </a:solidFill>
                    <a:latin typeface="+mn-lt"/>
                  </a:defRPr>
                </a:pPr>
                <a:r>
                  <a:rPr sz="1100" b="0" i="0" u="none" strike="noStrike">
                    <a:solidFill>
                      <a:srgbClr val="3B4A53"/>
                    </a:solidFill>
                    <a:latin typeface="+mn-lt"/>
                  </a:rPr>
                  <a:t>Delivered by deadline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B4A53"/>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100">
              <a:solidFill>
                <a:srgbClr val="3B4A5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2A38"/>
                </a:solidFill>
                <a:latin typeface="+mn-lt"/>
              </a:defRPr>
            </a:pPr>
            <a:r>
              <a:rPr sz="1400" b="0" i="0" u="none" strike="noStrike">
                <a:solidFill>
                  <a:srgbClr val="0E2A38"/>
                </a:solidFill>
                <a:latin typeface="+mn-lt"/>
              </a:rPr>
              <a:t>Alarms (150 ms deadline)</a:t>
            </a:r>
          </a:p>
        </c:rich>
      </c:tx>
      <c:layout/>
      <c:overlay val="0"/>
    </c:title>
    <c:autoTitleDeleted val="0"/>
    <c:plotArea>
      <c:layout/>
      <c:lineChart>
        <c:varyColors val="0"/>
        <c:ser>
          <c:idx val="0"/>
          <c:order val="0"/>
          <c:tx>
            <c:strRef>
              <c:f>Sheet1!$B$1</c:f>
              <c:strCache>
                <c:ptCount val="1"/>
                <c:pt idx="0">
                  <c:v>TCP</c:v>
                </c:pt>
              </c:strCache>
            </c:strRef>
          </c:tx>
          <c:spPr>
            <a:solidFill>
              <a:srgbClr val="E4572E"/>
            </a:solidFill>
            <a:ln w="31750" cap="flat">
              <a:solidFill>
                <a:srgbClr val="E4572E"/>
              </a:solidFill>
              <a:prstDash val="solid"/>
              <a:round/>
            </a:ln>
            <a:effectLst/>
          </c:spPr>
          <c:invertIfNegative val="0"/>
          <c:dLbls>
            <c:numFmt formatCode="#,##0" sourceLinked="0"/>
            <c:txPr>
              <a:bodyPr/>
              <a:lstStyle/>
              <a:p>
                <a:pPr>
                  <a:defRPr b="0" i="0" strike="noStrike" sz="1000" u="none">
                    <a:solidFill>
                      <a:srgbClr val="3B4A53"/>
                    </a:solidFill>
                    <a:latin typeface="+mn-lt"/>
                  </a:defRPr>
                </a:pPr>
              </a:p>
            </c:txPr>
            <c:showLegendKey val="0"/>
            <c:showVal val="0"/>
            <c:showCatName val="0"/>
            <c:showSerName val="0"/>
            <c:showPercent val="0"/>
            <c:showBubbleSize val="0"/>
            <c:showLeaderLines val="0"/>
          </c:dLbls>
          <c:marker>
            <c:symbol val="circle"/>
            <c:size val="7"/>
            <c:spPr>
              <a:solidFill>
                <a:srgbClr val="E4572E"/>
              </a:solidFill>
              <a:ln w="9525" cap="flat">
                <a:solidFill>
                  <a:srgbClr val="E4572E"/>
                </a:solidFill>
                <a:prstDash val="solid"/>
                <a:round/>
              </a:ln>
              <a:effectLst/>
            </c:spPr>
          </c:marker>
          <c:cat>
            <c:multiLvlStrRef>
              <c:f>Sheet1!$A$2:$A$7</c:f>
              <c:multiLvlStrCache>
                <c:ptCount val="6"/>
                <c:lvl>
                  <c:pt idx="0">
                    <c:v>0</c:v>
                  </c:pt>
                  <c:pt idx="1">
                    <c:v>2</c:v>
                  </c:pt>
                  <c:pt idx="2">
                    <c:v>4</c:v>
                  </c:pt>
                  <c:pt idx="3">
                    <c:v>8</c:v>
                  </c:pt>
                  <c:pt idx="4">
                    <c:v>12</c:v>
                  </c:pt>
                  <c:pt idx="5">
                    <c:v>16</c:v>
                  </c:pt>
                </c:lvl>
              </c:multiLvlStrCache>
            </c:multiLvlStrRef>
          </c:cat>
          <c:val>
            <c:numRef>
              <c:f>Sheet1!$B$2:$B$7</c:f>
              <c:numCache>
                <c:formatCode>General</c:formatCode>
                <c:ptCount val="6"/>
                <c:pt idx="0">
                  <c:v>99.24580928444537</c:v>
                </c:pt>
                <c:pt idx="1">
                  <c:v>97.13253176234926</c:v>
                </c:pt>
                <c:pt idx="2">
                  <c:v>82.85870914980727</c:v>
                </c:pt>
                <c:pt idx="3">
                  <c:v>20.077684431121867</c:v>
                </c:pt>
                <c:pt idx="4">
                  <c:v>4.426982987515744</c:v>
                </c:pt>
                <c:pt idx="5">
                  <c:v>0.748729735633055</c:v>
                </c:pt>
              </c:numCache>
            </c:numRef>
          </c:val>
          <c:smooth val="0"/>
        </c:ser>
        <c:ser>
          <c:idx val="1"/>
          <c:order val="1"/>
          <c:tx>
            <c:strRef>
              <c:f>Sheet1!$C$1</c:f>
              <c:strCache>
                <c:ptCount val="1"/>
                <c:pt idx="0">
                  <c:v>UDP</c:v>
                </c:pt>
              </c:strCache>
            </c:strRef>
          </c:tx>
          <c:spPr>
            <a:solidFill>
              <a:srgbClr val="F2A541"/>
            </a:solidFill>
            <a:ln w="31750" cap="flat">
              <a:solidFill>
                <a:srgbClr val="F2A541"/>
              </a:solidFill>
              <a:prstDash val="solid"/>
              <a:round/>
            </a:ln>
            <a:effectLst/>
          </c:spPr>
          <c:invertIfNegative val="0"/>
          <c:dLbls>
            <c:numFmt formatCode="#,##0" sourceLinked="0"/>
            <c:txPr>
              <a:bodyPr/>
              <a:lstStyle/>
              <a:p>
                <a:pPr>
                  <a:defRPr b="0" i="0" strike="noStrike" sz="1000" u="none">
                    <a:solidFill>
                      <a:srgbClr val="3B4A53"/>
                    </a:solidFill>
                    <a:latin typeface="+mn-lt"/>
                  </a:defRPr>
                </a:pPr>
              </a:p>
            </c:txPr>
            <c:showLegendKey val="0"/>
            <c:showVal val="0"/>
            <c:showCatName val="0"/>
            <c:showSerName val="0"/>
            <c:showPercent val="0"/>
            <c:showBubbleSize val="0"/>
            <c:showLeaderLines val="0"/>
          </c:dLbls>
          <c:marker>
            <c:symbol val="circle"/>
            <c:size val="7"/>
            <c:spPr>
              <a:solidFill>
                <a:srgbClr val="F2A541"/>
              </a:solidFill>
              <a:ln w="9525" cap="flat">
                <a:solidFill>
                  <a:srgbClr val="F2A541"/>
                </a:solidFill>
                <a:prstDash val="solid"/>
                <a:round/>
              </a:ln>
              <a:effectLst/>
            </c:spPr>
          </c:marker>
          <c:cat>
            <c:multiLvlStrRef>
              <c:f>Sheet1!$A$2:$A$7</c:f>
              <c:multiLvlStrCache>
                <c:ptCount val="6"/>
                <c:lvl>
                  <c:pt idx="0">
                    <c:v>0</c:v>
                  </c:pt>
                  <c:pt idx="1">
                    <c:v>2</c:v>
                  </c:pt>
                  <c:pt idx="2">
                    <c:v>4</c:v>
                  </c:pt>
                  <c:pt idx="3">
                    <c:v>8</c:v>
                  </c:pt>
                  <c:pt idx="4">
                    <c:v>12</c:v>
                  </c:pt>
                  <c:pt idx="5">
                    <c:v>16</c:v>
                  </c:pt>
                </c:lvl>
              </c:multiLvlStrCache>
            </c:multiLvlStrRef>
          </c:cat>
          <c:val>
            <c:numRef>
              <c:f>Sheet1!$C$2:$C$7</c:f>
              <c:numCache>
                <c:formatCode>General</c:formatCode>
                <c:ptCount val="6"/>
                <c:pt idx="0">
                  <c:v>98.14806938839419</c:v>
                </c:pt>
                <c:pt idx="1">
                  <c:v>98.47246760566209</c:v>
                </c:pt>
                <c:pt idx="2">
                  <c:v>91.41329117640929</c:v>
                </c:pt>
                <c:pt idx="3">
                  <c:v>31.350259467510266</c:v>
                </c:pt>
                <c:pt idx="4">
                  <c:v>12.235203179765422</c:v>
                </c:pt>
                <c:pt idx="5">
                  <c:v>4.606486715443925</c:v>
                </c:pt>
              </c:numCache>
            </c:numRef>
          </c:val>
          <c:smooth val="0"/>
        </c:ser>
        <c:ser>
          <c:idx val="2"/>
          <c:order val="2"/>
          <c:tx>
            <c:strRef>
              <c:f>Sheet1!$D$1</c:f>
              <c:strCache>
                <c:ptCount val="1"/>
                <c:pt idx="0">
                  <c:v>UDP+Prio</c:v>
                </c:pt>
              </c:strCache>
            </c:strRef>
          </c:tx>
          <c:spPr>
            <a:solidFill>
              <a:srgbClr val="5B8FB9"/>
            </a:solidFill>
            <a:ln w="31750" cap="flat">
              <a:solidFill>
                <a:srgbClr val="5B8FB9"/>
              </a:solidFill>
              <a:prstDash val="solid"/>
              <a:round/>
            </a:ln>
            <a:effectLst/>
          </c:spPr>
          <c:invertIfNegative val="0"/>
          <c:dLbls>
            <c:numFmt formatCode="#,##0" sourceLinked="0"/>
            <c:txPr>
              <a:bodyPr/>
              <a:lstStyle/>
              <a:p>
                <a:pPr>
                  <a:defRPr b="0" i="0" strike="noStrike" sz="1000" u="none">
                    <a:solidFill>
                      <a:srgbClr val="3B4A53"/>
                    </a:solidFill>
                    <a:latin typeface="+mn-lt"/>
                  </a:defRPr>
                </a:pPr>
              </a:p>
            </c:txPr>
            <c:showLegendKey val="0"/>
            <c:showVal val="0"/>
            <c:showCatName val="0"/>
            <c:showSerName val="0"/>
            <c:showPercent val="0"/>
            <c:showBubbleSize val="0"/>
            <c:showLeaderLines val="0"/>
          </c:dLbls>
          <c:marker>
            <c:symbol val="circle"/>
            <c:size val="7"/>
            <c:spPr>
              <a:solidFill>
                <a:srgbClr val="5B8FB9"/>
              </a:solidFill>
              <a:ln w="9525" cap="flat">
                <a:solidFill>
                  <a:srgbClr val="5B8FB9"/>
                </a:solidFill>
                <a:prstDash val="solid"/>
                <a:round/>
              </a:ln>
              <a:effectLst/>
            </c:spPr>
          </c:marker>
          <c:cat>
            <c:multiLvlStrRef>
              <c:f>Sheet1!$A$2:$A$7</c:f>
              <c:multiLvlStrCache>
                <c:ptCount val="6"/>
                <c:lvl>
                  <c:pt idx="0">
                    <c:v>0</c:v>
                  </c:pt>
                  <c:pt idx="1">
                    <c:v>2</c:v>
                  </c:pt>
                  <c:pt idx="2">
                    <c:v>4</c:v>
                  </c:pt>
                  <c:pt idx="3">
                    <c:v>8</c:v>
                  </c:pt>
                  <c:pt idx="4">
                    <c:v>12</c:v>
                  </c:pt>
                  <c:pt idx="5">
                    <c:v>16</c:v>
                  </c:pt>
                </c:lvl>
              </c:multiLvlStrCache>
            </c:multiLvlStrRef>
          </c:cat>
          <c:val>
            <c:numRef>
              <c:f>Sheet1!$D$2:$D$7</c:f>
              <c:numCache>
                <c:formatCode>General</c:formatCode>
                <c:ptCount val="6"/>
                <c:pt idx="0">
                  <c:v>98.38610567601796</c:v>
                </c:pt>
                <c:pt idx="1">
                  <c:v>98.46820376974739</c:v>
                </c:pt>
                <c:pt idx="2">
                  <c:v>98.07523711069635</c:v>
                </c:pt>
                <c:pt idx="3">
                  <c:v>98.06868616390658</c:v>
                </c:pt>
                <c:pt idx="4">
                  <c:v>98.35659623473066</c:v>
                </c:pt>
                <c:pt idx="5">
                  <c:v>98.26106728157711</c:v>
                </c:pt>
              </c:numCache>
            </c:numRef>
          </c:val>
          <c:smooth val="0"/>
        </c:ser>
        <c:ser>
          <c:idx val="3"/>
          <c:order val="3"/>
          <c:tx>
            <c:strRef>
              <c:f>Sheet1!$E$1</c:f>
              <c:strCache>
                <c:ptCount val="1"/>
                <c:pt idx="0">
                  <c:v>Transport-only</c:v>
                </c:pt>
              </c:strCache>
            </c:strRef>
          </c:tx>
          <c:spPr>
            <a:solidFill>
              <a:srgbClr val="7A8B99"/>
            </a:solidFill>
            <a:ln w="31750" cap="flat">
              <a:solidFill>
                <a:srgbClr val="7A8B99"/>
              </a:solidFill>
              <a:prstDash val="solid"/>
              <a:round/>
            </a:ln>
            <a:effectLst/>
          </c:spPr>
          <c:invertIfNegative val="0"/>
          <c:dLbls>
            <c:numFmt formatCode="#,##0" sourceLinked="0"/>
            <c:txPr>
              <a:bodyPr/>
              <a:lstStyle/>
              <a:p>
                <a:pPr>
                  <a:defRPr b="0" i="0" strike="noStrike" sz="1000" u="none">
                    <a:solidFill>
                      <a:srgbClr val="3B4A53"/>
                    </a:solidFill>
                    <a:latin typeface="+mn-lt"/>
                  </a:defRPr>
                </a:pPr>
              </a:p>
            </c:txPr>
            <c:showLegendKey val="0"/>
            <c:showVal val="0"/>
            <c:showCatName val="0"/>
            <c:showSerName val="0"/>
            <c:showPercent val="0"/>
            <c:showBubbleSize val="0"/>
            <c:showLeaderLines val="0"/>
          </c:dLbls>
          <c:marker>
            <c:symbol val="circle"/>
            <c:size val="7"/>
            <c:spPr>
              <a:solidFill>
                <a:srgbClr val="7A8B99"/>
              </a:solidFill>
              <a:ln w="9525" cap="flat">
                <a:solidFill>
                  <a:srgbClr val="7A8B99"/>
                </a:solidFill>
                <a:prstDash val="solid"/>
                <a:round/>
              </a:ln>
              <a:effectLst/>
            </c:spPr>
          </c:marker>
          <c:cat>
            <c:multiLvlStrRef>
              <c:f>Sheet1!$A$2:$A$7</c:f>
              <c:multiLvlStrCache>
                <c:ptCount val="6"/>
                <c:lvl>
                  <c:pt idx="0">
                    <c:v>0</c:v>
                  </c:pt>
                  <c:pt idx="1">
                    <c:v>2</c:v>
                  </c:pt>
                  <c:pt idx="2">
                    <c:v>4</c:v>
                  </c:pt>
                  <c:pt idx="3">
                    <c:v>8</c:v>
                  </c:pt>
                  <c:pt idx="4">
                    <c:v>12</c:v>
                  </c:pt>
                  <c:pt idx="5">
                    <c:v>16</c:v>
                  </c:pt>
                </c:lvl>
              </c:multiLvlStrCache>
            </c:multiLvlStrRef>
          </c:cat>
          <c:val>
            <c:numRef>
              <c:f>Sheet1!$E$2:$E$7</c:f>
              <c:numCache>
                <c:formatCode>General</c:formatCode>
                <c:ptCount val="6"/>
                <c:pt idx="0">
                  <c:v>100</c:v>
                </c:pt>
                <c:pt idx="1">
                  <c:v>99.1931862295669</c:v>
                </c:pt>
                <c:pt idx="2">
                  <c:v>92.52650110348759</c:v>
                </c:pt>
                <c:pt idx="3">
                  <c:v>31.294374934586035</c:v>
                </c:pt>
                <c:pt idx="4">
                  <c:v>14.126613897549895</c:v>
                </c:pt>
                <c:pt idx="5">
                  <c:v>4.839931547510536</c:v>
                </c:pt>
              </c:numCache>
            </c:numRef>
          </c:val>
          <c:smooth val="0"/>
        </c:ser>
        <c:ser>
          <c:idx val="4"/>
          <c:order val="4"/>
          <c:tx>
            <c:strRef>
              <c:f>Sheet1!$F$1</c:f>
              <c:strCache>
                <c:ptCount val="1"/>
                <c:pt idx="0">
                  <c:v>Proposed</c:v>
                </c:pt>
              </c:strCache>
            </c:strRef>
          </c:tx>
          <c:spPr>
            <a:solidFill>
              <a:srgbClr val="0E7C86"/>
            </a:solidFill>
            <a:ln w="31750" cap="flat">
              <a:solidFill>
                <a:srgbClr val="0E7C86"/>
              </a:solidFill>
              <a:prstDash val="solid"/>
              <a:round/>
            </a:ln>
            <a:effectLst/>
          </c:spPr>
          <c:invertIfNegative val="0"/>
          <c:dLbls>
            <c:numFmt formatCode="#,##0" sourceLinked="0"/>
            <c:txPr>
              <a:bodyPr/>
              <a:lstStyle/>
              <a:p>
                <a:pPr>
                  <a:defRPr b="0" i="0" strike="noStrike" sz="1000" u="none">
                    <a:solidFill>
                      <a:srgbClr val="3B4A53"/>
                    </a:solidFill>
                    <a:latin typeface="+mn-lt"/>
                  </a:defRPr>
                </a:pPr>
              </a:p>
            </c:txPr>
            <c:showLegendKey val="0"/>
            <c:showVal val="0"/>
            <c:showCatName val="0"/>
            <c:showSerName val="0"/>
            <c:showPercent val="0"/>
            <c:showBubbleSize val="0"/>
            <c:showLeaderLines val="0"/>
          </c:dLbls>
          <c:marker>
            <c:symbol val="circle"/>
            <c:size val="7"/>
            <c:spPr>
              <a:solidFill>
                <a:srgbClr val="0E7C86"/>
              </a:solidFill>
              <a:ln w="9525" cap="flat">
                <a:solidFill>
                  <a:srgbClr val="0E7C86"/>
                </a:solidFill>
                <a:prstDash val="solid"/>
                <a:round/>
              </a:ln>
              <a:effectLst/>
            </c:spPr>
          </c:marker>
          <c:cat>
            <c:multiLvlStrRef>
              <c:f>Sheet1!$A$2:$A$7</c:f>
              <c:multiLvlStrCache>
                <c:ptCount val="6"/>
                <c:lvl>
                  <c:pt idx="0">
                    <c:v>0</c:v>
                  </c:pt>
                  <c:pt idx="1">
                    <c:v>2</c:v>
                  </c:pt>
                  <c:pt idx="2">
                    <c:v>4</c:v>
                  </c:pt>
                  <c:pt idx="3">
                    <c:v>8</c:v>
                  </c:pt>
                  <c:pt idx="4">
                    <c:v>12</c:v>
                  </c:pt>
                  <c:pt idx="5">
                    <c:v>16</c:v>
                  </c:pt>
                </c:lvl>
              </c:multiLvlStrCache>
            </c:multiLvlStrRef>
          </c:cat>
          <c:val>
            <c:numRef>
              <c:f>Sheet1!$F$2:$F$7</c:f>
              <c:numCache>
                <c:formatCode>General</c:formatCode>
                <c:ptCount val="6"/>
                <c:pt idx="0">
                  <c:v>100</c:v>
                </c:pt>
                <c:pt idx="1">
                  <c:v>100</c:v>
                </c:pt>
                <c:pt idx="2">
                  <c:v>100</c:v>
                </c:pt>
                <c:pt idx="3">
                  <c:v>100</c:v>
                </c:pt>
                <c:pt idx="4">
                  <c:v>100</c:v>
                </c:pt>
                <c:pt idx="5">
                  <c:v>100</c:v>
                </c:pt>
              </c:numCache>
            </c:numRef>
          </c:val>
          <c:smooth val="0"/>
        </c:ser>
        <c:dLbls>
          <c:numFmt formatCode="#,##0" sourceLinked="0"/>
          <c:txPr>
            <a:bodyPr/>
            <a:lstStyle/>
            <a:p>
              <a:pPr>
                <a:defRPr b="0" i="0" strike="noStrike" sz="1000" u="none">
                  <a:solidFill>
                    <a:srgbClr val="3B4A5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3B4A53"/>
                    </a:solidFill>
                    <a:latin typeface="+mn-lt"/>
                  </a:defRPr>
                </a:pPr>
                <a:r>
                  <a:rPr sz="1100" b="0" i="0" u="none" strike="noStrike">
                    <a:solidFill>
                      <a:srgbClr val="3B4A53"/>
                    </a:solidFill>
                    <a:latin typeface="+mn-lt"/>
                  </a:rPr>
                  <a:t>Background bulk flows (K)</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B4A53"/>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5E0E3"/>
              </a:solidFill>
              <a:prstDash val="solid"/>
              <a:round/>
            </a:ln>
          </c:spPr>
        </c:majorGridlines>
        <c:title>
          <c:tx>
            <c:rich>
              <a:bodyPr/>
              <a:lstStyle/>
              <a:p>
                <a:pPr>
                  <a:defRPr sz="1100" b="0" i="0" u="none" strike="noStrike">
                    <a:solidFill>
                      <a:srgbClr val="3B4A53"/>
                    </a:solidFill>
                    <a:latin typeface="+mn-lt"/>
                  </a:defRPr>
                </a:pPr>
                <a:r>
                  <a:rPr sz="1100" b="0" i="0" u="none" strike="noStrike">
                    <a:solidFill>
                      <a:srgbClr val="3B4A53"/>
                    </a:solidFill>
                    <a:latin typeface="+mn-lt"/>
                  </a:rPr>
                  <a:t>Delivered by deadline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B4A53"/>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2A38"/>
                </a:solidFill>
                <a:latin typeface="+mn-lt"/>
              </a:defRPr>
            </a:pPr>
            <a:r>
              <a:rPr sz="1400" b="0" i="0" u="none" strike="noStrike">
                <a:solidFill>
                  <a:srgbClr val="0E2A38"/>
                </a:solidFill>
                <a:latin typeface="+mn-lt"/>
              </a:rPr>
              <a:t>ECG (300 ms deadline)</a:t>
            </a:r>
          </a:p>
        </c:rich>
      </c:tx>
      <c:layout/>
      <c:overlay val="0"/>
    </c:title>
    <c:autoTitleDeleted val="0"/>
    <c:plotArea>
      <c:layout/>
      <c:lineChart>
        <c:varyColors val="0"/>
        <c:ser>
          <c:idx val="0"/>
          <c:order val="0"/>
          <c:tx>
            <c:strRef>
              <c:f>Sheet1!$B$1</c:f>
              <c:strCache>
                <c:ptCount val="1"/>
                <c:pt idx="0">
                  <c:v>TCP</c:v>
                </c:pt>
              </c:strCache>
            </c:strRef>
          </c:tx>
          <c:spPr>
            <a:solidFill>
              <a:srgbClr val="E4572E"/>
            </a:solidFill>
            <a:ln w="31750" cap="flat">
              <a:solidFill>
                <a:srgbClr val="E4572E"/>
              </a:solidFill>
              <a:prstDash val="solid"/>
              <a:round/>
            </a:ln>
            <a:effectLst/>
          </c:spPr>
          <c:invertIfNegative val="0"/>
          <c:dLbls>
            <c:numFmt formatCode="#,##0" sourceLinked="0"/>
            <c:txPr>
              <a:bodyPr/>
              <a:lstStyle/>
              <a:p>
                <a:pPr>
                  <a:defRPr b="0" i="0" strike="noStrike" sz="1000" u="none">
                    <a:solidFill>
                      <a:srgbClr val="3B4A53"/>
                    </a:solidFill>
                    <a:latin typeface="+mn-lt"/>
                  </a:defRPr>
                </a:pPr>
              </a:p>
            </c:txPr>
            <c:showLegendKey val="0"/>
            <c:showVal val="0"/>
            <c:showCatName val="0"/>
            <c:showSerName val="0"/>
            <c:showPercent val="0"/>
            <c:showBubbleSize val="0"/>
            <c:showLeaderLines val="0"/>
          </c:dLbls>
          <c:marker>
            <c:symbol val="circle"/>
            <c:size val="7"/>
            <c:spPr>
              <a:solidFill>
                <a:srgbClr val="E4572E"/>
              </a:solidFill>
              <a:ln w="9525" cap="flat">
                <a:solidFill>
                  <a:srgbClr val="E4572E"/>
                </a:solidFill>
                <a:prstDash val="solid"/>
                <a:round/>
              </a:ln>
              <a:effectLst/>
            </c:spPr>
          </c:marker>
          <c:cat>
            <c:multiLvlStrRef>
              <c:f>Sheet1!$A$2:$A$7</c:f>
              <c:multiLvlStrCache>
                <c:ptCount val="6"/>
                <c:lvl>
                  <c:pt idx="0">
                    <c:v>0</c:v>
                  </c:pt>
                  <c:pt idx="1">
                    <c:v>2</c:v>
                  </c:pt>
                  <c:pt idx="2">
                    <c:v>4</c:v>
                  </c:pt>
                  <c:pt idx="3">
                    <c:v>8</c:v>
                  </c:pt>
                  <c:pt idx="4">
                    <c:v>12</c:v>
                  </c:pt>
                  <c:pt idx="5">
                    <c:v>16</c:v>
                  </c:pt>
                </c:lvl>
              </c:multiLvlStrCache>
            </c:multiLvlStrRef>
          </c:cat>
          <c:val>
            <c:numRef>
              <c:f>Sheet1!$B$2:$B$7</c:f>
              <c:numCache>
                <c:formatCode>General</c:formatCode>
                <c:ptCount val="6"/>
                <c:pt idx="0">
                  <c:v>99.9296052631579</c:v>
                </c:pt>
                <c:pt idx="1">
                  <c:v>99.78618421052632</c:v>
                </c:pt>
                <c:pt idx="2">
                  <c:v>95.92609649122808</c:v>
                </c:pt>
                <c:pt idx="3">
                  <c:v>72.1046052631579</c:v>
                </c:pt>
                <c:pt idx="4">
                  <c:v>44.325</c:v>
                </c:pt>
                <c:pt idx="5">
                  <c:v>24.079166666666666</c:v>
                </c:pt>
              </c:numCache>
            </c:numRef>
          </c:val>
          <c:smooth val="0"/>
        </c:ser>
        <c:ser>
          <c:idx val="1"/>
          <c:order val="1"/>
          <c:tx>
            <c:strRef>
              <c:f>Sheet1!$C$1</c:f>
              <c:strCache>
                <c:ptCount val="1"/>
                <c:pt idx="0">
                  <c:v>UDP</c:v>
                </c:pt>
              </c:strCache>
            </c:strRef>
          </c:tx>
          <c:spPr>
            <a:solidFill>
              <a:srgbClr val="F2A541"/>
            </a:solidFill>
            <a:ln w="31750" cap="flat">
              <a:solidFill>
                <a:srgbClr val="F2A541"/>
              </a:solidFill>
              <a:prstDash val="solid"/>
              <a:round/>
            </a:ln>
            <a:effectLst/>
          </c:spPr>
          <c:invertIfNegative val="0"/>
          <c:dLbls>
            <c:numFmt formatCode="#,##0" sourceLinked="0"/>
            <c:txPr>
              <a:bodyPr/>
              <a:lstStyle/>
              <a:p>
                <a:pPr>
                  <a:defRPr b="0" i="0" strike="noStrike" sz="1000" u="none">
                    <a:solidFill>
                      <a:srgbClr val="3B4A53"/>
                    </a:solidFill>
                    <a:latin typeface="+mn-lt"/>
                  </a:defRPr>
                </a:pPr>
              </a:p>
            </c:txPr>
            <c:showLegendKey val="0"/>
            <c:showVal val="0"/>
            <c:showCatName val="0"/>
            <c:showSerName val="0"/>
            <c:showPercent val="0"/>
            <c:showBubbleSize val="0"/>
            <c:showLeaderLines val="0"/>
          </c:dLbls>
          <c:marker>
            <c:symbol val="circle"/>
            <c:size val="7"/>
            <c:spPr>
              <a:solidFill>
                <a:srgbClr val="F2A541"/>
              </a:solidFill>
              <a:ln w="9525" cap="flat">
                <a:solidFill>
                  <a:srgbClr val="F2A541"/>
                </a:solidFill>
                <a:prstDash val="solid"/>
                <a:round/>
              </a:ln>
              <a:effectLst/>
            </c:spPr>
          </c:marker>
          <c:cat>
            <c:multiLvlStrRef>
              <c:f>Sheet1!$A$2:$A$7</c:f>
              <c:multiLvlStrCache>
                <c:ptCount val="6"/>
                <c:lvl>
                  <c:pt idx="0">
                    <c:v>0</c:v>
                  </c:pt>
                  <c:pt idx="1">
                    <c:v>2</c:v>
                  </c:pt>
                  <c:pt idx="2">
                    <c:v>4</c:v>
                  </c:pt>
                  <c:pt idx="3">
                    <c:v>8</c:v>
                  </c:pt>
                  <c:pt idx="4">
                    <c:v>12</c:v>
                  </c:pt>
                  <c:pt idx="5">
                    <c:v>16</c:v>
                  </c:pt>
                </c:lvl>
              </c:multiLvlStrCache>
            </c:multiLvlStrRef>
          </c:cat>
          <c:val>
            <c:numRef>
              <c:f>Sheet1!$C$2:$C$7</c:f>
              <c:numCache>
                <c:formatCode>General</c:formatCode>
                <c:ptCount val="6"/>
                <c:pt idx="0">
                  <c:v>98.16666666666667</c:v>
                </c:pt>
                <c:pt idx="1">
                  <c:v>98.58486842105263</c:v>
                </c:pt>
                <c:pt idx="2">
                  <c:v>98.68793859649124</c:v>
                </c:pt>
                <c:pt idx="3">
                  <c:v>98.4826754385965</c:v>
                </c:pt>
                <c:pt idx="4">
                  <c:v>98.04429824561403</c:v>
                </c:pt>
                <c:pt idx="5">
                  <c:v>97.4969298245614</c:v>
                </c:pt>
              </c:numCache>
            </c:numRef>
          </c:val>
          <c:smooth val="0"/>
        </c:ser>
        <c:ser>
          <c:idx val="2"/>
          <c:order val="2"/>
          <c:tx>
            <c:strRef>
              <c:f>Sheet1!$D$1</c:f>
              <c:strCache>
                <c:ptCount val="1"/>
                <c:pt idx="0">
                  <c:v>UDP+Prio</c:v>
                </c:pt>
              </c:strCache>
            </c:strRef>
          </c:tx>
          <c:spPr>
            <a:solidFill>
              <a:srgbClr val="5B8FB9"/>
            </a:solidFill>
            <a:ln w="31750" cap="flat">
              <a:solidFill>
                <a:srgbClr val="5B8FB9"/>
              </a:solidFill>
              <a:prstDash val="solid"/>
              <a:round/>
            </a:ln>
            <a:effectLst/>
          </c:spPr>
          <c:invertIfNegative val="0"/>
          <c:dLbls>
            <c:numFmt formatCode="#,##0" sourceLinked="0"/>
            <c:txPr>
              <a:bodyPr/>
              <a:lstStyle/>
              <a:p>
                <a:pPr>
                  <a:defRPr b="0" i="0" strike="noStrike" sz="1000" u="none">
                    <a:solidFill>
                      <a:srgbClr val="3B4A53"/>
                    </a:solidFill>
                    <a:latin typeface="+mn-lt"/>
                  </a:defRPr>
                </a:pPr>
              </a:p>
            </c:txPr>
            <c:showLegendKey val="0"/>
            <c:showVal val="0"/>
            <c:showCatName val="0"/>
            <c:showSerName val="0"/>
            <c:showPercent val="0"/>
            <c:showBubbleSize val="0"/>
            <c:showLeaderLines val="0"/>
          </c:dLbls>
          <c:marker>
            <c:symbol val="circle"/>
            <c:size val="7"/>
            <c:spPr>
              <a:solidFill>
                <a:srgbClr val="5B8FB9"/>
              </a:solidFill>
              <a:ln w="9525" cap="flat">
                <a:solidFill>
                  <a:srgbClr val="5B8FB9"/>
                </a:solidFill>
                <a:prstDash val="solid"/>
                <a:round/>
              </a:ln>
              <a:effectLst/>
            </c:spPr>
          </c:marker>
          <c:cat>
            <c:multiLvlStrRef>
              <c:f>Sheet1!$A$2:$A$7</c:f>
              <c:multiLvlStrCache>
                <c:ptCount val="6"/>
                <c:lvl>
                  <c:pt idx="0">
                    <c:v>0</c:v>
                  </c:pt>
                  <c:pt idx="1">
                    <c:v>2</c:v>
                  </c:pt>
                  <c:pt idx="2">
                    <c:v>4</c:v>
                  </c:pt>
                  <c:pt idx="3">
                    <c:v>8</c:v>
                  </c:pt>
                  <c:pt idx="4">
                    <c:v>12</c:v>
                  </c:pt>
                  <c:pt idx="5">
                    <c:v>16</c:v>
                  </c:pt>
                </c:lvl>
              </c:multiLvlStrCache>
            </c:multiLvlStrRef>
          </c:cat>
          <c:val>
            <c:numRef>
              <c:f>Sheet1!$D$2:$D$7</c:f>
              <c:numCache>
                <c:formatCode>General</c:formatCode>
                <c:ptCount val="6"/>
                <c:pt idx="0">
                  <c:v>98.16469298245615</c:v>
                </c:pt>
                <c:pt idx="1">
                  <c:v>98.14298245614034</c:v>
                </c:pt>
                <c:pt idx="2">
                  <c:v>98.19407894736842</c:v>
                </c:pt>
                <c:pt idx="3">
                  <c:v>98.10723684210527</c:v>
                </c:pt>
                <c:pt idx="4">
                  <c:v>98.06491228070175</c:v>
                </c:pt>
                <c:pt idx="5">
                  <c:v>98.23574561403508</c:v>
                </c:pt>
              </c:numCache>
            </c:numRef>
          </c:val>
          <c:smooth val="0"/>
        </c:ser>
        <c:ser>
          <c:idx val="3"/>
          <c:order val="3"/>
          <c:tx>
            <c:strRef>
              <c:f>Sheet1!$E$1</c:f>
              <c:strCache>
                <c:ptCount val="1"/>
                <c:pt idx="0">
                  <c:v>Transport-only</c:v>
                </c:pt>
              </c:strCache>
            </c:strRef>
          </c:tx>
          <c:spPr>
            <a:solidFill>
              <a:srgbClr val="7A8B99"/>
            </a:solidFill>
            <a:ln w="31750" cap="flat">
              <a:solidFill>
                <a:srgbClr val="7A8B99"/>
              </a:solidFill>
              <a:prstDash val="solid"/>
              <a:round/>
            </a:ln>
            <a:effectLst/>
          </c:spPr>
          <c:invertIfNegative val="0"/>
          <c:dLbls>
            <c:numFmt formatCode="#,##0" sourceLinked="0"/>
            <c:txPr>
              <a:bodyPr/>
              <a:lstStyle/>
              <a:p>
                <a:pPr>
                  <a:defRPr b="0" i="0" strike="noStrike" sz="1000" u="none">
                    <a:solidFill>
                      <a:srgbClr val="3B4A53"/>
                    </a:solidFill>
                    <a:latin typeface="+mn-lt"/>
                  </a:defRPr>
                </a:pPr>
              </a:p>
            </c:txPr>
            <c:showLegendKey val="0"/>
            <c:showVal val="0"/>
            <c:showCatName val="0"/>
            <c:showSerName val="0"/>
            <c:showPercent val="0"/>
            <c:showBubbleSize val="0"/>
            <c:showLeaderLines val="0"/>
          </c:dLbls>
          <c:marker>
            <c:symbol val="circle"/>
            <c:size val="7"/>
            <c:spPr>
              <a:solidFill>
                <a:srgbClr val="7A8B99"/>
              </a:solidFill>
              <a:ln w="9525" cap="flat">
                <a:solidFill>
                  <a:srgbClr val="7A8B99"/>
                </a:solidFill>
                <a:prstDash val="solid"/>
                <a:round/>
              </a:ln>
              <a:effectLst/>
            </c:spPr>
          </c:marker>
          <c:cat>
            <c:multiLvlStrRef>
              <c:f>Sheet1!$A$2:$A$7</c:f>
              <c:multiLvlStrCache>
                <c:ptCount val="6"/>
                <c:lvl>
                  <c:pt idx="0">
                    <c:v>0</c:v>
                  </c:pt>
                  <c:pt idx="1">
                    <c:v>2</c:v>
                  </c:pt>
                  <c:pt idx="2">
                    <c:v>4</c:v>
                  </c:pt>
                  <c:pt idx="3">
                    <c:v>8</c:v>
                  </c:pt>
                  <c:pt idx="4">
                    <c:v>12</c:v>
                  </c:pt>
                  <c:pt idx="5">
                    <c:v>16</c:v>
                  </c:pt>
                </c:lvl>
              </c:multiLvlStrCache>
            </c:multiLvlStrRef>
          </c:cat>
          <c:val>
            <c:numRef>
              <c:f>Sheet1!$E$2:$E$7</c:f>
              <c:numCache>
                <c:formatCode>General</c:formatCode>
                <c:ptCount val="6"/>
                <c:pt idx="0">
                  <c:v>99.99912280701754</c:v>
                </c:pt>
                <c:pt idx="1">
                  <c:v>99.98355263157895</c:v>
                </c:pt>
                <c:pt idx="2">
                  <c:v>99.60263157894737</c:v>
                </c:pt>
                <c:pt idx="3">
                  <c:v>98.34802631578947</c:v>
                </c:pt>
                <c:pt idx="4">
                  <c:v>97.90570175438596</c:v>
                </c:pt>
                <c:pt idx="5">
                  <c:v>97.52697368421053</c:v>
                </c:pt>
              </c:numCache>
            </c:numRef>
          </c:val>
          <c:smooth val="0"/>
        </c:ser>
        <c:ser>
          <c:idx val="4"/>
          <c:order val="4"/>
          <c:tx>
            <c:strRef>
              <c:f>Sheet1!$F$1</c:f>
              <c:strCache>
                <c:ptCount val="1"/>
                <c:pt idx="0">
                  <c:v>Proposed</c:v>
                </c:pt>
              </c:strCache>
            </c:strRef>
          </c:tx>
          <c:spPr>
            <a:solidFill>
              <a:srgbClr val="0E7C86"/>
            </a:solidFill>
            <a:ln w="31750" cap="flat">
              <a:solidFill>
                <a:srgbClr val="0E7C86"/>
              </a:solidFill>
              <a:prstDash val="solid"/>
              <a:round/>
            </a:ln>
            <a:effectLst/>
          </c:spPr>
          <c:invertIfNegative val="0"/>
          <c:dLbls>
            <c:numFmt formatCode="#,##0" sourceLinked="0"/>
            <c:txPr>
              <a:bodyPr/>
              <a:lstStyle/>
              <a:p>
                <a:pPr>
                  <a:defRPr b="0" i="0" strike="noStrike" sz="1000" u="none">
                    <a:solidFill>
                      <a:srgbClr val="3B4A53"/>
                    </a:solidFill>
                    <a:latin typeface="+mn-lt"/>
                  </a:defRPr>
                </a:pPr>
              </a:p>
            </c:txPr>
            <c:showLegendKey val="0"/>
            <c:showVal val="0"/>
            <c:showCatName val="0"/>
            <c:showSerName val="0"/>
            <c:showPercent val="0"/>
            <c:showBubbleSize val="0"/>
            <c:showLeaderLines val="0"/>
          </c:dLbls>
          <c:marker>
            <c:symbol val="circle"/>
            <c:size val="7"/>
            <c:spPr>
              <a:solidFill>
                <a:srgbClr val="0E7C86"/>
              </a:solidFill>
              <a:ln w="9525" cap="flat">
                <a:solidFill>
                  <a:srgbClr val="0E7C86"/>
                </a:solidFill>
                <a:prstDash val="solid"/>
                <a:round/>
              </a:ln>
              <a:effectLst/>
            </c:spPr>
          </c:marker>
          <c:cat>
            <c:multiLvlStrRef>
              <c:f>Sheet1!$A$2:$A$7</c:f>
              <c:multiLvlStrCache>
                <c:ptCount val="6"/>
                <c:lvl>
                  <c:pt idx="0">
                    <c:v>0</c:v>
                  </c:pt>
                  <c:pt idx="1">
                    <c:v>2</c:v>
                  </c:pt>
                  <c:pt idx="2">
                    <c:v>4</c:v>
                  </c:pt>
                  <c:pt idx="3">
                    <c:v>8</c:v>
                  </c:pt>
                  <c:pt idx="4">
                    <c:v>12</c:v>
                  </c:pt>
                  <c:pt idx="5">
                    <c:v>16</c:v>
                  </c:pt>
                </c:lvl>
              </c:multiLvlStrCache>
            </c:multiLvlStrRef>
          </c:cat>
          <c:val>
            <c:numRef>
              <c:f>Sheet1!$F$2:$F$7</c:f>
              <c:numCache>
                <c:formatCode>General</c:formatCode>
                <c:ptCount val="6"/>
                <c:pt idx="0">
                  <c:v>99.99978070175439</c:v>
                </c:pt>
                <c:pt idx="1">
                  <c:v>99.99956140350878</c:v>
                </c:pt>
                <c:pt idx="2">
                  <c:v>99.99978070175439</c:v>
                </c:pt>
                <c:pt idx="3">
                  <c:v>99.99912280701754</c:v>
                </c:pt>
                <c:pt idx="4">
                  <c:v>99.99978070175439</c:v>
                </c:pt>
                <c:pt idx="5">
                  <c:v>99.99934210526315</c:v>
                </c:pt>
              </c:numCache>
            </c:numRef>
          </c:val>
          <c:smooth val="0"/>
        </c:ser>
        <c:dLbls>
          <c:numFmt formatCode="#,##0" sourceLinked="0"/>
          <c:txPr>
            <a:bodyPr/>
            <a:lstStyle/>
            <a:p>
              <a:pPr>
                <a:defRPr b="0" i="0" strike="noStrike" sz="1000" u="none">
                  <a:solidFill>
                    <a:srgbClr val="3B4A5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3B4A53"/>
                    </a:solidFill>
                    <a:latin typeface="+mn-lt"/>
                  </a:defRPr>
                </a:pPr>
                <a:r>
                  <a:rPr sz="1100" b="0" i="0" u="none" strike="noStrike">
                    <a:solidFill>
                      <a:srgbClr val="3B4A53"/>
                    </a:solidFill>
                    <a:latin typeface="+mn-lt"/>
                  </a:rPr>
                  <a:t>Background bulk flows (K)</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B4A53"/>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5E0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B4A53"/>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Alarms p99</c:v>
                </c:pt>
              </c:strCache>
            </c:strRef>
          </c:tx>
          <c:spPr>
            <a:solidFill>
              <a:srgbClr val="E4572E"/>
            </a:solidFill>
            <a:effectLst/>
          </c:spPr>
          <c:invertIfNegative val="0"/>
          <c:dLbls>
            <c:numFmt formatCode="0" sourceLinked="0"/>
            <c:txPr>
              <a:bodyPr/>
              <a:lstStyle/>
              <a:p>
                <a:pPr>
                  <a:defRPr b="0" i="0" strike="noStrike" sz="1000" u="none">
                    <a:solidFill>
                      <a:srgbClr val="3B4A53"/>
                    </a:solidFill>
                    <a:latin typeface="+mn-lt"/>
                  </a:defRPr>
                </a:pPr>
              </a:p>
            </c:txPr>
            <c:showLegendKey val="0"/>
            <c:showVal val="1"/>
            <c:showCatName val="0"/>
            <c:showSerName val="0"/>
            <c:showPercent val="0"/>
            <c:showBubbleSize val="0"/>
            <c:showLeaderLines val="0"/>
          </c:dLbls>
          <c:cat>
            <c:multiLvlStrRef>
              <c:f>Sheet1!$A$2:$A$6</c:f>
              <c:multiLvlStrCache>
                <c:ptCount val="5"/>
                <c:lvl>
                  <c:pt idx="0">
                    <c:v>TCP</c:v>
                  </c:pt>
                  <c:pt idx="1">
                    <c:v>UDP</c:v>
                  </c:pt>
                  <c:pt idx="2">
                    <c:v>UDP+Prio</c:v>
                  </c:pt>
                  <c:pt idx="3">
                    <c:v>Transport-only</c:v>
                  </c:pt>
                  <c:pt idx="4">
                    <c:v>Proposed</c:v>
                  </c:pt>
                </c:lvl>
              </c:multiLvlStrCache>
            </c:multiLvlStrRef>
          </c:cat>
          <c:val>
            <c:numRef>
              <c:f>Sheet1!$B$2:$B$6</c:f>
              <c:numCache>
                <c:formatCode>General</c:formatCode>
                <c:ptCount val="5"/>
                <c:pt idx="0">
                  <c:v>1051.875</c:v>
                </c:pt>
                <c:pt idx="1">
                  <c:v>230.125</c:v>
                </c:pt>
                <c:pt idx="2">
                  <c:v>10</c:v>
                </c:pt>
                <c:pt idx="3">
                  <c:v>232.125</c:v>
                </c:pt>
                <c:pt idx="4">
                  <c:v>20</c:v>
                </c:pt>
              </c:numCache>
            </c:numRef>
          </c:val>
        </c:ser>
        <c:ser>
          <c:idx val="1"/>
          <c:order val="1"/>
          <c:tx>
            <c:strRef>
              <c:f>Sheet1!$C$1</c:f>
              <c:strCache>
                <c:ptCount val="1"/>
                <c:pt idx="0">
                  <c:v>ECG p99</c:v>
                </c:pt>
              </c:strCache>
            </c:strRef>
          </c:tx>
          <c:spPr>
            <a:solidFill>
              <a:srgbClr val="0E7C86"/>
            </a:solidFill>
            <a:effectLst/>
          </c:spPr>
          <c:invertIfNegative val="0"/>
          <c:dLbls>
            <c:numFmt formatCode="0" sourceLinked="0"/>
            <c:txPr>
              <a:bodyPr/>
              <a:lstStyle/>
              <a:p>
                <a:pPr>
                  <a:defRPr b="0" i="0" strike="noStrike" sz="1000" u="none">
                    <a:solidFill>
                      <a:srgbClr val="3B4A53"/>
                    </a:solidFill>
                    <a:latin typeface="+mn-lt"/>
                  </a:defRPr>
                </a:pPr>
              </a:p>
            </c:txPr>
            <c:showLegendKey val="0"/>
            <c:showVal val="1"/>
            <c:showCatName val="0"/>
            <c:showSerName val="0"/>
            <c:showPercent val="0"/>
            <c:showBubbleSize val="0"/>
            <c:showLeaderLines val="0"/>
          </c:dLbls>
          <c:cat>
            <c:multiLvlStrRef>
              <c:f>Sheet1!$A$2:$A$6</c:f>
              <c:multiLvlStrCache>
                <c:ptCount val="5"/>
                <c:lvl>
                  <c:pt idx="0">
                    <c:v>TCP</c:v>
                  </c:pt>
                  <c:pt idx="1">
                    <c:v>UDP</c:v>
                  </c:pt>
                  <c:pt idx="2">
                    <c:v>UDP+Prio</c:v>
                  </c:pt>
                  <c:pt idx="3">
                    <c:v>Transport-only</c:v>
                  </c:pt>
                  <c:pt idx="4">
                    <c:v>Proposed</c:v>
                  </c:pt>
                </c:lvl>
              </c:multiLvlStrCache>
            </c:multiLvlStrRef>
          </c:cat>
          <c:val>
            <c:numRef>
              <c:f>Sheet1!$C$2:$C$6</c:f>
              <c:numCache>
                <c:formatCode>General</c:formatCode>
                <c:ptCount val="5"/>
                <c:pt idx="0">
                  <c:v>990.5</c:v>
                </c:pt>
                <c:pt idx="1">
                  <c:v>230</c:v>
                </c:pt>
                <c:pt idx="2">
                  <c:v>10</c:v>
                </c:pt>
                <c:pt idx="3">
                  <c:v>240.625</c:v>
                </c:pt>
                <c:pt idx="4">
                  <c:v>40</c:v>
                </c:pt>
              </c:numCache>
            </c:numRef>
          </c:val>
        </c:ser>
        <c:dLbls>
          <c:numFmt formatCode="0" sourceLinked="0"/>
          <c:txPr>
            <a:bodyPr/>
            <a:lstStyle/>
            <a:p>
              <a:pPr>
                <a:defRPr b="0" i="0" strike="noStrike" sz="1000" u="none">
                  <a:solidFill>
                    <a:srgbClr val="3B4A5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B4A53"/>
                </a:solidFill>
                <a:latin typeface="+mn-lt"/>
              </a:defRPr>
            </a:pPr>
            <a:endParaRPr lang="en-US"/>
          </a:p>
        </c:txPr>
        <c:crossAx val="2094734552"/>
        <c:crosses val="autoZero"/>
        <c:auto val="1"/>
        <c:lblAlgn val="ctr"/>
        <c:noMultiLvlLbl val="1"/>
      </c:catAx>
      <c:valAx>
        <c:axId val="2094734552"/>
        <c:scaling>
          <c:logBase val="10"/>
          <c:orientation val="minMax"/>
          <c:max val="10000"/>
          <c:min val="1"/>
        </c:scaling>
        <c:delete val="0"/>
        <c:axPos val="l"/>
        <c:majorGridlines>
          <c:spPr>
            <a:ln w="6350" cap="flat">
              <a:solidFill>
                <a:srgbClr val="D5E0E3"/>
              </a:solidFill>
              <a:prstDash val="solid"/>
              <a:round/>
            </a:ln>
          </c:spPr>
        </c:majorGridlines>
        <c:title>
          <c:tx>
            <c:rich>
              <a:bodyPr/>
              <a:lstStyle/>
              <a:p>
                <a:pPr>
                  <a:defRPr sz="1100" b="0" i="0" u="none" strike="noStrike">
                    <a:solidFill>
                      <a:srgbClr val="3B4A53"/>
                    </a:solidFill>
                    <a:latin typeface="+mn-lt"/>
                  </a:defRPr>
                </a:pPr>
                <a:r>
                  <a:rPr sz="1100" b="0" i="0" u="none" strike="noStrike">
                    <a:solidFill>
                      <a:srgbClr val="3B4A53"/>
                    </a:solidFill>
                    <a:latin typeface="+mn-lt"/>
                  </a:rPr>
                  <a:t>99th-percentile latency (ms, log scale)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B4A5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B4A5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2A38"/>
                </a:solidFill>
                <a:latin typeface="+mn-lt"/>
              </a:defRPr>
            </a:pPr>
            <a:r>
              <a:rPr sz="1400" b="0" i="0" u="none" strike="noStrike">
                <a:solidFill>
                  <a:srgbClr val="0E2A38"/>
                </a:solidFill>
                <a:latin typeface="+mn-lt"/>
              </a:rPr>
              <a:t>Lowest telemetry class (vitals)</a:t>
            </a:r>
          </a:p>
        </c:rich>
      </c:tx>
      <c:layout/>
      <c:overlay val="0"/>
    </c:title>
    <c:autoTitleDeleted val="0"/>
    <c:plotArea>
      <c:layout/>
      <c:lineChart>
        <c:varyColors val="0"/>
        <c:ser>
          <c:idx val="0"/>
          <c:order val="0"/>
          <c:tx>
            <c:strRef>
              <c:f>Sheet1!$B$1</c:f>
              <c:strCache>
                <c:ptCount val="1"/>
                <c:pt idx="0">
                  <c:v>TCP</c:v>
                </c:pt>
              </c:strCache>
            </c:strRef>
          </c:tx>
          <c:spPr>
            <a:solidFill>
              <a:srgbClr val="E4572E"/>
            </a:solidFill>
            <a:ln w="31750" cap="flat">
              <a:solidFill>
                <a:srgbClr val="E4572E"/>
              </a:solidFill>
              <a:prstDash val="solid"/>
              <a:round/>
            </a:ln>
            <a:effectLst/>
          </c:spPr>
          <c:invertIfNegative val="0"/>
          <c:dLbls>
            <c:numFmt formatCode="#,##0" sourceLinked="0"/>
            <c:txPr>
              <a:bodyPr/>
              <a:lstStyle/>
              <a:p>
                <a:pPr>
                  <a:defRPr b="0" i="0" strike="noStrike" sz="1000" u="none">
                    <a:solidFill>
                      <a:srgbClr val="3B4A53"/>
                    </a:solidFill>
                    <a:latin typeface="+mn-lt"/>
                  </a:defRPr>
                </a:pPr>
              </a:p>
            </c:txPr>
            <c:showLegendKey val="0"/>
            <c:showVal val="0"/>
            <c:showCatName val="0"/>
            <c:showSerName val="0"/>
            <c:showPercent val="0"/>
            <c:showBubbleSize val="0"/>
            <c:showLeaderLines val="0"/>
          </c:dLbls>
          <c:marker>
            <c:symbol val="circle"/>
            <c:size val="7"/>
            <c:spPr>
              <a:solidFill>
                <a:srgbClr val="E4572E"/>
              </a:solidFill>
              <a:ln w="9525" cap="flat">
                <a:solidFill>
                  <a:srgbClr val="E4572E"/>
                </a:solidFill>
                <a:prstDash val="solid"/>
                <a:round/>
              </a:ln>
              <a:effectLst/>
            </c:spPr>
          </c:marker>
          <c:cat>
            <c:multiLvlStrRef>
              <c:f>Sheet1!$A$2:$A$7</c:f>
              <c:multiLvlStrCache>
                <c:ptCount val="6"/>
                <c:lvl>
                  <c:pt idx="0">
                    <c:v>20</c:v>
                  </c:pt>
                  <c:pt idx="1">
                    <c:v>40</c:v>
                  </c:pt>
                  <c:pt idx="2">
                    <c:v>60</c:v>
                  </c:pt>
                  <c:pt idx="3">
                    <c:v>80</c:v>
                  </c:pt>
                  <c:pt idx="4">
                    <c:v>100</c:v>
                  </c:pt>
                  <c:pt idx="5">
                    <c:v>120</c:v>
                  </c:pt>
                </c:lvl>
              </c:multiLvlStrCache>
            </c:multiLvlStrRef>
          </c:cat>
          <c:val>
            <c:numRef>
              <c:f>Sheet1!$B$2:$B$7</c:f>
              <c:numCache>
                <c:formatCode>General</c:formatCode>
                <c:ptCount val="6"/>
                <c:pt idx="0">
                  <c:v>99.84649122807018</c:v>
                </c:pt>
                <c:pt idx="1">
                  <c:v>99.0076754385965</c:v>
                </c:pt>
                <c:pt idx="2">
                  <c:v>95.51535087719299</c:v>
                </c:pt>
                <c:pt idx="3">
                  <c:v>86.50219298245614</c:v>
                </c:pt>
                <c:pt idx="4">
                  <c:v>60.59868421052632</c:v>
                </c:pt>
                <c:pt idx="5">
                  <c:v>25.69627192982456</c:v>
                </c:pt>
              </c:numCache>
            </c:numRef>
          </c:val>
          <c:smooth val="0"/>
        </c:ser>
        <c:ser>
          <c:idx val="1"/>
          <c:order val="1"/>
          <c:tx>
            <c:strRef>
              <c:f>Sheet1!$C$1</c:f>
              <c:strCache>
                <c:ptCount val="1"/>
                <c:pt idx="0">
                  <c:v>UDP+Prio</c:v>
                </c:pt>
              </c:strCache>
            </c:strRef>
          </c:tx>
          <c:spPr>
            <a:solidFill>
              <a:srgbClr val="5B8FB9"/>
            </a:solidFill>
            <a:ln w="31750" cap="flat">
              <a:solidFill>
                <a:srgbClr val="5B8FB9"/>
              </a:solidFill>
              <a:prstDash val="solid"/>
              <a:round/>
            </a:ln>
            <a:effectLst/>
          </c:spPr>
          <c:invertIfNegative val="0"/>
          <c:dLbls>
            <c:numFmt formatCode="#,##0" sourceLinked="0"/>
            <c:txPr>
              <a:bodyPr/>
              <a:lstStyle/>
              <a:p>
                <a:pPr>
                  <a:defRPr b="0" i="0" strike="noStrike" sz="1000" u="none">
                    <a:solidFill>
                      <a:srgbClr val="3B4A53"/>
                    </a:solidFill>
                    <a:latin typeface="+mn-lt"/>
                  </a:defRPr>
                </a:pPr>
              </a:p>
            </c:txPr>
            <c:showLegendKey val="0"/>
            <c:showVal val="0"/>
            <c:showCatName val="0"/>
            <c:showSerName val="0"/>
            <c:showPercent val="0"/>
            <c:showBubbleSize val="0"/>
            <c:showLeaderLines val="0"/>
          </c:dLbls>
          <c:marker>
            <c:symbol val="circle"/>
            <c:size val="7"/>
            <c:spPr>
              <a:solidFill>
                <a:srgbClr val="5B8FB9"/>
              </a:solidFill>
              <a:ln w="9525" cap="flat">
                <a:solidFill>
                  <a:srgbClr val="5B8FB9"/>
                </a:solidFill>
                <a:prstDash val="solid"/>
                <a:round/>
              </a:ln>
              <a:effectLst/>
            </c:spPr>
          </c:marker>
          <c:cat>
            <c:multiLvlStrRef>
              <c:f>Sheet1!$A$2:$A$7</c:f>
              <c:multiLvlStrCache>
                <c:ptCount val="6"/>
                <c:lvl>
                  <c:pt idx="0">
                    <c:v>20</c:v>
                  </c:pt>
                  <c:pt idx="1">
                    <c:v>40</c:v>
                  </c:pt>
                  <c:pt idx="2">
                    <c:v>60</c:v>
                  </c:pt>
                  <c:pt idx="3">
                    <c:v>80</c:v>
                  </c:pt>
                  <c:pt idx="4">
                    <c:v>100</c:v>
                  </c:pt>
                  <c:pt idx="5">
                    <c:v>120</c:v>
                  </c:pt>
                </c:lvl>
              </c:multiLvlStrCache>
            </c:multiLvlStrRef>
          </c:cat>
          <c:val>
            <c:numRef>
              <c:f>Sheet1!$C$2:$C$7</c:f>
              <c:numCache>
                <c:formatCode>General</c:formatCode>
                <c:ptCount val="6"/>
                <c:pt idx="0">
                  <c:v>98.21271929824562</c:v>
                </c:pt>
                <c:pt idx="1">
                  <c:v>97.94956140350877</c:v>
                </c:pt>
                <c:pt idx="2">
                  <c:v>98.20540935672514</c:v>
                </c:pt>
                <c:pt idx="3">
                  <c:v>98.08388157894737</c:v>
                </c:pt>
                <c:pt idx="4">
                  <c:v>98.69956140350877</c:v>
                </c:pt>
                <c:pt idx="5">
                  <c:v>99.32748538011695</c:v>
                </c:pt>
              </c:numCache>
            </c:numRef>
          </c:val>
          <c:smooth val="0"/>
        </c:ser>
        <c:ser>
          <c:idx val="2"/>
          <c:order val="2"/>
          <c:tx>
            <c:strRef>
              <c:f>Sheet1!$D$1</c:f>
              <c:strCache>
                <c:ptCount val="1"/>
                <c:pt idx="0">
                  <c:v>Proposed</c:v>
                </c:pt>
              </c:strCache>
            </c:strRef>
          </c:tx>
          <c:spPr>
            <a:solidFill>
              <a:srgbClr val="0E7C86"/>
            </a:solidFill>
            <a:ln w="31750" cap="flat">
              <a:solidFill>
                <a:srgbClr val="0E7C86"/>
              </a:solidFill>
              <a:prstDash val="solid"/>
              <a:round/>
            </a:ln>
            <a:effectLst/>
          </c:spPr>
          <c:invertIfNegative val="0"/>
          <c:dLbls>
            <c:numFmt formatCode="#,##0" sourceLinked="0"/>
            <c:txPr>
              <a:bodyPr/>
              <a:lstStyle/>
              <a:p>
                <a:pPr>
                  <a:defRPr b="0" i="0" strike="noStrike" sz="1000" u="none">
                    <a:solidFill>
                      <a:srgbClr val="3B4A53"/>
                    </a:solidFill>
                    <a:latin typeface="+mn-lt"/>
                  </a:defRPr>
                </a:pPr>
              </a:p>
            </c:txPr>
            <c:showLegendKey val="0"/>
            <c:showVal val="0"/>
            <c:showCatName val="0"/>
            <c:showSerName val="0"/>
            <c:showPercent val="0"/>
            <c:showBubbleSize val="0"/>
            <c:showLeaderLines val="0"/>
          </c:dLbls>
          <c:marker>
            <c:symbol val="circle"/>
            <c:size val="7"/>
            <c:spPr>
              <a:solidFill>
                <a:srgbClr val="0E7C86"/>
              </a:solidFill>
              <a:ln w="9525" cap="flat">
                <a:solidFill>
                  <a:srgbClr val="0E7C86"/>
                </a:solidFill>
                <a:prstDash val="solid"/>
                <a:round/>
              </a:ln>
              <a:effectLst/>
            </c:spPr>
          </c:marker>
          <c:cat>
            <c:multiLvlStrRef>
              <c:f>Sheet1!$A$2:$A$7</c:f>
              <c:multiLvlStrCache>
                <c:ptCount val="6"/>
                <c:lvl>
                  <c:pt idx="0">
                    <c:v>20</c:v>
                  </c:pt>
                  <c:pt idx="1">
                    <c:v>40</c:v>
                  </c:pt>
                  <c:pt idx="2">
                    <c:v>60</c:v>
                  </c:pt>
                  <c:pt idx="3">
                    <c:v>80</c:v>
                  </c:pt>
                  <c:pt idx="4">
                    <c:v>100</c:v>
                  </c:pt>
                  <c:pt idx="5">
                    <c:v>120</c:v>
                  </c:pt>
                </c:lvl>
              </c:multiLvlStrCache>
            </c:multiLvlStrRef>
          </c:cat>
          <c:val>
            <c:numRef>
              <c:f>Sheet1!$D$2:$D$7</c:f>
              <c:numCache>
                <c:formatCode>General</c:formatCode>
                <c:ptCount val="6"/>
                <c:pt idx="0">
                  <c:v>100</c:v>
                </c:pt>
                <c:pt idx="1">
                  <c:v>100</c:v>
                </c:pt>
                <c:pt idx="2">
                  <c:v>100</c:v>
                </c:pt>
                <c:pt idx="3">
                  <c:v>99.99451754385966</c:v>
                </c:pt>
                <c:pt idx="4">
                  <c:v>99.86184210526315</c:v>
                </c:pt>
                <c:pt idx="5">
                  <c:v>85.81688596491229</c:v>
                </c:pt>
              </c:numCache>
            </c:numRef>
          </c:val>
          <c:smooth val="0"/>
        </c:ser>
        <c:ser>
          <c:idx val="3"/>
          <c:order val="3"/>
          <c:tx>
            <c:strRef>
              <c:f>Sheet1!$E$1</c:f>
              <c:strCache>
                <c:ptCount val="1"/>
                <c:pt idx="0">
                  <c:v>Proposed (no gating)</c:v>
                </c:pt>
              </c:strCache>
            </c:strRef>
          </c:tx>
          <c:spPr>
            <a:solidFill>
              <a:srgbClr val="9A4F96"/>
            </a:solidFill>
            <a:ln w="31750" cap="flat">
              <a:solidFill>
                <a:srgbClr val="9A4F96"/>
              </a:solidFill>
              <a:prstDash val="solid"/>
              <a:round/>
            </a:ln>
            <a:effectLst/>
          </c:spPr>
          <c:invertIfNegative val="0"/>
          <c:dLbls>
            <c:numFmt formatCode="#,##0" sourceLinked="0"/>
            <c:txPr>
              <a:bodyPr/>
              <a:lstStyle/>
              <a:p>
                <a:pPr>
                  <a:defRPr b="0" i="0" strike="noStrike" sz="1000" u="none">
                    <a:solidFill>
                      <a:srgbClr val="3B4A53"/>
                    </a:solidFill>
                    <a:latin typeface="+mn-lt"/>
                  </a:defRPr>
                </a:pPr>
              </a:p>
            </c:txPr>
            <c:showLegendKey val="0"/>
            <c:showVal val="0"/>
            <c:showCatName val="0"/>
            <c:showSerName val="0"/>
            <c:showPercent val="0"/>
            <c:showBubbleSize val="0"/>
            <c:showLeaderLines val="0"/>
          </c:dLbls>
          <c:marker>
            <c:symbol val="circle"/>
            <c:size val="7"/>
            <c:spPr>
              <a:solidFill>
                <a:srgbClr val="9A4F96"/>
              </a:solidFill>
              <a:ln w="9525" cap="flat">
                <a:solidFill>
                  <a:srgbClr val="9A4F96"/>
                </a:solidFill>
                <a:prstDash val="solid"/>
                <a:round/>
              </a:ln>
              <a:effectLst/>
            </c:spPr>
          </c:marker>
          <c:cat>
            <c:multiLvlStrRef>
              <c:f>Sheet1!$A$2:$A$7</c:f>
              <c:multiLvlStrCache>
                <c:ptCount val="6"/>
                <c:lvl>
                  <c:pt idx="0">
                    <c:v>20</c:v>
                  </c:pt>
                  <c:pt idx="1">
                    <c:v>40</c:v>
                  </c:pt>
                  <c:pt idx="2">
                    <c:v>60</c:v>
                  </c:pt>
                  <c:pt idx="3">
                    <c:v>80</c:v>
                  </c:pt>
                  <c:pt idx="4">
                    <c:v>100</c:v>
                  </c:pt>
                  <c:pt idx="5">
                    <c:v>120</c:v>
                  </c:pt>
                </c:lvl>
              </c:multiLvlStrCache>
            </c:multiLvlStrRef>
          </c:cat>
          <c:val>
            <c:numRef>
              <c:f>Sheet1!$E$2:$E$7</c:f>
              <c:numCache>
                <c:formatCode>General</c:formatCode>
                <c:ptCount val="6"/>
                <c:pt idx="0">
                  <c:v>100</c:v>
                </c:pt>
                <c:pt idx="1">
                  <c:v>100</c:v>
                </c:pt>
                <c:pt idx="2">
                  <c:v>100</c:v>
                </c:pt>
                <c:pt idx="3">
                  <c:v>99.9890350877193</c:v>
                </c:pt>
                <c:pt idx="4">
                  <c:v>95.7719298245614</c:v>
                </c:pt>
                <c:pt idx="5">
                  <c:v>0</c:v>
                </c:pt>
              </c:numCache>
            </c:numRef>
          </c:val>
          <c:smooth val="0"/>
        </c:ser>
        <c:dLbls>
          <c:numFmt formatCode="#,##0" sourceLinked="0"/>
          <c:txPr>
            <a:bodyPr/>
            <a:lstStyle/>
            <a:p>
              <a:pPr>
                <a:defRPr b="0" i="0" strike="noStrike" sz="1000" u="none">
                  <a:solidFill>
                    <a:srgbClr val="3B4A5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3B4A53"/>
                    </a:solidFill>
                    <a:latin typeface="+mn-lt"/>
                  </a:defRPr>
                </a:pPr>
                <a:r>
                  <a:rPr sz="1100" b="0" i="0" u="none" strike="noStrike">
                    <a:solidFill>
                      <a:srgbClr val="3B4A53"/>
                    </a:solidFill>
                    <a:latin typeface="+mn-lt"/>
                  </a:rPr>
                  <a:t>Monitored patients (N)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B4A53"/>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5E0E3"/>
              </a:solidFill>
              <a:prstDash val="solid"/>
              <a:round/>
            </a:ln>
          </c:spPr>
        </c:majorGridlines>
        <c:title>
          <c:tx>
            <c:rich>
              <a:bodyPr/>
              <a:lstStyle/>
              <a:p>
                <a:pPr>
                  <a:defRPr sz="1100" b="0" i="0" u="none" strike="noStrike">
                    <a:solidFill>
                      <a:srgbClr val="3B4A53"/>
                    </a:solidFill>
                    <a:latin typeface="+mn-lt"/>
                  </a:defRPr>
                </a:pPr>
                <a:r>
                  <a:rPr sz="1100" b="0" i="0" u="none" strike="noStrike">
                    <a:solidFill>
                      <a:srgbClr val="3B4A53"/>
                    </a:solidFill>
                    <a:latin typeface="+mn-lt"/>
                  </a:rPr>
                  <a:t>Vitals delivered by deadline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B4A53"/>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100">
              <a:solidFill>
                <a:srgbClr val="3B4A5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TCP</c:v>
                </c:pt>
              </c:strCache>
            </c:strRef>
          </c:tx>
          <c:spPr>
            <a:solidFill>
              <a:srgbClr val="E4572E"/>
            </a:solidFill>
            <a:ln w="31750" cap="flat">
              <a:solidFill>
                <a:srgbClr val="E4572E"/>
              </a:solidFill>
              <a:prstDash val="solid"/>
              <a:round/>
            </a:ln>
            <a:effectLst/>
          </c:spPr>
          <c:invertIfNegative val="0"/>
          <c:dLbls>
            <c:numFmt formatCode="#,##0" sourceLinked="0"/>
            <c:txPr>
              <a:bodyPr/>
              <a:lstStyle/>
              <a:p>
                <a:pPr>
                  <a:defRPr b="0" i="0" strike="noStrike" sz="1000" u="none">
                    <a:solidFill>
                      <a:srgbClr val="3B4A53"/>
                    </a:solidFill>
                    <a:latin typeface="+mn-lt"/>
                  </a:defRPr>
                </a:pPr>
              </a:p>
            </c:txPr>
            <c:showLegendKey val="0"/>
            <c:showVal val="0"/>
            <c:showCatName val="0"/>
            <c:showSerName val="0"/>
            <c:showPercent val="0"/>
            <c:showBubbleSize val="0"/>
            <c:showLeaderLines val="0"/>
          </c:dLbls>
          <c:marker>
            <c:symbol val="circle"/>
            <c:size val="7"/>
            <c:spPr>
              <a:solidFill>
                <a:srgbClr val="E4572E"/>
              </a:solidFill>
              <a:ln w="9525" cap="flat">
                <a:solidFill>
                  <a:srgbClr val="E4572E"/>
                </a:solidFill>
                <a:prstDash val="solid"/>
                <a:round/>
              </a:ln>
              <a:effectLst/>
            </c:spPr>
          </c:marker>
          <c:cat>
            <c:multiLvlStrRef>
              <c:f>Sheet1!$A$2:$A$6</c:f>
              <c:multiLvlStrCache>
                <c:ptCount val="5"/>
                <c:lvl>
                  <c:pt idx="0">
                    <c:v>25</c:v>
                  </c:pt>
                  <c:pt idx="1">
                    <c:v>50</c:v>
                  </c:pt>
                  <c:pt idx="2">
                    <c:v>100</c:v>
                  </c:pt>
                  <c:pt idx="3">
                    <c:v>200</c:v>
                  </c:pt>
                  <c:pt idx="4">
                    <c:v>400</c:v>
                  </c:pt>
                </c:lvl>
              </c:multiLvlStrCache>
            </c:multiLvlStrRef>
          </c:cat>
          <c:val>
            <c:numRef>
              <c:f>Sheet1!$B$2:$B$6</c:f>
              <c:numCache>
                <c:formatCode>General</c:formatCode>
                <c:ptCount val="5"/>
                <c:pt idx="0">
                  <c:v>96.17537799690686</c:v>
                </c:pt>
                <c:pt idx="1">
                  <c:v>93.70433404530489</c:v>
                </c:pt>
                <c:pt idx="2">
                  <c:v>79.49466688718277</c:v>
                </c:pt>
                <c:pt idx="3">
                  <c:v>20.077684431121867</c:v>
                </c:pt>
                <c:pt idx="4">
                  <c:v>16.74297031899957</c:v>
                </c:pt>
              </c:numCache>
            </c:numRef>
          </c:val>
          <c:smooth val="0"/>
        </c:ser>
        <c:ser>
          <c:idx val="1"/>
          <c:order val="1"/>
          <c:tx>
            <c:strRef>
              <c:f>Sheet1!$C$1</c:f>
              <c:strCache>
                <c:ptCount val="1"/>
                <c:pt idx="0">
                  <c:v>UDP</c:v>
                </c:pt>
              </c:strCache>
            </c:strRef>
          </c:tx>
          <c:spPr>
            <a:solidFill>
              <a:srgbClr val="F2A541"/>
            </a:solidFill>
            <a:ln w="31750" cap="flat">
              <a:solidFill>
                <a:srgbClr val="F2A541"/>
              </a:solidFill>
              <a:prstDash val="solid"/>
              <a:round/>
            </a:ln>
            <a:effectLst/>
          </c:spPr>
          <c:invertIfNegative val="0"/>
          <c:dLbls>
            <c:numFmt formatCode="#,##0" sourceLinked="0"/>
            <c:txPr>
              <a:bodyPr/>
              <a:lstStyle/>
              <a:p>
                <a:pPr>
                  <a:defRPr b="0" i="0" strike="noStrike" sz="1000" u="none">
                    <a:solidFill>
                      <a:srgbClr val="3B4A53"/>
                    </a:solidFill>
                    <a:latin typeface="+mn-lt"/>
                  </a:defRPr>
                </a:pPr>
              </a:p>
            </c:txPr>
            <c:showLegendKey val="0"/>
            <c:showVal val="0"/>
            <c:showCatName val="0"/>
            <c:showSerName val="0"/>
            <c:showPercent val="0"/>
            <c:showBubbleSize val="0"/>
            <c:showLeaderLines val="0"/>
          </c:dLbls>
          <c:marker>
            <c:symbol val="circle"/>
            <c:size val="7"/>
            <c:spPr>
              <a:solidFill>
                <a:srgbClr val="F2A541"/>
              </a:solidFill>
              <a:ln w="9525" cap="flat">
                <a:solidFill>
                  <a:srgbClr val="F2A541"/>
                </a:solidFill>
                <a:prstDash val="solid"/>
                <a:round/>
              </a:ln>
              <a:effectLst/>
            </c:spPr>
          </c:marker>
          <c:cat>
            <c:multiLvlStrRef>
              <c:f>Sheet1!$A$2:$A$6</c:f>
              <c:multiLvlStrCache>
                <c:ptCount val="5"/>
                <c:lvl>
                  <c:pt idx="0">
                    <c:v>25</c:v>
                  </c:pt>
                  <c:pt idx="1">
                    <c:v>50</c:v>
                  </c:pt>
                  <c:pt idx="2">
                    <c:v>100</c:v>
                  </c:pt>
                  <c:pt idx="3">
                    <c:v>200</c:v>
                  </c:pt>
                  <c:pt idx="4">
                    <c:v>400</c:v>
                  </c:pt>
                </c:lvl>
              </c:multiLvlStrCache>
            </c:multiLvlStrRef>
          </c:cat>
          <c:val>
            <c:numRef>
              <c:f>Sheet1!$C$2:$C$6</c:f>
              <c:numCache>
                <c:formatCode>General</c:formatCode>
                <c:ptCount val="5"/>
                <c:pt idx="0">
                  <c:v>98.10500956618894</c:v>
                </c:pt>
                <c:pt idx="1">
                  <c:v>97.59295946163576</c:v>
                </c:pt>
                <c:pt idx="2">
                  <c:v>98.450311669841</c:v>
                </c:pt>
                <c:pt idx="3">
                  <c:v>31.350259467510266</c:v>
                </c:pt>
                <c:pt idx="4">
                  <c:v>24.931440069124854</c:v>
                </c:pt>
              </c:numCache>
            </c:numRef>
          </c:val>
          <c:smooth val="0"/>
        </c:ser>
        <c:ser>
          <c:idx val="2"/>
          <c:order val="2"/>
          <c:tx>
            <c:strRef>
              <c:f>Sheet1!$D$1</c:f>
              <c:strCache>
                <c:ptCount val="1"/>
                <c:pt idx="0">
                  <c:v>UDP+Prio</c:v>
                </c:pt>
              </c:strCache>
            </c:strRef>
          </c:tx>
          <c:spPr>
            <a:solidFill>
              <a:srgbClr val="5B8FB9"/>
            </a:solidFill>
            <a:ln w="31750" cap="flat">
              <a:solidFill>
                <a:srgbClr val="5B8FB9"/>
              </a:solidFill>
              <a:prstDash val="solid"/>
              <a:round/>
            </a:ln>
            <a:effectLst/>
          </c:spPr>
          <c:invertIfNegative val="0"/>
          <c:dLbls>
            <c:numFmt formatCode="#,##0" sourceLinked="0"/>
            <c:txPr>
              <a:bodyPr/>
              <a:lstStyle/>
              <a:p>
                <a:pPr>
                  <a:defRPr b="0" i="0" strike="noStrike" sz="1000" u="none">
                    <a:solidFill>
                      <a:srgbClr val="3B4A53"/>
                    </a:solidFill>
                    <a:latin typeface="+mn-lt"/>
                  </a:defRPr>
                </a:pPr>
              </a:p>
            </c:txPr>
            <c:showLegendKey val="0"/>
            <c:showVal val="0"/>
            <c:showCatName val="0"/>
            <c:showSerName val="0"/>
            <c:showPercent val="0"/>
            <c:showBubbleSize val="0"/>
            <c:showLeaderLines val="0"/>
          </c:dLbls>
          <c:marker>
            <c:symbol val="circle"/>
            <c:size val="7"/>
            <c:spPr>
              <a:solidFill>
                <a:srgbClr val="5B8FB9"/>
              </a:solidFill>
              <a:ln w="9525" cap="flat">
                <a:solidFill>
                  <a:srgbClr val="5B8FB9"/>
                </a:solidFill>
                <a:prstDash val="solid"/>
                <a:round/>
              </a:ln>
              <a:effectLst/>
            </c:spPr>
          </c:marker>
          <c:cat>
            <c:multiLvlStrRef>
              <c:f>Sheet1!$A$2:$A$6</c:f>
              <c:multiLvlStrCache>
                <c:ptCount val="5"/>
                <c:lvl>
                  <c:pt idx="0">
                    <c:v>25</c:v>
                  </c:pt>
                  <c:pt idx="1">
                    <c:v>50</c:v>
                  </c:pt>
                  <c:pt idx="2">
                    <c:v>100</c:v>
                  </c:pt>
                  <c:pt idx="3">
                    <c:v>200</c:v>
                  </c:pt>
                  <c:pt idx="4">
                    <c:v>400</c:v>
                  </c:pt>
                </c:lvl>
              </c:multiLvlStrCache>
            </c:multiLvlStrRef>
          </c:cat>
          <c:val>
            <c:numRef>
              <c:f>Sheet1!$D$2:$D$6</c:f>
              <c:numCache>
                <c:formatCode>General</c:formatCode>
                <c:ptCount val="5"/>
                <c:pt idx="0">
                  <c:v>97.97184272456184</c:v>
                </c:pt>
                <c:pt idx="1">
                  <c:v>98.06868616390658</c:v>
                </c:pt>
                <c:pt idx="2">
                  <c:v>98.06868616390658</c:v>
                </c:pt>
                <c:pt idx="3">
                  <c:v>98.06868616390658</c:v>
                </c:pt>
                <c:pt idx="4">
                  <c:v>98.06868616390658</c:v>
                </c:pt>
              </c:numCache>
            </c:numRef>
          </c:val>
          <c:smooth val="0"/>
        </c:ser>
        <c:ser>
          <c:idx val="3"/>
          <c:order val="3"/>
          <c:tx>
            <c:strRef>
              <c:f>Sheet1!$E$1</c:f>
              <c:strCache>
                <c:ptCount val="1"/>
                <c:pt idx="0">
                  <c:v>Proposed</c:v>
                </c:pt>
              </c:strCache>
            </c:strRef>
          </c:tx>
          <c:spPr>
            <a:solidFill>
              <a:srgbClr val="0E7C86"/>
            </a:solidFill>
            <a:ln w="31750" cap="flat">
              <a:solidFill>
                <a:srgbClr val="0E7C86"/>
              </a:solidFill>
              <a:prstDash val="solid"/>
              <a:round/>
            </a:ln>
            <a:effectLst/>
          </c:spPr>
          <c:invertIfNegative val="0"/>
          <c:dLbls>
            <c:numFmt formatCode="#,##0" sourceLinked="0"/>
            <c:txPr>
              <a:bodyPr/>
              <a:lstStyle/>
              <a:p>
                <a:pPr>
                  <a:defRPr b="0" i="0" strike="noStrike" sz="1000" u="none">
                    <a:solidFill>
                      <a:srgbClr val="3B4A53"/>
                    </a:solidFill>
                    <a:latin typeface="+mn-lt"/>
                  </a:defRPr>
                </a:pPr>
              </a:p>
            </c:txPr>
            <c:showLegendKey val="0"/>
            <c:showVal val="0"/>
            <c:showCatName val="0"/>
            <c:showSerName val="0"/>
            <c:showPercent val="0"/>
            <c:showBubbleSize val="0"/>
            <c:showLeaderLines val="0"/>
          </c:dLbls>
          <c:marker>
            <c:symbol val="circle"/>
            <c:size val="7"/>
            <c:spPr>
              <a:solidFill>
                <a:srgbClr val="0E7C86"/>
              </a:solidFill>
              <a:ln w="9525" cap="flat">
                <a:solidFill>
                  <a:srgbClr val="0E7C86"/>
                </a:solidFill>
                <a:prstDash val="solid"/>
                <a:round/>
              </a:ln>
              <a:effectLst/>
            </c:spPr>
          </c:marker>
          <c:cat>
            <c:multiLvlStrRef>
              <c:f>Sheet1!$A$2:$A$6</c:f>
              <c:multiLvlStrCache>
                <c:ptCount val="5"/>
                <c:lvl>
                  <c:pt idx="0">
                    <c:v>25</c:v>
                  </c:pt>
                  <c:pt idx="1">
                    <c:v>50</c:v>
                  </c:pt>
                  <c:pt idx="2">
                    <c:v>100</c:v>
                  </c:pt>
                  <c:pt idx="3">
                    <c:v>200</c:v>
                  </c:pt>
                  <c:pt idx="4">
                    <c:v>400</c:v>
                  </c:pt>
                </c:lvl>
              </c:multiLvlStrCache>
            </c:multiLvlStrRef>
          </c:cat>
          <c:val>
            <c:numRef>
              <c:f>Sheet1!$E$2:$E$6</c:f>
              <c:numCache>
                <c:formatCode>General</c:formatCode>
                <c:ptCount val="5"/>
                <c:pt idx="0">
                  <c:v>100</c:v>
                </c:pt>
                <c:pt idx="1">
                  <c:v>100</c:v>
                </c:pt>
                <c:pt idx="2">
                  <c:v>100</c:v>
                </c:pt>
                <c:pt idx="3">
                  <c:v>100</c:v>
                </c:pt>
                <c:pt idx="4">
                  <c:v>100</c:v>
                </c:pt>
              </c:numCache>
            </c:numRef>
          </c:val>
          <c:smooth val="0"/>
        </c:ser>
        <c:dLbls>
          <c:numFmt formatCode="#,##0" sourceLinked="0"/>
          <c:txPr>
            <a:bodyPr/>
            <a:lstStyle/>
            <a:p>
              <a:pPr>
                <a:defRPr b="0" i="0" strike="noStrike" sz="1000" u="none">
                  <a:solidFill>
                    <a:srgbClr val="3B4A5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3B4A53"/>
                    </a:solidFill>
                    <a:latin typeface="+mn-lt"/>
                  </a:defRPr>
                </a:pPr>
                <a:r>
                  <a:rPr sz="1100" b="0" i="0" u="none" strike="noStrike">
                    <a:solidFill>
                      <a:srgbClr val="3B4A53"/>
                    </a:solidFill>
                    <a:latin typeface="+mn-lt"/>
                  </a:rPr>
                  <a:t>Bottleneck buffer (kB)</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B4A53"/>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5E0E3"/>
              </a:solidFill>
              <a:prstDash val="solid"/>
              <a:round/>
            </a:ln>
          </c:spPr>
        </c:majorGridlines>
        <c:title>
          <c:tx>
            <c:rich>
              <a:bodyPr/>
              <a:lstStyle/>
              <a:p>
                <a:pPr>
                  <a:defRPr sz="1100" b="0" i="0" u="none" strike="noStrike">
                    <a:solidFill>
                      <a:srgbClr val="3B4A53"/>
                    </a:solidFill>
                    <a:latin typeface="+mn-lt"/>
                  </a:defRPr>
                </a:pPr>
                <a:r>
                  <a:rPr sz="1100" b="0" i="0" u="none" strike="noStrike">
                    <a:solidFill>
                      <a:srgbClr val="3B4A53"/>
                    </a:solidFill>
                    <a:latin typeface="+mn-lt"/>
                  </a:rPr>
                  <a:t>Alarms delivered by deadline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B4A53"/>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100">
              <a:solidFill>
                <a:srgbClr val="3B4A5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UDP+Prio</c:v>
                </c:pt>
              </c:strCache>
            </c:strRef>
          </c:tx>
          <c:spPr>
            <a:solidFill>
              <a:srgbClr val="5B8FB9"/>
            </a:solidFill>
            <a:ln w="31750" cap="flat">
              <a:solidFill>
                <a:srgbClr val="5B8FB9"/>
              </a:solidFill>
              <a:prstDash val="solid"/>
              <a:round/>
            </a:ln>
            <a:effectLst/>
          </c:spPr>
          <c:invertIfNegative val="0"/>
          <c:dLbls>
            <c:numFmt formatCode="#,##0" sourceLinked="0"/>
            <c:txPr>
              <a:bodyPr/>
              <a:lstStyle/>
              <a:p>
                <a:pPr>
                  <a:defRPr b="0" i="0" strike="noStrike" sz="1000" u="none">
                    <a:solidFill>
                      <a:srgbClr val="3B4A53"/>
                    </a:solidFill>
                    <a:latin typeface="+mn-lt"/>
                  </a:defRPr>
                </a:pPr>
              </a:p>
            </c:txPr>
            <c:showLegendKey val="0"/>
            <c:showVal val="0"/>
            <c:showCatName val="0"/>
            <c:showSerName val="0"/>
            <c:showPercent val="0"/>
            <c:showBubbleSize val="0"/>
            <c:showLeaderLines val="0"/>
          </c:dLbls>
          <c:marker>
            <c:symbol val="circle"/>
            <c:size val="7"/>
            <c:spPr>
              <a:solidFill>
                <a:srgbClr val="5B8FB9"/>
              </a:solidFill>
              <a:ln w="9525" cap="flat">
                <a:solidFill>
                  <a:srgbClr val="5B8FB9"/>
                </a:solidFill>
                <a:prstDash val="solid"/>
                <a:round/>
              </a:ln>
              <a:effectLst/>
            </c:spPr>
          </c:marker>
          <c:cat>
            <c:multiLvlStrRef>
              <c:f>Sheet1!$A$2:$A$5</c:f>
              <c:multiLvlStrCache>
                <c:ptCount val="4"/>
                <c:lvl>
                  <c:pt idx="0">
                    <c:v>10</c:v>
                  </c:pt>
                  <c:pt idx="1">
                    <c:v>40</c:v>
                  </c:pt>
                  <c:pt idx="2">
                    <c:v>80</c:v>
                  </c:pt>
                  <c:pt idx="3">
                    <c:v>120</c:v>
                  </c:pt>
                </c:lvl>
              </c:multiLvlStrCache>
            </c:multiLvlStrRef>
          </c:cat>
          <c:val>
            <c:numRef>
              <c:f>Sheet1!$B$2:$B$5</c:f>
              <c:numCache>
                <c:formatCode>General</c:formatCode>
                <c:ptCount val="4"/>
                <c:pt idx="0">
                  <c:v>98.06868616390658</c:v>
                </c:pt>
                <c:pt idx="1">
                  <c:v>97.83019080419682</c:v>
                </c:pt>
                <c:pt idx="2">
                  <c:v>97.9377384824712</c:v>
                </c:pt>
                <c:pt idx="3">
                  <c:v>97.98292234901938</c:v>
                </c:pt>
              </c:numCache>
            </c:numRef>
          </c:val>
          <c:smooth val="0"/>
        </c:ser>
        <c:ser>
          <c:idx val="1"/>
          <c:order val="1"/>
          <c:tx>
            <c:strRef>
              <c:f>Sheet1!$C$1</c:f>
              <c:strCache>
                <c:ptCount val="1"/>
                <c:pt idx="0">
                  <c:v>Proposed (no FEC)</c:v>
                </c:pt>
              </c:strCache>
            </c:strRef>
          </c:tx>
          <c:spPr>
            <a:solidFill>
              <a:srgbClr val="1F3D8C"/>
            </a:solidFill>
            <a:ln w="31750" cap="flat">
              <a:solidFill>
                <a:srgbClr val="1F3D8C"/>
              </a:solidFill>
              <a:prstDash val="solid"/>
              <a:round/>
            </a:ln>
            <a:effectLst/>
          </c:spPr>
          <c:invertIfNegative val="0"/>
          <c:dLbls>
            <c:numFmt formatCode="#,##0" sourceLinked="0"/>
            <c:txPr>
              <a:bodyPr/>
              <a:lstStyle/>
              <a:p>
                <a:pPr>
                  <a:defRPr b="0" i="0" strike="noStrike" sz="1000" u="none">
                    <a:solidFill>
                      <a:srgbClr val="3B4A53"/>
                    </a:solidFill>
                    <a:latin typeface="+mn-lt"/>
                  </a:defRPr>
                </a:pPr>
              </a:p>
            </c:txPr>
            <c:showLegendKey val="0"/>
            <c:showVal val="0"/>
            <c:showCatName val="0"/>
            <c:showSerName val="0"/>
            <c:showPercent val="0"/>
            <c:showBubbleSize val="0"/>
            <c:showLeaderLines val="0"/>
          </c:dLbls>
          <c:marker>
            <c:symbol val="circle"/>
            <c:size val="7"/>
            <c:spPr>
              <a:solidFill>
                <a:srgbClr val="1F3D8C"/>
              </a:solidFill>
              <a:ln w="9525" cap="flat">
                <a:solidFill>
                  <a:srgbClr val="1F3D8C"/>
                </a:solidFill>
                <a:prstDash val="solid"/>
                <a:round/>
              </a:ln>
              <a:effectLst/>
            </c:spPr>
          </c:marker>
          <c:cat>
            <c:multiLvlStrRef>
              <c:f>Sheet1!$A$2:$A$5</c:f>
              <c:multiLvlStrCache>
                <c:ptCount val="4"/>
                <c:lvl>
                  <c:pt idx="0">
                    <c:v>10</c:v>
                  </c:pt>
                  <c:pt idx="1">
                    <c:v>40</c:v>
                  </c:pt>
                  <c:pt idx="2">
                    <c:v>80</c:v>
                  </c:pt>
                  <c:pt idx="3">
                    <c:v>120</c:v>
                  </c:pt>
                </c:lvl>
              </c:multiLvlStrCache>
            </c:multiLvlStrRef>
          </c:cat>
          <c:val>
            <c:numRef>
              <c:f>Sheet1!$C$2:$C$5</c:f>
              <c:numCache>
                <c:formatCode>General</c:formatCode>
                <c:ptCount val="4"/>
                <c:pt idx="0">
                  <c:v>100</c:v>
                </c:pt>
                <c:pt idx="1">
                  <c:v>98.47433828245475</c:v>
                </c:pt>
                <c:pt idx="2">
                  <c:v>98.41661646803115</c:v>
                </c:pt>
                <c:pt idx="3">
                  <c:v>98.04453839643197</c:v>
                </c:pt>
              </c:numCache>
            </c:numRef>
          </c:val>
          <c:smooth val="0"/>
        </c:ser>
        <c:ser>
          <c:idx val="2"/>
          <c:order val="2"/>
          <c:tx>
            <c:strRef>
              <c:f>Sheet1!$D$1</c:f>
              <c:strCache>
                <c:ptCount val="1"/>
                <c:pt idx="0">
                  <c:v>Proposed</c:v>
                </c:pt>
              </c:strCache>
            </c:strRef>
          </c:tx>
          <c:spPr>
            <a:solidFill>
              <a:srgbClr val="0E7C86"/>
            </a:solidFill>
            <a:ln w="31750" cap="flat">
              <a:solidFill>
                <a:srgbClr val="0E7C86"/>
              </a:solidFill>
              <a:prstDash val="solid"/>
              <a:round/>
            </a:ln>
            <a:effectLst/>
          </c:spPr>
          <c:invertIfNegative val="0"/>
          <c:dLbls>
            <c:numFmt formatCode="#,##0" sourceLinked="0"/>
            <c:txPr>
              <a:bodyPr/>
              <a:lstStyle/>
              <a:p>
                <a:pPr>
                  <a:defRPr b="0" i="0" strike="noStrike" sz="1000" u="none">
                    <a:solidFill>
                      <a:srgbClr val="3B4A53"/>
                    </a:solidFill>
                    <a:latin typeface="+mn-lt"/>
                  </a:defRPr>
                </a:pPr>
              </a:p>
            </c:txPr>
            <c:showLegendKey val="0"/>
            <c:showVal val="0"/>
            <c:showCatName val="0"/>
            <c:showSerName val="0"/>
            <c:showPercent val="0"/>
            <c:showBubbleSize val="0"/>
            <c:showLeaderLines val="0"/>
          </c:dLbls>
          <c:marker>
            <c:symbol val="circle"/>
            <c:size val="7"/>
            <c:spPr>
              <a:solidFill>
                <a:srgbClr val="0E7C86"/>
              </a:solidFill>
              <a:ln w="9525" cap="flat">
                <a:solidFill>
                  <a:srgbClr val="0E7C86"/>
                </a:solidFill>
                <a:prstDash val="solid"/>
                <a:round/>
              </a:ln>
              <a:effectLst/>
            </c:spPr>
          </c:marker>
          <c:cat>
            <c:multiLvlStrRef>
              <c:f>Sheet1!$A$2:$A$5</c:f>
              <c:multiLvlStrCache>
                <c:ptCount val="4"/>
                <c:lvl>
                  <c:pt idx="0">
                    <c:v>10</c:v>
                  </c:pt>
                  <c:pt idx="1">
                    <c:v>40</c:v>
                  </c:pt>
                  <c:pt idx="2">
                    <c:v>80</c:v>
                  </c:pt>
                  <c:pt idx="3">
                    <c:v>120</c:v>
                  </c:pt>
                </c:lvl>
              </c:multiLvlStrCache>
            </c:multiLvlStrRef>
          </c:cat>
          <c:val>
            <c:numRef>
              <c:f>Sheet1!$D$2:$D$5</c:f>
              <c:numCache>
                <c:formatCode>General</c:formatCode>
                <c:ptCount val="4"/>
                <c:pt idx="0">
                  <c:v>100</c:v>
                </c:pt>
                <c:pt idx="1">
                  <c:v>99.73053450500898</c:v>
                </c:pt>
                <c:pt idx="2">
                  <c:v>99.72727780678905</c:v>
                </c:pt>
                <c:pt idx="3">
                  <c:v>99.63213429823335</c:v>
                </c:pt>
              </c:numCache>
            </c:numRef>
          </c:val>
          <c:smooth val="0"/>
        </c:ser>
        <c:dLbls>
          <c:numFmt formatCode="#,##0" sourceLinked="0"/>
          <c:txPr>
            <a:bodyPr/>
            <a:lstStyle/>
            <a:p>
              <a:pPr>
                <a:defRPr b="0" i="0" strike="noStrike" sz="1000" u="none">
                  <a:solidFill>
                    <a:srgbClr val="3B4A5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3B4A53"/>
                    </a:solidFill>
                    <a:latin typeface="+mn-lt"/>
                  </a:defRPr>
                </a:pPr>
                <a:r>
                  <a:rPr sz="1100" b="0" i="0" u="none" strike="noStrike">
                    <a:solidFill>
                      <a:srgbClr val="3B4A53"/>
                    </a:solidFill>
                    <a:latin typeface="+mn-lt"/>
                  </a:rPr>
                  <a:t>One-way backhaul delay (ms)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B4A53"/>
                </a:solidFill>
                <a:latin typeface="+mn-lt"/>
              </a:defRPr>
            </a:pPr>
            <a:endParaRPr lang="en-US"/>
          </a:p>
        </c:txPr>
        <c:crossAx val="2094734552"/>
        <c:crosses val="autoZero"/>
        <c:auto val="1"/>
        <c:lblAlgn val="ctr"/>
        <c:noMultiLvlLbl val="1"/>
      </c:catAx>
      <c:valAx>
        <c:axId val="2094734552"/>
        <c:scaling>
          <c:orientation val="minMax"/>
          <c:max val="100"/>
          <c:min val="96"/>
        </c:scaling>
        <c:delete val="0"/>
        <c:axPos val="l"/>
        <c:majorGridlines>
          <c:spPr>
            <a:ln w="6350" cap="flat">
              <a:solidFill>
                <a:srgbClr val="D5E0E3"/>
              </a:solidFill>
              <a:prstDash val="solid"/>
              <a:round/>
            </a:ln>
          </c:spPr>
        </c:majorGridlines>
        <c:title>
          <c:tx>
            <c:rich>
              <a:bodyPr/>
              <a:lstStyle/>
              <a:p>
                <a:pPr>
                  <a:defRPr sz="1100" b="0" i="0" u="none" strike="noStrike">
                    <a:solidFill>
                      <a:srgbClr val="3B4A53"/>
                    </a:solidFill>
                    <a:latin typeface="+mn-lt"/>
                  </a:defRPr>
                </a:pPr>
                <a:r>
                  <a:rPr sz="1100" b="0" i="0" u="none" strike="noStrike">
                    <a:solidFill>
                      <a:srgbClr val="3B4A53"/>
                    </a:solidFill>
                    <a:latin typeface="+mn-lt"/>
                  </a:rPr>
                  <a:t>Alarms delivered by deadline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B4A53"/>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100">
              <a:solidFill>
                <a:srgbClr val="3B4A5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problem: patient monitors send small deadline-bound messages over wireless networks that are shared with bulk traffic. This talk covers a transport design for that setting and a simulation-based evaluation. All results are from simulation, not from a clinical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telemetry classes with their delivery deadlines. The key idea is that the deadline, not reliability in the abstract, is what has to be protected. The numbers are assumptions made for the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usual choices fail: TCP couples all messages on a connection and backs off slowly; UDP gives up on repairs; and both sit behind whatever queue the bulk flows have built at the access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contributions. The first four are the design; the fifth is the evaluation, including ablations that separate what each mechanism contributes.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 is deliberately simple: one shared bottleneck with Gilbert-Elliott channel states. The metric is the share of messages that meet their deadline, with undelivered messages counted as misses.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graphs from the base repository. They show TCP and UDP behave almost identically for the healthcare flow in this topology. The next slide explains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reading of the baseline. It is a valid measurement, but it does not stress the transport layer, so it cannot show a benefit for optimisation. The stress scenario later in the talk puts telemetry and bulk traffic in the same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replica is a slot-level 802.11g DCF model: backoff, collisions, MAC acknowledgements, a 500 packet queue. Open markers are the replica with 95 percent intervals over 30 runs; filled markers are the single ns-3 run from the repository. Be clear that healthcare delay and jitter are only approximately 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switch to the live demo. Start with the default scenario, then raise the number of bulk flows and show TCP's alarm delivery falling while the proposed scheme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Messages are tagged with class, sequence number and absolute deadline, protected by the reliability engine, and queued by class at the access point. The receiver delivers immediately without reordering and feeds ACKs back, from which the sender estimates RTT and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 30 ms floor a repair can arrive inside the 150 ms alarm deadline. TCP's 200 ms minimum timer alone exceeds it. The deadline check avoids sending repairs that would arrive late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Redundancy repairs channel loss but cannot repair delay. When RTT inflation reveals a standing queue, adding parity only adds load. The gate was added after an earlier version collapsed at high patient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Telemetry has its own queues so it never waits behind bulk traffic. Packets that can no longer arrive in time are dropped at dequeue rather than consuming capacity. This is the part that most depends on network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TCP models MQTT over TCP with one connection per patient. Each later configuration adds one ingredient, so comparing neighbours isolates what that ingredient contributes.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Default scenario: 40 patients and 8 bulk flows. UDP+Prio reaches about 98% for every class but cannot repair channel loss. Transport-only fixes ECG and vitals but not alarms, because queueing delay alone exceeds 150 ms. The proposed design delivers essentially all messages on time; the cost is lower bulk goodput.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background traffic TCP is fine: 99.2% of alarms on time. At 16 bulk flows it delivers 0.7% of alarms and 24.1% of ECG. UDP and Transport-only keep ECG but lose alarms; UDP+Prio is flat near 98%; the proposed design stays near 100%. Category axis is not to scale. Means of 8 runs; confidence intervals are in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Latency of delivered messages only; undelivered messages are counted in the timely delivery ratio instead. The 10 ms floor is the assumed path delay. The proposed design's 20 ms and 40 ms tails correspond to one retransmission.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Vitals have the lowest telemetry priority, so they show overload first. The gated design degrades gracefully; the ungated one collapses because redundancy adds load exactly when the link is full. A deployment would need a rate cap or weighted scheduling for telemetry.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Much of the baselines' loss comes from deep buffers. The proposed design is insensitive to buffer depth because telemetry has its own queues, but short buffers or AQM would help every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Axis is truncated at 96% to show the differences; the gains are modest in absolute terms. Redundancy should be enabled on the ratio of round-trip time to deadline rather than on the loss estimate alone. At intermediate delays the retransmission timer margin is too small and spurious retransmissions raise overhead; that is a known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about scope. Results compare mechanisms under controlled assumptions and should not be read as predicted performance of a hospital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scope reminder: simulation-based, strict priority assumed. Invite questions on the ablation results and the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sources are dated 2019 or later and each link was opened while writing the paper. The paper has the full reference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sources are dated 2019 or later and each link was opened while writing the paper. The paper has the full reference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E2A3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51560"/>
            <a:ext cx="6766560" cy="173736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ph idx="101" type="body" hasCustomPrompt="1"/>
          </p:nvPr>
        </p:nvSpPr>
        <p:spPr>
          <a:xfrm>
            <a:off x="548640" y="2926080"/>
            <a:ext cx="6400800" cy="731520"/>
          </a:xfrm>
          <a:prstGeom prst="rect">
            <a:avLst/>
          </a:prstGeom>
          <a:noFill/>
          <a:ln/>
        </p:spPr>
        <p:txBody>
          <a:bodyPr wrap="square" rtlCol="0"/>
          <a:lstStyle>
            <a:lvl1pPr indent="0" marL="0">
              <a:buNone/>
              <a:defRPr lang="en-US" sz="1600" dirty="0">
                <a:solidFill>
                  <a:srgbClr val="CFE3E6"/>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9144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457200" y="4773168"/>
            <a:ext cx="5486400" cy="228600"/>
          </a:xfrm>
          <a:prstGeom prst="rect">
            <a:avLst/>
          </a:prstGeom>
          <a:noFill/>
          <a:ln/>
        </p:spPr>
        <p:txBody>
          <a:bodyPr wrap="square" lIns="0" tIns="0" rIns="0" bIns="0" rtlCol="0" anchor="ctr"/>
          <a:lstStyle/>
          <a:p>
            <a:pPr indent="0" marL="0">
              <a:buNone/>
            </a:pPr>
            <a:r>
              <a:rPr lang="en-US" sz="1000" dirty="0">
                <a:solidFill>
                  <a:srgbClr val="7A8B99"/>
                </a:solidFill>
              </a:rPr>
              <a:t>Transport optimization for healthcare telemetry</a:t>
            </a:r>
            <a:endParaRPr lang="en-US" sz="10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rgbClr val="0E2A3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91440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DB4BA"/>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github.com/nikhilsamsonsuresh-sketch/healthcare-telemetry-ns3" TargetMode="External"/><Relationship Id="rId2" Type="http://schemas.openxmlformats.org/officeDocument/2006/relationships/hyperlink" Target="https://www.rfc-editor.org/rfc/rfc9293" TargetMode="External"/><Relationship Id="rId3" Type="http://schemas.openxmlformats.org/officeDocument/2006/relationships/hyperlink" Target="https://www.rfc-editor.org/rfc/rfc9000" TargetMode="External"/><Relationship Id="rId4" Type="http://schemas.openxmlformats.org/officeDocument/2006/relationships/hyperlink" Target="https://www.rfc-editor.org/rfc/rfc9002" TargetMode="External"/><Relationship Id="rId5" Type="http://schemas.openxmlformats.org/officeDocument/2006/relationships/hyperlink" Target="https://www.rfc-editor.org/rfc/rfc8985" TargetMode="External"/><Relationship Id="rId6" Type="http://schemas.openxmlformats.org/officeDocument/2006/relationships/hyperlink" Target="https://www.rfc-editor.org/rfc/rfc9438" TargetMode="External"/><Relationship Id="rId7" Type="http://schemas.openxmlformats.org/officeDocument/2006/relationships/hyperlink" Target="https://www.rfc-editor.org/rfc/rfc9330" TargetMode="External"/><Relationship Id="rId8" Type="http://schemas.openxmlformats.org/officeDocument/2006/relationships/hyperlink" Target="https://research.chalmers.se/en/publication/523631" TargetMode="External"/><Relationship Id="rId9" Type="http://schemas.openxmlformats.org/officeDocument/2006/relationships/slideLayout" Target="../slideLayouts/slideLayout3.xml"/><Relationship Id="rId1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arxiv.org/abs/2406.03786" TargetMode="External"/><Relationship Id="rId2" Type="http://schemas.openxmlformats.org/officeDocument/2006/relationships/hyperlink" Target="https://arxiv.org/abs/2504.02446" TargetMode="External"/><Relationship Id="rId3" Type="http://schemas.openxmlformats.org/officeDocument/2006/relationships/hyperlink" Target="https://www.mdpi.com/1099-4300/26/8/655" TargetMode="External"/><Relationship Id="rId4" Type="http://schemas.openxmlformats.org/officeDocument/2006/relationships/hyperlink" Target="https://arxiv.org/abs/2107.13968" TargetMode="External"/><Relationship Id="rId5" Type="http://schemas.openxmlformats.org/officeDocument/2006/relationships/hyperlink" Target="https://www.s-lab.nd.chiba-u.jp/achievements/abst.php?paper=683" TargetMode="External"/><Relationship Id="rId6" Type="http://schemas.openxmlformats.org/officeDocument/2006/relationships/hyperlink" Target="https://arxiv.org/abs/2112.07170" TargetMode="External"/><Relationship Id="rId7" Type="http://schemas.openxmlformats.org/officeDocument/2006/relationships/hyperlink" Target="https://peerj.com/articles/cs-2687" TargetMode="External"/><Relationship Id="rId8" Type="http://schemas.openxmlformats.org/officeDocument/2006/relationships/hyperlink" Target="https://www.nsnam.org/" TargetMode="External"/><Relationship Id="rId9" Type="http://schemas.openxmlformats.org/officeDocument/2006/relationships/slideLayout" Target="../slideLayouts/slideLayout3.xml"/><Relationship Id="rId10"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r circle large"/>
          <p:cNvSpPr/>
          <p:nvPr/>
        </p:nvSpPr>
        <p:spPr>
          <a:xfrm>
            <a:off x="6309360" y="-1463040"/>
            <a:ext cx="4206240" cy="4206240"/>
          </a:xfrm>
          <a:prstGeom prst="ellipse">
            <a:avLst/>
          </a:prstGeom>
          <a:solidFill>
            <a:srgbClr val="0E7C86">
              <a:alpha val="30000"/>
            </a:srgbClr>
          </a:solidFill>
          <a:ln/>
        </p:spPr>
      </p:sp>
      <p:sp>
        <p:nvSpPr>
          <p:cNvPr id="3" name="Decor circle small"/>
          <p:cNvSpPr/>
          <p:nvPr/>
        </p:nvSpPr>
        <p:spPr>
          <a:xfrm>
            <a:off x="7589520" y="3017520"/>
            <a:ext cx="2560320" cy="2560320"/>
          </a:xfrm>
          <a:prstGeom prst="ellipse">
            <a:avLst/>
          </a:prstGeom>
          <a:solidFill>
            <a:srgbClr val="E4572E">
              <a:alpha val="22000"/>
            </a:srgbClr>
          </a:solidFill>
          <a:ln/>
        </p:spPr>
      </p:sp>
      <p:sp>
        <p:nvSpPr>
          <p:cNvPr id="4" name="Text 0"/>
          <p:cNvSpPr/>
          <p:nvPr>
            <p:ph idx="100" type="title" hasCustomPrompt="1"/>
          </p:nvPr>
        </p:nvSpPr>
        <p:spPr>
          <a:xfrm>
            <a:off x="548640" y="1051560"/>
            <a:ext cx="6766560" cy="1737360"/>
          </a:xfrm>
          <a:prstGeom prst="rect">
            <a:avLst/>
          </a:prstGeom>
          <a:noFill/>
          <a:ln/>
        </p:spPr>
        <p:txBody>
          <a:bodyPr wrap="square" lIns="0" tIns="0" rIns="0" bIns="0" rtlCol="0" anchor="t"/>
          <a:lstStyle/>
          <a:p>
            <a:pPr algn="l" indent="0" marL="0">
              <a:buNone/>
            </a:pPr>
            <a:r>
              <a:rPr lang="en-US" sz="3200" b="1" dirty="0">
                <a:solidFill>
                  <a:schemeClr val="bg1"/>
                </a:solidFill>
              </a:rPr>
              <a:t>Transport Layer Optimization for Real-Time Healthcare Telemetry in Congested Wireless Networks</a:t>
            </a:r>
            <a:endParaRPr lang="en-US" sz="3200" dirty="0"/>
          </a:p>
        </p:txBody>
      </p:sp>
      <p:sp>
        <p:nvSpPr>
          <p:cNvPr id="5" name="Text 0"/>
          <p:cNvSpPr/>
          <p:nvPr>
            <p:ph idx="101" type="body" hasCustomPrompt="1"/>
          </p:nvPr>
        </p:nvSpPr>
        <p:spPr>
          <a:xfrm>
            <a:off x="548640" y="2926080"/>
            <a:ext cx="6400800" cy="731520"/>
          </a:xfrm>
          <a:prstGeom prst="rect">
            <a:avLst/>
          </a:prstGeom>
          <a:noFill/>
          <a:ln/>
        </p:spPr>
        <p:txBody>
          <a:bodyPr wrap="square" lIns="0" tIns="0" rIns="0" bIns="0" rtlCol="0" anchor="t"/>
          <a:lstStyle/>
          <a:p>
            <a:pPr indent="0" marL="0">
              <a:buNone/>
            </a:pPr>
            <a:r>
              <a:rPr lang="en-US" sz="1600" dirty="0">
                <a:solidFill>
                  <a:srgbClr val="CFE3E6"/>
                </a:solidFill>
              </a:rPr>
              <a:t>A priority- and deadline-aware transport framework, evaluated by simulation</a:t>
            </a:r>
            <a:endParaRPr lang="en-US" sz="1600" dirty="0"/>
          </a:p>
        </p:txBody>
      </p:sp>
      <p:sp>
        <p:nvSpPr>
          <p:cNvPr id="6" name="Text 4"/>
          <p:cNvSpPr txBox="1"/>
          <p:nvPr/>
        </p:nvSpPr>
        <p:spPr>
          <a:xfrm>
            <a:off x="548640" y="4206240"/>
            <a:ext cx="6858000" cy="320040"/>
          </a:xfrm>
          <a:prstGeom prst="rect">
            <a:avLst/>
          </a:prstGeom>
          <a:noFill/>
          <a:ln/>
        </p:spPr>
        <p:txBody>
          <a:bodyPr wrap="square" lIns="0" tIns="0" rIns="0" bIns="0" rtlCol="0" anchor="ctr"/>
          <a:lstStyle/>
          <a:p>
            <a:pPr indent="0" marL="0">
              <a:buNone/>
            </a:pPr>
            <a:r>
              <a:rPr lang="en-US" sz="1200" dirty="0">
                <a:solidFill>
                  <a:srgbClr val="9DB4BA"/>
                </a:solidFill>
              </a:rPr>
              <a:t>[Presenter name]  |  [Department, institution]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914400"/>
          </a:xfrm>
          <a:prstGeom prst="rect">
            <a:avLst/>
          </a:prstGeom>
          <a:noFill/>
          <a:ln/>
        </p:spPr>
        <p:txBody>
          <a:bodyPr wrap="square" lIns="0" tIns="0" rIns="0" bIns="0" rtlCol="0" anchor="ctr"/>
          <a:lstStyle/>
          <a:p>
            <a:pPr algn="l" indent="0" marL="0">
              <a:buNone/>
            </a:pPr>
            <a:r>
              <a:rPr lang="en-US" sz="3000" b="1" dirty="0">
                <a:solidFill>
                  <a:schemeClr val="tx1"/>
                </a:solidFill>
              </a:rPr>
              <a:t>Clinical telemetry is small, periodic and deadline-bound</a:t>
            </a:r>
            <a:endParaRPr lang="en-US" sz="3000" dirty="0"/>
          </a:p>
        </p:txBody>
      </p:sp>
      <p:sp>
        <p:nvSpPr>
          <p:cNvPr id="3" name="Class card 1"/>
          <p:cNvSpPr/>
          <p:nvPr/>
        </p:nvSpPr>
        <p:spPr>
          <a:xfrm>
            <a:off x="457200" y="1417320"/>
            <a:ext cx="2560320" cy="2148840"/>
          </a:xfrm>
          <a:prstGeom prst="roundRect">
            <a:avLst>
              <a:gd name="adj" fmla="val 3404"/>
            </a:avLst>
          </a:prstGeom>
          <a:solidFill>
            <a:schemeClr val="bg2"/>
          </a:solidFill>
          <a:ln/>
        </p:spPr>
      </p:sp>
      <p:sp>
        <p:nvSpPr>
          <p:cNvPr id="4" name="Text 2"/>
          <p:cNvSpPr txBox="1"/>
          <p:nvPr/>
        </p:nvSpPr>
        <p:spPr>
          <a:xfrm>
            <a:off x="640080" y="1554480"/>
            <a:ext cx="2194560" cy="822960"/>
          </a:xfrm>
          <a:prstGeom prst="rect">
            <a:avLst/>
          </a:prstGeom>
          <a:noFill/>
          <a:ln/>
        </p:spPr>
        <p:txBody>
          <a:bodyPr wrap="square" lIns="0" tIns="0" rIns="0" bIns="0" rtlCol="0" anchor="ctr"/>
          <a:lstStyle/>
          <a:p>
            <a:pPr indent="0" marL="0">
              <a:buNone/>
            </a:pPr>
            <a:r>
              <a:rPr lang="en-US" sz="4400" b="1" dirty="0">
                <a:solidFill>
                  <a:schemeClr val="accent2"/>
                </a:solidFill>
              </a:rPr>
              <a:t>150 ms</a:t>
            </a:r>
            <a:endParaRPr lang="en-US" sz="4400" dirty="0"/>
          </a:p>
        </p:txBody>
      </p:sp>
      <p:sp>
        <p:nvSpPr>
          <p:cNvPr id="5" name="Text 3"/>
          <p:cNvSpPr txBox="1"/>
          <p:nvPr/>
        </p:nvSpPr>
        <p:spPr>
          <a:xfrm>
            <a:off x="640080" y="2423160"/>
            <a:ext cx="2194560" cy="365760"/>
          </a:xfrm>
          <a:prstGeom prst="rect">
            <a:avLst/>
          </a:prstGeom>
          <a:noFill/>
          <a:ln/>
        </p:spPr>
        <p:txBody>
          <a:bodyPr wrap="square" lIns="0" tIns="0" rIns="0" bIns="0" rtlCol="0" anchor="ctr"/>
          <a:lstStyle/>
          <a:p>
            <a:pPr indent="0" marL="0">
              <a:buNone/>
            </a:pPr>
            <a:r>
              <a:rPr lang="en-US" sz="1800" b="1" dirty="0">
                <a:solidFill>
                  <a:schemeClr val="tx1"/>
                </a:solidFill>
              </a:rPr>
              <a:t>Alarm / event</a:t>
            </a:r>
            <a:endParaRPr lang="en-US" sz="1800" dirty="0"/>
          </a:p>
        </p:txBody>
      </p:sp>
      <p:sp>
        <p:nvSpPr>
          <p:cNvPr id="6" name="Text 4"/>
          <p:cNvSpPr txBox="1"/>
          <p:nvPr/>
        </p:nvSpPr>
        <p:spPr>
          <a:xfrm>
            <a:off x="640080" y="2834640"/>
            <a:ext cx="2194560" cy="548640"/>
          </a:xfrm>
          <a:prstGeom prst="rect">
            <a:avLst/>
          </a:prstGeom>
          <a:noFill/>
          <a:ln/>
        </p:spPr>
        <p:txBody>
          <a:bodyPr wrap="square" lIns="0" tIns="0" rIns="0" bIns="0" rtlCol="0" anchor="t"/>
          <a:lstStyle/>
          <a:p>
            <a:pPr indent="0" marL="0">
              <a:buNone/>
            </a:pPr>
            <a:r>
              <a:rPr lang="en-US" sz="1400" dirty="0">
                <a:solidFill>
                  <a:srgbClr val="3B4A53"/>
                </a:solidFill>
              </a:rPr>
              <a:t>60 B payload, Poisson arrivals</a:t>
            </a:r>
            <a:endParaRPr lang="en-US" sz="1400" dirty="0"/>
          </a:p>
        </p:txBody>
      </p:sp>
      <p:sp>
        <p:nvSpPr>
          <p:cNvPr id="7" name="Class card 2"/>
          <p:cNvSpPr/>
          <p:nvPr/>
        </p:nvSpPr>
        <p:spPr>
          <a:xfrm>
            <a:off x="3291840" y="1417320"/>
            <a:ext cx="2560320" cy="2148840"/>
          </a:xfrm>
          <a:prstGeom prst="roundRect">
            <a:avLst>
              <a:gd name="adj" fmla="val 3404"/>
            </a:avLst>
          </a:prstGeom>
          <a:solidFill>
            <a:schemeClr val="bg2"/>
          </a:solidFill>
          <a:ln/>
        </p:spPr>
      </p:sp>
      <p:sp>
        <p:nvSpPr>
          <p:cNvPr id="8" name="Text 6"/>
          <p:cNvSpPr txBox="1"/>
          <p:nvPr/>
        </p:nvSpPr>
        <p:spPr>
          <a:xfrm>
            <a:off x="3474720" y="1554480"/>
            <a:ext cx="2194560" cy="822960"/>
          </a:xfrm>
          <a:prstGeom prst="rect">
            <a:avLst/>
          </a:prstGeom>
          <a:noFill/>
          <a:ln/>
        </p:spPr>
        <p:txBody>
          <a:bodyPr wrap="square" lIns="0" tIns="0" rIns="0" bIns="0" rtlCol="0" anchor="ctr"/>
          <a:lstStyle/>
          <a:p>
            <a:pPr indent="0" marL="0">
              <a:buNone/>
            </a:pPr>
            <a:r>
              <a:rPr lang="en-US" sz="4400" b="1" dirty="0">
                <a:solidFill>
                  <a:schemeClr val="accent1"/>
                </a:solidFill>
              </a:rPr>
              <a:t>300 ms</a:t>
            </a:r>
            <a:endParaRPr lang="en-US" sz="4400" dirty="0"/>
          </a:p>
        </p:txBody>
      </p:sp>
      <p:sp>
        <p:nvSpPr>
          <p:cNvPr id="9" name="Text 7"/>
          <p:cNvSpPr txBox="1"/>
          <p:nvPr/>
        </p:nvSpPr>
        <p:spPr>
          <a:xfrm>
            <a:off x="3474720" y="2423160"/>
            <a:ext cx="2194560" cy="365760"/>
          </a:xfrm>
          <a:prstGeom prst="rect">
            <a:avLst/>
          </a:prstGeom>
          <a:noFill/>
          <a:ln/>
        </p:spPr>
        <p:txBody>
          <a:bodyPr wrap="square" lIns="0" tIns="0" rIns="0" bIns="0" rtlCol="0" anchor="ctr"/>
          <a:lstStyle/>
          <a:p>
            <a:pPr indent="0" marL="0">
              <a:buNone/>
            </a:pPr>
            <a:r>
              <a:rPr lang="en-US" sz="1800" b="1" dirty="0">
                <a:solidFill>
                  <a:schemeClr val="tx1"/>
                </a:solidFill>
              </a:rPr>
              <a:t>ECG waveform</a:t>
            </a:r>
            <a:endParaRPr lang="en-US" sz="1800" dirty="0"/>
          </a:p>
        </p:txBody>
      </p:sp>
      <p:sp>
        <p:nvSpPr>
          <p:cNvPr id="10" name="Text 8"/>
          <p:cNvSpPr txBox="1"/>
          <p:nvPr/>
        </p:nvSpPr>
        <p:spPr>
          <a:xfrm>
            <a:off x="3474720" y="2834640"/>
            <a:ext cx="2194560" cy="548640"/>
          </a:xfrm>
          <a:prstGeom prst="rect">
            <a:avLst/>
          </a:prstGeom>
          <a:noFill/>
          <a:ln/>
        </p:spPr>
        <p:txBody>
          <a:bodyPr wrap="square" lIns="0" tIns="0" rIns="0" bIns="0" rtlCol="0" anchor="t"/>
          <a:lstStyle/>
          <a:p>
            <a:pPr indent="0" marL="0">
              <a:buNone/>
            </a:pPr>
            <a:r>
              <a:rPr lang="en-US" sz="1400" dirty="0">
                <a:solidFill>
                  <a:srgbClr val="3B4A53"/>
                </a:solidFill>
              </a:rPr>
              <a:t>200 B every 40 ms per patient</a:t>
            </a:r>
            <a:endParaRPr lang="en-US" sz="1400" dirty="0"/>
          </a:p>
        </p:txBody>
      </p:sp>
      <p:sp>
        <p:nvSpPr>
          <p:cNvPr id="11" name="Class card 3"/>
          <p:cNvSpPr/>
          <p:nvPr/>
        </p:nvSpPr>
        <p:spPr>
          <a:xfrm>
            <a:off x="6126480" y="1417320"/>
            <a:ext cx="2560320" cy="2148840"/>
          </a:xfrm>
          <a:prstGeom prst="roundRect">
            <a:avLst>
              <a:gd name="adj" fmla="val 3404"/>
            </a:avLst>
          </a:prstGeom>
          <a:solidFill>
            <a:schemeClr val="bg2"/>
          </a:solidFill>
          <a:ln/>
        </p:spPr>
      </p:sp>
      <p:sp>
        <p:nvSpPr>
          <p:cNvPr id="12" name="Text 10"/>
          <p:cNvSpPr txBox="1"/>
          <p:nvPr/>
        </p:nvSpPr>
        <p:spPr>
          <a:xfrm>
            <a:off x="6309360" y="1554480"/>
            <a:ext cx="2194560" cy="822960"/>
          </a:xfrm>
          <a:prstGeom prst="rect">
            <a:avLst/>
          </a:prstGeom>
          <a:noFill/>
          <a:ln/>
        </p:spPr>
        <p:txBody>
          <a:bodyPr wrap="square" lIns="0" tIns="0" rIns="0" bIns="0" rtlCol="0" anchor="ctr"/>
          <a:lstStyle/>
          <a:p>
            <a:pPr indent="0" marL="0">
              <a:buNone/>
            </a:pPr>
            <a:r>
              <a:rPr lang="en-US" sz="4400" b="1" dirty="0">
                <a:solidFill>
                  <a:schemeClr val="accent1"/>
                </a:solidFill>
              </a:rPr>
              <a:t>1 s</a:t>
            </a:r>
            <a:endParaRPr lang="en-US" sz="4400" dirty="0"/>
          </a:p>
        </p:txBody>
      </p:sp>
      <p:sp>
        <p:nvSpPr>
          <p:cNvPr id="13" name="Text 11"/>
          <p:cNvSpPr txBox="1"/>
          <p:nvPr/>
        </p:nvSpPr>
        <p:spPr>
          <a:xfrm>
            <a:off x="6309360" y="2423160"/>
            <a:ext cx="2194560" cy="365760"/>
          </a:xfrm>
          <a:prstGeom prst="rect">
            <a:avLst/>
          </a:prstGeom>
          <a:noFill/>
          <a:ln/>
        </p:spPr>
        <p:txBody>
          <a:bodyPr wrap="square" lIns="0" tIns="0" rIns="0" bIns="0" rtlCol="0" anchor="ctr"/>
          <a:lstStyle/>
          <a:p>
            <a:pPr indent="0" marL="0">
              <a:buNone/>
            </a:pPr>
            <a:r>
              <a:rPr lang="en-US" sz="1800" b="1" dirty="0">
                <a:solidFill>
                  <a:schemeClr val="tx1"/>
                </a:solidFill>
              </a:rPr>
              <a:t>Vital signs</a:t>
            </a:r>
            <a:endParaRPr lang="en-US" sz="1800" dirty="0"/>
          </a:p>
        </p:txBody>
      </p:sp>
      <p:sp>
        <p:nvSpPr>
          <p:cNvPr id="14" name="Text 12"/>
          <p:cNvSpPr txBox="1"/>
          <p:nvPr/>
        </p:nvSpPr>
        <p:spPr>
          <a:xfrm>
            <a:off x="6309360" y="2834640"/>
            <a:ext cx="2194560" cy="548640"/>
          </a:xfrm>
          <a:prstGeom prst="rect">
            <a:avLst/>
          </a:prstGeom>
          <a:noFill/>
          <a:ln/>
        </p:spPr>
        <p:txBody>
          <a:bodyPr wrap="square" lIns="0" tIns="0" rIns="0" bIns="0" rtlCol="0" anchor="t"/>
          <a:lstStyle/>
          <a:p>
            <a:pPr indent="0" marL="0">
              <a:buNone/>
            </a:pPr>
            <a:r>
              <a:rPr lang="en-US" sz="1400" dirty="0">
                <a:solidFill>
                  <a:srgbClr val="3B4A53"/>
                </a:solidFill>
              </a:rPr>
              <a:t>80 B every second per patient</a:t>
            </a:r>
            <a:endParaRPr lang="en-US" sz="1400" dirty="0"/>
          </a:p>
        </p:txBody>
      </p:sp>
      <p:sp>
        <p:nvSpPr>
          <p:cNvPr id="15" name="Text 13"/>
          <p:cNvSpPr txBox="1"/>
          <p:nvPr/>
        </p:nvSpPr>
        <p:spPr>
          <a:xfrm>
            <a:off x="457200" y="3840480"/>
            <a:ext cx="8229600" cy="731520"/>
          </a:xfrm>
          <a:prstGeom prst="rect">
            <a:avLst/>
          </a:prstGeom>
          <a:noFill/>
          <a:ln/>
        </p:spPr>
        <p:txBody>
          <a:bodyPr wrap="square" lIns="0" tIns="0" rIns="0" bIns="0" rtlCol="0" anchor="t"/>
          <a:lstStyle/>
          <a:p>
            <a:pPr indent="0" marL="0">
              <a:buNone/>
            </a:pPr>
            <a:r>
              <a:rPr lang="en-US" sz="1600" dirty="0">
                <a:solidFill>
                  <a:schemeClr val="tx1"/>
                </a:solidFill>
              </a:rPr>
              <a:t>A message that arrives after its deadline has little clinical value, even if it is eventually delivered correctly. Deadlines are design assumptions of this study, not clinical standards.</a:t>
            </a:r>
            <a:endParaRPr lang="en-US" sz="16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914400"/>
          </a:xfrm>
          <a:prstGeom prst="rect">
            <a:avLst/>
          </a:prstGeom>
          <a:noFill/>
          <a:ln/>
        </p:spPr>
        <p:txBody>
          <a:bodyPr wrap="square" lIns="0" tIns="0" rIns="0" bIns="0" rtlCol="0" anchor="ctr"/>
          <a:lstStyle/>
          <a:p>
            <a:pPr algn="l" indent="0" marL="0">
              <a:buNone/>
            </a:pPr>
            <a:r>
              <a:rPr lang="en-US" sz="3000" b="1" dirty="0">
                <a:solidFill>
                  <a:schemeClr val="tx1"/>
                </a:solidFill>
              </a:rPr>
              <a:t>Default transports and shared queues miss those deadlines</a:t>
            </a:r>
            <a:endParaRPr lang="en-US" sz="3000" dirty="0"/>
          </a:p>
        </p:txBody>
      </p:sp>
      <p:sp>
        <p:nvSpPr>
          <p:cNvPr id="3" name="Number circle"/>
          <p:cNvSpPr/>
          <p:nvPr/>
        </p:nvSpPr>
        <p:spPr>
          <a:xfrm>
            <a:off x="457200" y="1417320"/>
            <a:ext cx="411480" cy="411480"/>
          </a:xfrm>
          <a:prstGeom prst="ellipse">
            <a:avLst/>
          </a:prstGeom>
          <a:solidFill>
            <a:schemeClr val="accent1"/>
          </a:solidFill>
          <a:ln/>
        </p:spPr>
      </p:sp>
      <p:sp>
        <p:nvSpPr>
          <p:cNvPr id="4" name="Text 2"/>
          <p:cNvSpPr txBox="1"/>
          <p:nvPr/>
        </p:nvSpPr>
        <p:spPr>
          <a:xfrm>
            <a:off x="457200" y="14173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005840" y="1417320"/>
            <a:ext cx="1920240" cy="411480"/>
          </a:xfrm>
          <a:prstGeom prst="rect">
            <a:avLst/>
          </a:prstGeom>
          <a:noFill/>
          <a:ln/>
        </p:spPr>
        <p:txBody>
          <a:bodyPr wrap="square" lIns="0" tIns="0" rIns="0" bIns="0" rtlCol="0" anchor="ctr"/>
          <a:lstStyle/>
          <a:p>
            <a:pPr indent="0" marL="0">
              <a:buNone/>
            </a:pPr>
            <a:r>
              <a:rPr lang="en-US" sz="1800" b="1" dirty="0">
                <a:solidFill>
                  <a:schemeClr val="tx1"/>
                </a:solidFill>
              </a:rPr>
              <a:t>TCP</a:t>
            </a:r>
            <a:endParaRPr lang="en-US" sz="1800" dirty="0"/>
          </a:p>
        </p:txBody>
      </p:sp>
      <p:sp>
        <p:nvSpPr>
          <p:cNvPr id="6" name="Text 4"/>
          <p:cNvSpPr txBox="1"/>
          <p:nvPr/>
        </p:nvSpPr>
        <p:spPr>
          <a:xfrm>
            <a:off x="457200" y="2011680"/>
            <a:ext cx="256032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B4A53"/>
                </a:solidFill>
              </a:rPr>
              <a:t>Head-of-line blocking: one loss delays every later message</a:t>
            </a:r>
            <a:endParaRPr lang="en-US" sz="1400" dirty="0"/>
          </a:p>
          <a:p>
            <a:pPr marL="342900" indent="-342900">
              <a:spcAft>
                <a:spcPts val="800"/>
              </a:spcAft>
              <a:buSzPct val="100000"/>
              <a:buChar char="•"/>
            </a:pPr>
            <a:r>
              <a:rPr lang="en-US" sz="1400" dirty="0">
                <a:solidFill>
                  <a:srgbClr val="3B4A53"/>
                </a:solidFill>
              </a:rPr>
              <a:t>200 ms minimum retransmission timer</a:t>
            </a:r>
            <a:endParaRPr lang="en-US" sz="1400" dirty="0"/>
          </a:p>
          <a:p>
            <a:pPr marL="342900" indent="-342900">
              <a:spcAft>
                <a:spcPts val="800"/>
              </a:spcAft>
              <a:buSzPct val="100000"/>
              <a:buChar char="•"/>
            </a:pPr>
            <a:r>
              <a:rPr lang="en-US" sz="1400" dirty="0">
                <a:solidFill>
                  <a:srgbClr val="3B4A53"/>
                </a:solidFill>
              </a:rPr>
              <a:t>Loss-based congestion control keeps buffers full</a:t>
            </a:r>
            <a:endParaRPr lang="en-US" sz="1400" dirty="0"/>
          </a:p>
        </p:txBody>
      </p:sp>
      <p:sp>
        <p:nvSpPr>
          <p:cNvPr id="7" name="Number circle"/>
          <p:cNvSpPr/>
          <p:nvPr/>
        </p:nvSpPr>
        <p:spPr>
          <a:xfrm>
            <a:off x="3291840" y="1417320"/>
            <a:ext cx="411480" cy="411480"/>
          </a:xfrm>
          <a:prstGeom prst="ellipse">
            <a:avLst/>
          </a:prstGeom>
          <a:solidFill>
            <a:schemeClr val="accent1"/>
          </a:solidFill>
          <a:ln/>
        </p:spPr>
      </p:sp>
      <p:sp>
        <p:nvSpPr>
          <p:cNvPr id="8" name="Text 6"/>
          <p:cNvSpPr txBox="1"/>
          <p:nvPr/>
        </p:nvSpPr>
        <p:spPr>
          <a:xfrm>
            <a:off x="3291840" y="14173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3840480" y="1417320"/>
            <a:ext cx="1920240" cy="411480"/>
          </a:xfrm>
          <a:prstGeom prst="rect">
            <a:avLst/>
          </a:prstGeom>
          <a:noFill/>
          <a:ln/>
        </p:spPr>
        <p:txBody>
          <a:bodyPr wrap="square" lIns="0" tIns="0" rIns="0" bIns="0" rtlCol="0" anchor="ctr"/>
          <a:lstStyle/>
          <a:p>
            <a:pPr indent="0" marL="0">
              <a:buNone/>
            </a:pPr>
            <a:r>
              <a:rPr lang="en-US" sz="1800" b="1" dirty="0">
                <a:solidFill>
                  <a:schemeClr val="tx1"/>
                </a:solidFill>
              </a:rPr>
              <a:t>UDP</a:t>
            </a:r>
            <a:endParaRPr lang="en-US" sz="1800" dirty="0"/>
          </a:p>
        </p:txBody>
      </p:sp>
      <p:sp>
        <p:nvSpPr>
          <p:cNvPr id="10" name="Text 8"/>
          <p:cNvSpPr txBox="1"/>
          <p:nvPr/>
        </p:nvSpPr>
        <p:spPr>
          <a:xfrm>
            <a:off x="3291840" y="2011680"/>
            <a:ext cx="256032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B4A53"/>
                </a:solidFill>
              </a:rPr>
              <a:t>No recovery at all</a:t>
            </a:r>
            <a:endParaRPr lang="en-US" sz="1400" dirty="0"/>
          </a:p>
          <a:p>
            <a:pPr marL="342900" indent="-342900">
              <a:spcAft>
                <a:spcPts val="800"/>
              </a:spcAft>
              <a:buSzPct val="100000"/>
              <a:buChar char="•"/>
            </a:pPr>
            <a:r>
              <a:rPr lang="en-US" sz="1400" dirty="0">
                <a:solidFill>
                  <a:srgbClr val="3B4A53"/>
                </a:solidFill>
              </a:rPr>
              <a:t>Every wireless loss is a missing sample or a missed alarm</a:t>
            </a:r>
            <a:endParaRPr lang="en-US" sz="1400" dirty="0"/>
          </a:p>
          <a:p>
            <a:pPr marL="342900" indent="-342900">
              <a:spcAft>
                <a:spcPts val="800"/>
              </a:spcAft>
              <a:buSzPct val="100000"/>
              <a:buChar char="•"/>
            </a:pPr>
            <a:r>
              <a:rPr lang="en-US" sz="1400" dirty="0">
                <a:solidFill>
                  <a:srgbClr val="3B4A53"/>
                </a:solidFill>
              </a:rPr>
              <a:t>No protection from queueing delay</a:t>
            </a:r>
            <a:endParaRPr lang="en-US" sz="1400" dirty="0"/>
          </a:p>
        </p:txBody>
      </p:sp>
      <p:sp>
        <p:nvSpPr>
          <p:cNvPr id="11" name="Number circle"/>
          <p:cNvSpPr/>
          <p:nvPr/>
        </p:nvSpPr>
        <p:spPr>
          <a:xfrm>
            <a:off x="6126480" y="1417320"/>
            <a:ext cx="411480" cy="411480"/>
          </a:xfrm>
          <a:prstGeom prst="ellipse">
            <a:avLst/>
          </a:prstGeom>
          <a:solidFill>
            <a:schemeClr val="accent1"/>
          </a:solidFill>
          <a:ln/>
        </p:spPr>
      </p:sp>
      <p:sp>
        <p:nvSpPr>
          <p:cNvPr id="12" name="Text 10"/>
          <p:cNvSpPr txBox="1"/>
          <p:nvPr/>
        </p:nvSpPr>
        <p:spPr>
          <a:xfrm>
            <a:off x="6126480" y="14173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6675120" y="1417320"/>
            <a:ext cx="1920240" cy="411480"/>
          </a:xfrm>
          <a:prstGeom prst="rect">
            <a:avLst/>
          </a:prstGeom>
          <a:noFill/>
          <a:ln/>
        </p:spPr>
        <p:txBody>
          <a:bodyPr wrap="square" lIns="0" tIns="0" rIns="0" bIns="0" rtlCol="0" anchor="ctr"/>
          <a:lstStyle/>
          <a:p>
            <a:pPr indent="0" marL="0">
              <a:buNone/>
            </a:pPr>
            <a:r>
              <a:rPr lang="en-US" sz="1800" b="1" dirty="0">
                <a:solidFill>
                  <a:schemeClr val="tx1"/>
                </a:solidFill>
              </a:rPr>
              <a:t>Shared access point</a:t>
            </a:r>
            <a:endParaRPr lang="en-US" sz="1800" dirty="0"/>
          </a:p>
        </p:txBody>
      </p:sp>
      <p:sp>
        <p:nvSpPr>
          <p:cNvPr id="14" name="Text 12"/>
          <p:cNvSpPr txBox="1"/>
          <p:nvPr/>
        </p:nvSpPr>
        <p:spPr>
          <a:xfrm>
            <a:off x="6126480" y="2011680"/>
            <a:ext cx="256032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B4A53"/>
                </a:solidFill>
              </a:rPr>
              <a:t>Bulk flows fill a deep buffer</a:t>
            </a:r>
            <a:endParaRPr lang="en-US" sz="1400" dirty="0"/>
          </a:p>
          <a:p>
            <a:pPr marL="342900" indent="-342900">
              <a:spcAft>
                <a:spcPts val="800"/>
              </a:spcAft>
              <a:buSzPct val="100000"/>
              <a:buChar char="•"/>
            </a:pPr>
            <a:r>
              <a:rPr lang="en-US" sz="1400" dirty="0">
                <a:solidFill>
                  <a:srgbClr val="3B4A53"/>
                </a:solidFill>
              </a:rPr>
              <a:t>A 200 kB buffer takes about 200 ms to drain, longer than the 150 ms alarm deadline</a:t>
            </a:r>
            <a:endParaRPr lang="en-US" sz="14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914400"/>
          </a:xfrm>
          <a:prstGeom prst="rect">
            <a:avLst/>
          </a:prstGeom>
          <a:noFill/>
          <a:ln/>
        </p:spPr>
        <p:txBody>
          <a:bodyPr wrap="square" lIns="0" tIns="0" rIns="0" bIns="0" rtlCol="0" anchor="ctr"/>
          <a:lstStyle/>
          <a:p>
            <a:pPr algn="l" indent="0" marL="0">
              <a:buNone/>
            </a:pPr>
            <a:r>
              <a:rPr lang="en-US" sz="3000" b="1" dirty="0">
                <a:solidFill>
                  <a:schemeClr val="tx1"/>
                </a:solidFill>
              </a:rPr>
              <a:t>What this work contributes</a:t>
            </a:r>
            <a:endParaRPr lang="en-US" sz="3000" dirty="0"/>
          </a:p>
        </p:txBody>
      </p:sp>
      <p:sp>
        <p:nvSpPr>
          <p:cNvPr id="3" name="Number circle"/>
          <p:cNvSpPr/>
          <p:nvPr/>
        </p:nvSpPr>
        <p:spPr>
          <a:xfrm>
            <a:off x="457200" y="1371600"/>
            <a:ext cx="411480" cy="411480"/>
          </a:xfrm>
          <a:prstGeom prst="ellipse">
            <a:avLst/>
          </a:prstGeom>
          <a:solidFill>
            <a:schemeClr val="accent1"/>
          </a:solidFill>
          <a:ln/>
        </p:spPr>
      </p:sp>
      <p:sp>
        <p:nvSpPr>
          <p:cNvPr id="4" name="Text 2"/>
          <p:cNvSpPr txBox="1"/>
          <p:nvPr/>
        </p:nvSpPr>
        <p:spPr>
          <a:xfrm>
            <a:off x="457200" y="13716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051560" y="1325880"/>
            <a:ext cx="2926080" cy="502920"/>
          </a:xfrm>
          <a:prstGeom prst="rect">
            <a:avLst/>
          </a:prstGeom>
          <a:noFill/>
          <a:ln/>
        </p:spPr>
        <p:txBody>
          <a:bodyPr wrap="square" lIns="0" tIns="0" rIns="0" bIns="0" rtlCol="0" anchor="ctr"/>
          <a:lstStyle/>
          <a:p>
            <a:pPr indent="0" marL="0">
              <a:buNone/>
            </a:pPr>
            <a:r>
              <a:rPr lang="en-US" sz="1600" b="1" dirty="0">
                <a:solidFill>
                  <a:schemeClr val="tx1"/>
                </a:solidFill>
              </a:rPr>
              <a:t>Deadline-classified messages</a:t>
            </a:r>
            <a:endParaRPr lang="en-US" sz="1600" dirty="0"/>
          </a:p>
        </p:txBody>
      </p:sp>
      <p:sp>
        <p:nvSpPr>
          <p:cNvPr id="6" name="Text 4"/>
          <p:cNvSpPr txBox="1"/>
          <p:nvPr/>
        </p:nvSpPr>
        <p:spPr>
          <a:xfrm>
            <a:off x="4023360" y="1325880"/>
            <a:ext cx="4663440" cy="502920"/>
          </a:xfrm>
          <a:prstGeom prst="rect">
            <a:avLst/>
          </a:prstGeom>
          <a:noFill/>
          <a:ln/>
        </p:spPr>
        <p:txBody>
          <a:bodyPr wrap="square" lIns="0" tIns="0" rIns="0" bIns="0" rtlCol="0" anchor="ctr"/>
          <a:lstStyle/>
          <a:p>
            <a:pPr indent="0" marL="0">
              <a:buNone/>
            </a:pPr>
            <a:r>
              <a:rPr lang="en-US" sz="1400" dirty="0">
                <a:solidFill>
                  <a:srgbClr val="3B4A53"/>
                </a:solidFill>
              </a:rPr>
              <a:t>Alarm, ECG and vitals streams, each with its own deadline, plus best-effort bulk</a:t>
            </a:r>
            <a:endParaRPr lang="en-US" sz="1400" dirty="0"/>
          </a:p>
        </p:txBody>
      </p:sp>
      <p:sp>
        <p:nvSpPr>
          <p:cNvPr id="7" name="Number circle"/>
          <p:cNvSpPr/>
          <p:nvPr/>
        </p:nvSpPr>
        <p:spPr>
          <a:xfrm>
            <a:off x="457200" y="2011680"/>
            <a:ext cx="411480" cy="411480"/>
          </a:xfrm>
          <a:prstGeom prst="ellipse">
            <a:avLst/>
          </a:prstGeom>
          <a:solidFill>
            <a:schemeClr val="accent1"/>
          </a:solidFill>
          <a:ln/>
        </p:spPr>
      </p:sp>
      <p:sp>
        <p:nvSpPr>
          <p:cNvPr id="8" name="Text 6"/>
          <p:cNvSpPr txBox="1"/>
          <p:nvPr/>
        </p:nvSpPr>
        <p:spPr>
          <a:xfrm>
            <a:off x="457200" y="20116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1051560" y="1965960"/>
            <a:ext cx="2926080" cy="502920"/>
          </a:xfrm>
          <a:prstGeom prst="rect">
            <a:avLst/>
          </a:prstGeom>
          <a:noFill/>
          <a:ln/>
        </p:spPr>
        <p:txBody>
          <a:bodyPr wrap="square" lIns="0" tIns="0" rIns="0" bIns="0" rtlCol="0" anchor="ctr"/>
          <a:lstStyle/>
          <a:p>
            <a:pPr indent="0" marL="0">
              <a:buNone/>
            </a:pPr>
            <a:r>
              <a:rPr lang="en-US" sz="1600" b="1" dirty="0">
                <a:solidFill>
                  <a:schemeClr val="tx1"/>
                </a:solidFill>
              </a:rPr>
              <a:t>Deadline-aware retransmission</a:t>
            </a:r>
            <a:endParaRPr lang="en-US" sz="1600" dirty="0"/>
          </a:p>
        </p:txBody>
      </p:sp>
      <p:sp>
        <p:nvSpPr>
          <p:cNvPr id="10" name="Text 8"/>
          <p:cNvSpPr txBox="1"/>
          <p:nvPr/>
        </p:nvSpPr>
        <p:spPr>
          <a:xfrm>
            <a:off x="4023360" y="1965960"/>
            <a:ext cx="4663440" cy="502920"/>
          </a:xfrm>
          <a:prstGeom prst="rect">
            <a:avLst/>
          </a:prstGeom>
          <a:noFill/>
          <a:ln/>
        </p:spPr>
        <p:txBody>
          <a:bodyPr wrap="square" lIns="0" tIns="0" rIns="0" bIns="0" rtlCol="0" anchor="ctr"/>
          <a:lstStyle/>
          <a:p>
            <a:pPr indent="0" marL="0">
              <a:buNone/>
            </a:pPr>
            <a:r>
              <a:rPr lang="en-US" sz="1400" dirty="0">
                <a:solidFill>
                  <a:srgbClr val="3B4A53"/>
                </a:solidFill>
              </a:rPr>
              <a:t>Short measured timer; retransmit only if the repair can still arrive in time</a:t>
            </a:r>
            <a:endParaRPr lang="en-US" sz="1400" dirty="0"/>
          </a:p>
        </p:txBody>
      </p:sp>
      <p:sp>
        <p:nvSpPr>
          <p:cNvPr id="11" name="Number circle"/>
          <p:cNvSpPr/>
          <p:nvPr/>
        </p:nvSpPr>
        <p:spPr>
          <a:xfrm>
            <a:off x="457200" y="2651760"/>
            <a:ext cx="411480" cy="411480"/>
          </a:xfrm>
          <a:prstGeom prst="ellipse">
            <a:avLst/>
          </a:prstGeom>
          <a:solidFill>
            <a:schemeClr val="accent1"/>
          </a:solidFill>
          <a:ln/>
        </p:spPr>
      </p:sp>
      <p:sp>
        <p:nvSpPr>
          <p:cNvPr id="12" name="Text 10"/>
          <p:cNvSpPr txBox="1"/>
          <p:nvPr/>
        </p:nvSpPr>
        <p:spPr>
          <a:xfrm>
            <a:off x="457200" y="26517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1051560" y="2606040"/>
            <a:ext cx="2926080" cy="502920"/>
          </a:xfrm>
          <a:prstGeom prst="rect">
            <a:avLst/>
          </a:prstGeom>
          <a:noFill/>
          <a:ln/>
        </p:spPr>
        <p:txBody>
          <a:bodyPr wrap="square" lIns="0" tIns="0" rIns="0" bIns="0" rtlCol="0" anchor="ctr"/>
          <a:lstStyle/>
          <a:p>
            <a:pPr indent="0" marL="0">
              <a:buNone/>
            </a:pPr>
            <a:r>
              <a:rPr lang="en-US" sz="1600" b="1" dirty="0">
                <a:solidFill>
                  <a:schemeClr val="tx1"/>
                </a:solidFill>
              </a:rPr>
              <a:t>Gated redundancy</a:t>
            </a:r>
            <a:endParaRPr lang="en-US" sz="1600" dirty="0"/>
          </a:p>
        </p:txBody>
      </p:sp>
      <p:sp>
        <p:nvSpPr>
          <p:cNvPr id="14" name="Text 12"/>
          <p:cNvSpPr txBox="1"/>
          <p:nvPr/>
        </p:nvSpPr>
        <p:spPr>
          <a:xfrm>
            <a:off x="4023360" y="2606040"/>
            <a:ext cx="4663440" cy="502920"/>
          </a:xfrm>
          <a:prstGeom prst="rect">
            <a:avLst/>
          </a:prstGeom>
          <a:noFill/>
          <a:ln/>
        </p:spPr>
        <p:txBody>
          <a:bodyPr wrap="square" lIns="0" tIns="0" rIns="0" bIns="0" rtlCol="0" anchor="ctr"/>
          <a:lstStyle/>
          <a:p>
            <a:pPr indent="0" marL="0">
              <a:buNone/>
            </a:pPr>
            <a:r>
              <a:rPr lang="en-US" sz="1400" dirty="0">
                <a:solidFill>
                  <a:srgbClr val="3B4A53"/>
                </a:solidFill>
              </a:rPr>
              <a:t>Loss-adaptive FEC and alarm copies, switched off when delay shows queueing, not loss</a:t>
            </a:r>
            <a:endParaRPr lang="en-US" sz="1400" dirty="0"/>
          </a:p>
        </p:txBody>
      </p:sp>
      <p:sp>
        <p:nvSpPr>
          <p:cNvPr id="15" name="Number circle"/>
          <p:cNvSpPr/>
          <p:nvPr/>
        </p:nvSpPr>
        <p:spPr>
          <a:xfrm>
            <a:off x="457200" y="3291840"/>
            <a:ext cx="411480" cy="411480"/>
          </a:xfrm>
          <a:prstGeom prst="ellipse">
            <a:avLst/>
          </a:prstGeom>
          <a:solidFill>
            <a:schemeClr val="accent1"/>
          </a:solidFill>
          <a:ln/>
        </p:spPr>
      </p:sp>
      <p:sp>
        <p:nvSpPr>
          <p:cNvPr id="16" name="Text 14"/>
          <p:cNvSpPr txBox="1"/>
          <p:nvPr/>
        </p:nvSpPr>
        <p:spPr>
          <a:xfrm>
            <a:off x="457200" y="32918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Text 15"/>
          <p:cNvSpPr txBox="1"/>
          <p:nvPr/>
        </p:nvSpPr>
        <p:spPr>
          <a:xfrm>
            <a:off x="1051560" y="3246120"/>
            <a:ext cx="2926080" cy="502920"/>
          </a:xfrm>
          <a:prstGeom prst="rect">
            <a:avLst/>
          </a:prstGeom>
          <a:noFill/>
          <a:ln/>
        </p:spPr>
        <p:txBody>
          <a:bodyPr wrap="square" lIns="0" tIns="0" rIns="0" bIns="0" rtlCol="0" anchor="ctr"/>
          <a:lstStyle/>
          <a:p>
            <a:pPr indent="0" marL="0">
              <a:buNone/>
            </a:pPr>
            <a:r>
              <a:rPr lang="en-US" sz="1600" b="1" dirty="0">
                <a:solidFill>
                  <a:schemeClr val="tx1"/>
                </a:solidFill>
              </a:rPr>
              <a:t>Priority queue with deadline drop</a:t>
            </a:r>
            <a:endParaRPr lang="en-US" sz="1600" dirty="0"/>
          </a:p>
        </p:txBody>
      </p:sp>
      <p:sp>
        <p:nvSpPr>
          <p:cNvPr id="18" name="Text 16"/>
          <p:cNvSpPr txBox="1"/>
          <p:nvPr/>
        </p:nvSpPr>
        <p:spPr>
          <a:xfrm>
            <a:off x="4023360" y="3246120"/>
            <a:ext cx="4663440" cy="502920"/>
          </a:xfrm>
          <a:prstGeom prst="rect">
            <a:avLst/>
          </a:prstGeom>
          <a:noFill/>
          <a:ln/>
        </p:spPr>
        <p:txBody>
          <a:bodyPr wrap="square" lIns="0" tIns="0" rIns="0" bIns="0" rtlCol="0" anchor="ctr"/>
          <a:lstStyle/>
          <a:p>
            <a:pPr indent="0" marL="0">
              <a:buNone/>
            </a:pPr>
            <a:r>
              <a:rPr lang="en-US" sz="1400" dirty="0">
                <a:solidFill>
                  <a:srgbClr val="3B4A53"/>
                </a:solidFill>
              </a:rPr>
              <a:t>Telemetry bypasses bulk traffic; expired packets are dropped, not sent</a:t>
            </a:r>
            <a:endParaRPr lang="en-US" sz="1400" dirty="0"/>
          </a:p>
        </p:txBody>
      </p:sp>
      <p:sp>
        <p:nvSpPr>
          <p:cNvPr id="19" name="Number circle"/>
          <p:cNvSpPr/>
          <p:nvPr/>
        </p:nvSpPr>
        <p:spPr>
          <a:xfrm>
            <a:off x="457200" y="3931920"/>
            <a:ext cx="411480" cy="411480"/>
          </a:xfrm>
          <a:prstGeom prst="ellipse">
            <a:avLst/>
          </a:prstGeom>
          <a:solidFill>
            <a:schemeClr val="accent1"/>
          </a:solidFill>
          <a:ln/>
        </p:spPr>
      </p:sp>
      <p:sp>
        <p:nvSpPr>
          <p:cNvPr id="20" name="Text 18"/>
          <p:cNvSpPr txBox="1"/>
          <p:nvPr/>
        </p:nvSpPr>
        <p:spPr>
          <a:xfrm>
            <a:off x="457200" y="39319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1" name="Text 19"/>
          <p:cNvSpPr txBox="1"/>
          <p:nvPr/>
        </p:nvSpPr>
        <p:spPr>
          <a:xfrm>
            <a:off x="1051560" y="3886200"/>
            <a:ext cx="2926080" cy="502920"/>
          </a:xfrm>
          <a:prstGeom prst="rect">
            <a:avLst/>
          </a:prstGeom>
          <a:noFill/>
          <a:ln/>
        </p:spPr>
        <p:txBody>
          <a:bodyPr wrap="square" lIns="0" tIns="0" rIns="0" bIns="0" rtlCol="0" anchor="ctr"/>
          <a:lstStyle/>
          <a:p>
            <a:pPr indent="0" marL="0">
              <a:buNone/>
            </a:pPr>
            <a:r>
              <a:rPr lang="en-US" sz="1600" b="1" dirty="0">
                <a:solidFill>
                  <a:schemeClr val="tx1"/>
                </a:solidFill>
              </a:rPr>
              <a:t>Reproducible, validated model</a:t>
            </a:r>
            <a:endParaRPr lang="en-US" sz="1600" dirty="0"/>
          </a:p>
        </p:txBody>
      </p:sp>
      <p:sp>
        <p:nvSpPr>
          <p:cNvPr id="22" name="Text 20"/>
          <p:cNvSpPr txBox="1"/>
          <p:nvPr/>
        </p:nvSpPr>
        <p:spPr>
          <a:xfrm>
            <a:off x="4023360" y="3886200"/>
            <a:ext cx="4663440" cy="502920"/>
          </a:xfrm>
          <a:prstGeom prst="rect">
            <a:avLst/>
          </a:prstGeom>
          <a:noFill/>
          <a:ln/>
        </p:spPr>
        <p:txBody>
          <a:bodyPr wrap="square" lIns="0" tIns="0" rIns="0" bIns="0" rtlCol="0" anchor="ctr"/>
          <a:lstStyle/>
          <a:p>
            <a:pPr indent="0" marL="0">
              <a:buNone/>
            </a:pPr>
            <a:r>
              <a:rPr lang="en-US" sz="1400" dirty="0">
                <a:solidFill>
                  <a:srgbClr val="3B4A53"/>
                </a:solidFill>
              </a:rPr>
              <a:t>Python replica checked against ns-3; demo app; 1,168 runs over congestion, patients, loss, buffer, delay</a:t>
            </a:r>
            <a:endParaRPr lang="en-US" sz="14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914400"/>
          </a:xfrm>
          <a:prstGeom prst="rect">
            <a:avLst/>
          </a:prstGeom>
          <a:noFill/>
          <a:ln/>
        </p:spPr>
        <p:txBody>
          <a:bodyPr wrap="square" lIns="0" tIns="0" rIns="0" bIns="0" rtlCol="0" anchor="ctr"/>
          <a:lstStyle/>
          <a:p>
            <a:pPr algn="l" indent="0" marL="0">
              <a:buNone/>
            </a:pPr>
            <a:r>
              <a:rPr lang="en-US" sz="3000" b="1" dirty="0">
                <a:solidFill>
                  <a:schemeClr val="tx1"/>
                </a:solidFill>
              </a:rPr>
              <a:t>System model: four traffic classes, one shared bottleneck</a:t>
            </a:r>
            <a:endParaRPr lang="en-US" sz="3000" dirty="0"/>
          </a:p>
        </p:txBody>
      </p:sp>
      <p:graphicFrame>
        <p:nvGraphicFramePr>
          <p:cNvPr id="6" name="Traffic class table"/>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731520"/>
                <a:gridCol w="2011680"/>
                <a:gridCol w="1005840"/>
                <a:gridCol w="1920240"/>
                <a:gridCol w="1280160"/>
                <a:gridCol w="1280160"/>
              </a:tblGrid>
              <a:tr h="329184">
                <a:tc>
                  <a:txBody>
                    <a:bodyPr/>
                    <a:lstStyle/>
                    <a:p>
                      <a:pPr indent="0" marL="0">
                        <a:buNone/>
                      </a:pPr>
                      <a:r>
                        <a:rPr lang="en-US" sz="1200" b="1" dirty="0">
                          <a:solidFill>
                            <a:srgbClr val="FFFFFF"/>
                          </a:solidFill>
                        </a:rPr>
                        <a:t>Class</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0E7C86"/>
                    </a:solidFill>
                  </a:tcPr>
                </a:tc>
                <a:tc>
                  <a:txBody>
                    <a:bodyPr/>
                    <a:lstStyle/>
                    <a:p>
                      <a:pPr indent="0" marL="0">
                        <a:buNone/>
                      </a:pPr>
                      <a:r>
                        <a:rPr lang="en-US" sz="1200" b="1" dirty="0">
                          <a:solidFill>
                            <a:srgbClr val="FFFFFF"/>
                          </a:solidFill>
                        </a:rPr>
                        <a:t>Stream</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0E7C86"/>
                    </a:solidFill>
                  </a:tcPr>
                </a:tc>
                <a:tc>
                  <a:txBody>
                    <a:bodyPr/>
                    <a:lstStyle/>
                    <a:p>
                      <a:pPr indent="0" marL="0">
                        <a:buNone/>
                      </a:pPr>
                      <a:r>
                        <a:rPr lang="en-US" sz="1200" b="1" dirty="0">
                          <a:solidFill>
                            <a:srgbClr val="FFFFFF"/>
                          </a:solidFill>
                        </a:rPr>
                        <a:t>Payload</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0E7C86"/>
                    </a:solidFill>
                  </a:tcPr>
                </a:tc>
                <a:tc>
                  <a:txBody>
                    <a:bodyPr/>
                    <a:lstStyle/>
                    <a:p>
                      <a:pPr indent="0" marL="0">
                        <a:buNone/>
                      </a:pPr>
                      <a:r>
                        <a:rPr lang="en-US" sz="1200" b="1" dirty="0">
                          <a:solidFill>
                            <a:srgbClr val="FFFFFF"/>
                          </a:solidFill>
                        </a:rPr>
                        <a:t>Rate per patient</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0E7C86"/>
                    </a:solidFill>
                  </a:tcPr>
                </a:tc>
                <a:tc>
                  <a:txBody>
                    <a:bodyPr/>
                    <a:lstStyle/>
                    <a:p>
                      <a:pPr indent="0" marL="0">
                        <a:buNone/>
                      </a:pPr>
                      <a:r>
                        <a:rPr lang="en-US" sz="1200" b="1" dirty="0">
                          <a:solidFill>
                            <a:srgbClr val="FFFFFF"/>
                          </a:solidFill>
                        </a:rPr>
                        <a:t>Deadline</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0E7C86"/>
                    </a:solidFill>
                  </a:tcPr>
                </a:tc>
                <a:tc>
                  <a:txBody>
                    <a:bodyPr/>
                    <a:lstStyle/>
                    <a:p>
                      <a:pPr indent="0" marL="0">
                        <a:buNone/>
                      </a:pPr>
                      <a:r>
                        <a:rPr lang="en-US" sz="1200" b="1" dirty="0">
                          <a:solidFill>
                            <a:srgbClr val="FFFFFF"/>
                          </a:solidFill>
                        </a:rPr>
                        <a:t>Priority</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0E7C86"/>
                    </a:solidFill>
                  </a:tcPr>
                </a:tc>
              </a:tr>
              <a:tr h="329184">
                <a:tc>
                  <a:txBody>
                    <a:bodyPr/>
                    <a:lstStyle/>
                    <a:p>
                      <a:pPr indent="0" marL="0">
                        <a:buNone/>
                      </a:pPr>
                      <a:r>
                        <a:rPr lang="en-US" sz="1200" dirty="0">
                          <a:solidFill>
                            <a:srgbClr val="3B4A53"/>
                          </a:solidFill>
                        </a:rPr>
                        <a:t>0</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Alarm / event</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60 B</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Poisson, mean 5 s</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150 ms</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Highest</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r>
              <a:tr h="329184">
                <a:tc>
                  <a:txBody>
                    <a:bodyPr/>
                    <a:lstStyle/>
                    <a:p>
                      <a:pPr indent="0" marL="0">
                        <a:buNone/>
                      </a:pPr>
                      <a:r>
                        <a:rPr lang="en-US" sz="1200" dirty="0">
                          <a:solidFill>
                            <a:srgbClr val="3B4A53"/>
                          </a:solidFill>
                        </a:rPr>
                        <a:t>1</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ECG waveform</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200 B</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1 per 40 ms</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300 ms</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High</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r>
              <a:tr h="329184">
                <a:tc>
                  <a:txBody>
                    <a:bodyPr/>
                    <a:lstStyle/>
                    <a:p>
                      <a:pPr indent="0" marL="0">
                        <a:buNone/>
                      </a:pPr>
                      <a:r>
                        <a:rPr lang="en-US" sz="1200" dirty="0">
                          <a:solidFill>
                            <a:srgbClr val="3B4A53"/>
                          </a:solidFill>
                        </a:rPr>
                        <a:t>2</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Vital signs</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80 B</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1 per 1 s</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1000 ms</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Medium</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r>
              <a:tr h="329184">
                <a:tc>
                  <a:txBody>
                    <a:bodyPr/>
                    <a:lstStyle/>
                    <a:p>
                      <a:pPr indent="0" marL="0">
                        <a:buNone/>
                      </a:pPr>
                      <a:r>
                        <a:rPr lang="en-US" sz="1200" dirty="0">
                          <a:solidFill>
                            <a:srgbClr val="3B4A53"/>
                          </a:solidFill>
                        </a:rPr>
                        <a:t>3</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Bulk (cross traffic)</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1500 B</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Greedy TCP</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none</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Lowest</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r>
            </a:tbl>
          </a:graphicData>
        </a:graphic>
      </p:graphicFrame>
      <p:sp>
        <p:nvSpPr>
          <p:cNvPr id="4" name="Network card"/>
          <p:cNvSpPr/>
          <p:nvPr/>
        </p:nvSpPr>
        <p:spPr>
          <a:xfrm>
            <a:off x="457200" y="3200400"/>
            <a:ext cx="3977640" cy="1417320"/>
          </a:xfrm>
          <a:prstGeom prst="roundRect">
            <a:avLst>
              <a:gd name="adj" fmla="val 5161"/>
            </a:avLst>
          </a:prstGeom>
          <a:solidFill>
            <a:schemeClr val="bg2"/>
          </a:solidFill>
          <a:ln/>
        </p:spPr>
      </p:sp>
      <p:sp>
        <p:nvSpPr>
          <p:cNvPr id="5" name="Text 2"/>
          <p:cNvSpPr txBox="1"/>
          <p:nvPr/>
        </p:nvSpPr>
        <p:spPr>
          <a:xfrm>
            <a:off x="594360" y="3273552"/>
            <a:ext cx="3703320" cy="1280160"/>
          </a:xfrm>
          <a:prstGeom prst="rect">
            <a:avLst/>
          </a:prstGeom>
          <a:noFill/>
          <a:ln/>
        </p:spPr>
        <p:txBody>
          <a:bodyPr wrap="square" lIns="0" tIns="0" rIns="0" bIns="0" rtlCol="0" anchor="t"/>
          <a:lstStyle/>
          <a:p>
            <a:pPr indent="0" marL="0">
              <a:buNone/>
            </a:pPr>
            <a:r>
              <a:rPr lang="en-US" sz="1400" b="1" dirty="0">
                <a:solidFill>
                  <a:schemeClr val="tx1"/>
                </a:solidFill>
              </a:rPr>
              <a:t>Network</a:t>
            </a:r>
            <a:endParaRPr lang="en-US" sz="1400" dirty="0"/>
          </a:p>
          <a:p>
            <a:pPr indent="0" marL="0">
              <a:buNone/>
            </a:pPr>
            <a:r>
              <a:rPr lang="en-US" sz="1300" dirty="0">
                <a:solidFill>
                  <a:srgbClr val="3B4A53"/>
                </a:solidFill>
              </a:rPr>
              <a:t>N devices share one access-point queue and a bursty wireless link (8 / 4.8 Mbit/s, 25% bad-state loss). K bulk TCP flows compete in the same queue.</a:t>
            </a:r>
            <a:endParaRPr lang="en-US" sz="1400" dirty="0"/>
          </a:p>
        </p:txBody>
      </p:sp>
      <p:sp>
        <p:nvSpPr>
          <p:cNvPr id="6" name="Metric card"/>
          <p:cNvSpPr/>
          <p:nvPr/>
        </p:nvSpPr>
        <p:spPr>
          <a:xfrm>
            <a:off x="4709160" y="3200400"/>
            <a:ext cx="3977640" cy="1417320"/>
          </a:xfrm>
          <a:prstGeom prst="roundRect">
            <a:avLst>
              <a:gd name="adj" fmla="val 5161"/>
            </a:avLst>
          </a:prstGeom>
          <a:solidFill>
            <a:schemeClr val="bg2"/>
          </a:solidFill>
          <a:ln/>
        </p:spPr>
      </p:sp>
      <p:sp>
        <p:nvSpPr>
          <p:cNvPr id="7" name="Text 4"/>
          <p:cNvSpPr txBox="1"/>
          <p:nvPr/>
        </p:nvSpPr>
        <p:spPr>
          <a:xfrm>
            <a:off x="4846320" y="3273552"/>
            <a:ext cx="3703320" cy="1280160"/>
          </a:xfrm>
          <a:prstGeom prst="rect">
            <a:avLst/>
          </a:prstGeom>
          <a:noFill/>
          <a:ln/>
        </p:spPr>
        <p:txBody>
          <a:bodyPr wrap="square" lIns="0" tIns="0" rIns="0" bIns="0" rtlCol="0" anchor="t"/>
          <a:lstStyle/>
          <a:p>
            <a:pPr indent="0" marL="0">
              <a:buNone/>
            </a:pPr>
            <a:r>
              <a:rPr lang="en-US" sz="1400" b="1" dirty="0">
                <a:solidFill>
                  <a:schemeClr val="tx1"/>
                </a:solidFill>
              </a:rPr>
              <a:t>Primary metric</a:t>
            </a:r>
            <a:endParaRPr lang="en-US" sz="1400" dirty="0"/>
          </a:p>
          <a:p>
            <a:pPr indent="0" marL="0">
              <a:buNone/>
            </a:pPr>
            <a:r>
              <a:rPr lang="en-US" sz="1300" dirty="0">
                <a:solidFill>
                  <a:srgbClr val="3B4A53"/>
                </a:solidFill>
              </a:rPr>
              <a:t>Timely delivery ratio (TDR): share of messages delivered by their deadline. Undelivered counts as missed. Also: p99 latency, overhead, bulk goodput.</a:t>
            </a:r>
            <a:endParaRPr lang="en-US" sz="14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914400"/>
          </a:xfrm>
          <a:prstGeom prst="rect">
            <a:avLst/>
          </a:prstGeom>
          <a:noFill/>
          <a:ln/>
        </p:spPr>
        <p:txBody>
          <a:bodyPr wrap="square" lIns="0" tIns="0" rIns="0" bIns="0" rtlCol="0" anchor="ctr"/>
          <a:lstStyle/>
          <a:p>
            <a:pPr algn="l" indent="0" marL="0">
              <a:buNone/>
            </a:pPr>
            <a:r>
              <a:rPr lang="en-US" sz="3000" b="1" dirty="0">
                <a:solidFill>
                  <a:schemeClr val="tx1"/>
                </a:solidFill>
              </a:rPr>
              <a:t>Starting point: the ns-3 baseline, TCP vs UDP</a:t>
            </a:r>
            <a:endParaRPr lang="en-US" sz="3000" dirty="0"/>
          </a:p>
        </p:txBody>
      </p:sp>
      <p:pic>
        <p:nvPicPr>
          <p:cNvPr id="3" name="Image 0" descr="healthcare throughput graph from the ns-3 baseline">    </p:cNvPr>
          <p:cNvPicPr>
            <a:picLocks noChangeAspect="1"/>
          </p:cNvPicPr>
          <p:nvPr/>
        </p:nvPicPr>
        <p:blipFill>
          <a:blip r:embed="rId1"/>
          <a:stretch>
            <a:fillRect/>
          </a:stretch>
        </p:blipFill>
        <p:spPr>
          <a:xfrm>
            <a:off x="411480" y="1188720"/>
            <a:ext cx="2468880" cy="1545336"/>
          </a:xfrm>
          <a:prstGeom prst="rect">
            <a:avLst/>
          </a:prstGeom>
        </p:spPr>
      </p:pic>
      <p:pic>
        <p:nvPicPr>
          <p:cNvPr id="4" name="Image 1" descr="healthcare delay graph from the ns-3 baseline">    </p:cNvPr>
          <p:cNvPicPr>
            <a:picLocks noChangeAspect="1"/>
          </p:cNvPicPr>
          <p:nvPr/>
        </p:nvPicPr>
        <p:blipFill>
          <a:blip r:embed="rId2"/>
          <a:stretch>
            <a:fillRect/>
          </a:stretch>
        </p:blipFill>
        <p:spPr>
          <a:xfrm>
            <a:off x="3337560" y="1188720"/>
            <a:ext cx="2468880" cy="1545336"/>
          </a:xfrm>
          <a:prstGeom prst="rect">
            <a:avLst/>
          </a:prstGeom>
        </p:spPr>
      </p:pic>
      <p:pic>
        <p:nvPicPr>
          <p:cNvPr id="5" name="Image 2" descr="healthcare jitter graph from the ns-3 baseline">    </p:cNvPr>
          <p:cNvPicPr>
            <a:picLocks noChangeAspect="1"/>
          </p:cNvPicPr>
          <p:nvPr/>
        </p:nvPicPr>
        <p:blipFill>
          <a:blip r:embed="rId3"/>
          <a:stretch>
            <a:fillRect/>
          </a:stretch>
        </p:blipFill>
        <p:spPr>
          <a:xfrm>
            <a:off x="6263640" y="1188720"/>
            <a:ext cx="2468880" cy="1545336"/>
          </a:xfrm>
          <a:prstGeom prst="rect">
            <a:avLst/>
          </a:prstGeom>
        </p:spPr>
      </p:pic>
      <p:pic>
        <p:nvPicPr>
          <p:cNvPr id="6" name="Image 3" descr="background packet loss graph from the ns-3 baseline">    </p:cNvPr>
          <p:cNvPicPr>
            <a:picLocks noChangeAspect="1"/>
          </p:cNvPicPr>
          <p:nvPr/>
        </p:nvPicPr>
        <p:blipFill>
          <a:blip r:embed="rId4"/>
          <a:stretch>
            <a:fillRect/>
          </a:stretch>
        </p:blipFill>
        <p:spPr>
          <a:xfrm>
            <a:off x="411480" y="2834640"/>
            <a:ext cx="2468880" cy="1545336"/>
          </a:xfrm>
          <a:prstGeom prst="rect">
            <a:avLst/>
          </a:prstGeom>
        </p:spPr>
      </p:pic>
      <p:pic>
        <p:nvPicPr>
          <p:cNvPr id="7" name="Image 4" descr="healthcare packet loss graph from the ns-3 baseline">    </p:cNvPr>
          <p:cNvPicPr>
            <a:picLocks noChangeAspect="1"/>
          </p:cNvPicPr>
          <p:nvPr/>
        </p:nvPicPr>
        <p:blipFill>
          <a:blip r:embed="rId5"/>
          <a:stretch>
            <a:fillRect/>
          </a:stretch>
        </p:blipFill>
        <p:spPr>
          <a:xfrm>
            <a:off x="3337560" y="2834640"/>
            <a:ext cx="2468880" cy="1545336"/>
          </a:xfrm>
          <a:prstGeom prst="rect">
            <a:avLst/>
          </a:prstGeom>
        </p:spPr>
      </p:pic>
      <p:sp>
        <p:nvSpPr>
          <p:cNvPr id="8" name="Takeaway card"/>
          <p:cNvSpPr/>
          <p:nvPr/>
        </p:nvSpPr>
        <p:spPr>
          <a:xfrm>
            <a:off x="6263640" y="2834640"/>
            <a:ext cx="2468880" cy="1545336"/>
          </a:xfrm>
          <a:prstGeom prst="roundRect">
            <a:avLst>
              <a:gd name="adj" fmla="val 4734"/>
            </a:avLst>
          </a:prstGeom>
          <a:solidFill>
            <a:schemeClr val="bg2"/>
          </a:solidFill>
          <a:ln/>
        </p:spPr>
      </p:sp>
      <p:sp>
        <p:nvSpPr>
          <p:cNvPr id="9" name="Text 2"/>
          <p:cNvSpPr txBox="1"/>
          <p:nvPr/>
        </p:nvSpPr>
        <p:spPr>
          <a:xfrm>
            <a:off x="6400800" y="2926080"/>
            <a:ext cx="2194560" cy="1371600"/>
          </a:xfrm>
          <a:prstGeom prst="rect">
            <a:avLst/>
          </a:prstGeom>
          <a:noFill/>
          <a:ln/>
        </p:spPr>
        <p:txBody>
          <a:bodyPr wrap="square" lIns="0" tIns="0" rIns="0" bIns="0" rtlCol="0" anchor="t"/>
          <a:lstStyle/>
          <a:p>
            <a:pPr indent="0" marL="0">
              <a:buNone/>
            </a:pPr>
            <a:r>
              <a:rPr lang="en-US" sz="1300" b="1" dirty="0">
                <a:solidFill>
                  <a:schemeClr val="tx1"/>
                </a:solidFill>
              </a:rPr>
              <a:t>Baseline results</a:t>
            </a:r>
            <a:endParaRPr lang="en-US" sz="1300" dirty="0"/>
          </a:p>
          <a:p>
            <a:pPr indent="0" marL="0">
              <a:buNone/>
            </a:pPr>
            <a:r>
              <a:rPr lang="en-US" sz="1200" dirty="0">
                <a:solidFill>
                  <a:srgbClr val="3B4A53"/>
                </a:solidFill>
              </a:rPr>
              <a:t>Zero healthcare loss at 1, 4 and 8 Mbit/s. Delay 0.5 to 2.4 ms. TCP's extra kbit/s is header overhead.</a:t>
            </a:r>
            <a:endParaRPr lang="en-US" sz="1300" dirty="0"/>
          </a:p>
        </p:txBody>
      </p:sp>
      <p:sp>
        <p:nvSpPr>
          <p:cNvPr id="10" name="Text 3"/>
          <p:cNvSpPr txBox="1"/>
          <p:nvPr/>
        </p:nvSpPr>
        <p:spPr>
          <a:xfrm>
            <a:off x="411480" y="4462272"/>
            <a:ext cx="8229600" cy="228600"/>
          </a:xfrm>
          <a:prstGeom prst="rect">
            <a:avLst/>
          </a:prstGeom>
          <a:noFill/>
          <a:ln/>
        </p:spPr>
        <p:txBody>
          <a:bodyPr wrap="square" lIns="0" tIns="0" rIns="0" bIns="0" rtlCol="0" anchor="ctr"/>
          <a:lstStyle/>
          <a:p>
            <a:pPr indent="0" marL="0">
              <a:buNone/>
            </a:pPr>
            <a:r>
              <a:rPr lang="en-US" sz="1000" dirty="0">
                <a:solidFill>
                  <a:srgbClr val="7A8B99"/>
                </a:solidFill>
              </a:rPr>
              <a:t>ns-3.47, 802.11g at 6 Mbit/s; one healthcare station, one background station (repository results, one run per point).</a:t>
            </a:r>
            <a:endParaRPr lang="en-US" sz="10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914400"/>
          </a:xfrm>
          <a:prstGeom prst="rect">
            <a:avLst/>
          </a:prstGeom>
          <a:noFill/>
          <a:ln/>
        </p:spPr>
        <p:txBody>
          <a:bodyPr wrap="square" lIns="0" tIns="0" rIns="0" bIns="0" rtlCol="0" anchor="ctr"/>
          <a:lstStyle/>
          <a:p>
            <a:pPr algn="l" indent="0" marL="0">
              <a:buNone/>
            </a:pPr>
            <a:r>
              <a:rPr lang="en-US" sz="3000" b="1" dirty="0">
                <a:solidFill>
                  <a:schemeClr val="tx1"/>
                </a:solidFill>
              </a:rPr>
              <a:t>Why the baseline cannot separate TCP from UDP</a:t>
            </a:r>
            <a:endParaRPr lang="en-US" sz="3000" dirty="0"/>
          </a:p>
        </p:txBody>
      </p:sp>
      <p:sp>
        <p:nvSpPr>
          <p:cNvPr id="3" name="Stat loss"/>
          <p:cNvSpPr/>
          <p:nvPr/>
        </p:nvSpPr>
        <p:spPr>
          <a:xfrm>
            <a:off x="457200" y="1325880"/>
            <a:ext cx="2560320" cy="1234440"/>
          </a:xfrm>
          <a:prstGeom prst="roundRect">
            <a:avLst>
              <a:gd name="adj" fmla="val 5926"/>
            </a:avLst>
          </a:prstGeom>
          <a:solidFill>
            <a:schemeClr val="bg2"/>
          </a:solidFill>
          <a:ln/>
        </p:spPr>
      </p:sp>
      <p:sp>
        <p:nvSpPr>
          <p:cNvPr id="4" name="Text 2"/>
          <p:cNvSpPr txBox="1"/>
          <p:nvPr/>
        </p:nvSpPr>
        <p:spPr>
          <a:xfrm>
            <a:off x="594360" y="1435608"/>
            <a:ext cx="2286000" cy="617220"/>
          </a:xfrm>
          <a:prstGeom prst="rect">
            <a:avLst/>
          </a:prstGeom>
          <a:noFill/>
          <a:ln/>
        </p:spPr>
        <p:txBody>
          <a:bodyPr wrap="square" lIns="0" tIns="0" rIns="0" bIns="0" rtlCol="0" anchor="ctr">
            <a:normAutofit/>
          </a:bodyPr>
          <a:lstStyle/>
          <a:p>
            <a:pPr indent="0" marL="0">
              <a:buNone/>
            </a:pPr>
            <a:r>
              <a:rPr lang="en-US" sz="3600" b="1" dirty="0">
                <a:solidFill>
                  <a:schemeClr val="accent1"/>
                </a:solidFill>
              </a:rPr>
              <a:t>0</a:t>
            </a:r>
            <a:endParaRPr lang="en-US" sz="3600" dirty="0"/>
          </a:p>
        </p:txBody>
      </p:sp>
      <p:sp>
        <p:nvSpPr>
          <p:cNvPr id="5" name="Text 3"/>
          <p:cNvSpPr txBox="1"/>
          <p:nvPr/>
        </p:nvSpPr>
        <p:spPr>
          <a:xfrm>
            <a:off x="594360" y="2041855"/>
            <a:ext cx="2286000" cy="444398"/>
          </a:xfrm>
          <a:prstGeom prst="rect">
            <a:avLst/>
          </a:prstGeom>
          <a:noFill/>
          <a:ln/>
        </p:spPr>
        <p:txBody>
          <a:bodyPr wrap="square" lIns="0" tIns="0" rIns="0" bIns="0" rtlCol="0" anchor="t"/>
          <a:lstStyle/>
          <a:p>
            <a:pPr indent="0" marL="0">
              <a:buNone/>
            </a:pPr>
            <a:r>
              <a:rPr lang="en-US" sz="1200" dirty="0">
                <a:solidFill>
                  <a:srgbClr val="3B4A53"/>
                </a:solidFill>
              </a:rPr>
              <a:t>healthcare packets lost, every load and both protocols</a:t>
            </a:r>
            <a:endParaRPr lang="en-US" sz="1200" dirty="0"/>
          </a:p>
        </p:txBody>
      </p:sp>
      <p:sp>
        <p:nvSpPr>
          <p:cNvPr id="6" name="Stat delay"/>
          <p:cNvSpPr/>
          <p:nvPr/>
        </p:nvSpPr>
        <p:spPr>
          <a:xfrm>
            <a:off x="3291840" y="1325880"/>
            <a:ext cx="2560320" cy="1234440"/>
          </a:xfrm>
          <a:prstGeom prst="roundRect">
            <a:avLst>
              <a:gd name="adj" fmla="val 5926"/>
            </a:avLst>
          </a:prstGeom>
          <a:solidFill>
            <a:schemeClr val="bg2"/>
          </a:solidFill>
          <a:ln/>
        </p:spPr>
      </p:sp>
      <p:sp>
        <p:nvSpPr>
          <p:cNvPr id="7" name="Text 5"/>
          <p:cNvSpPr txBox="1"/>
          <p:nvPr/>
        </p:nvSpPr>
        <p:spPr>
          <a:xfrm>
            <a:off x="3429000" y="1435608"/>
            <a:ext cx="2286000" cy="617220"/>
          </a:xfrm>
          <a:prstGeom prst="rect">
            <a:avLst/>
          </a:prstGeom>
          <a:noFill/>
          <a:ln/>
        </p:spPr>
        <p:txBody>
          <a:bodyPr wrap="square" lIns="0" tIns="0" rIns="0" bIns="0" rtlCol="0" anchor="ctr">
            <a:normAutofit/>
          </a:bodyPr>
          <a:lstStyle/>
          <a:p>
            <a:pPr indent="0" marL="0">
              <a:buNone/>
            </a:pPr>
            <a:r>
              <a:rPr lang="en-US" sz="3600" b="1" dirty="0">
                <a:solidFill>
                  <a:schemeClr val="accent1"/>
                </a:solidFill>
              </a:rPr>
              <a:t>2.4 ms</a:t>
            </a:r>
            <a:endParaRPr lang="en-US" sz="3600" dirty="0"/>
          </a:p>
        </p:txBody>
      </p:sp>
      <p:sp>
        <p:nvSpPr>
          <p:cNvPr id="8" name="Text 6"/>
          <p:cNvSpPr txBox="1"/>
          <p:nvPr/>
        </p:nvSpPr>
        <p:spPr>
          <a:xfrm>
            <a:off x="3429000" y="2041855"/>
            <a:ext cx="2286000" cy="444398"/>
          </a:xfrm>
          <a:prstGeom prst="rect">
            <a:avLst/>
          </a:prstGeom>
          <a:noFill/>
          <a:ln/>
        </p:spPr>
        <p:txBody>
          <a:bodyPr wrap="square" lIns="0" tIns="0" rIns="0" bIns="0" rtlCol="0" anchor="t"/>
          <a:lstStyle/>
          <a:p>
            <a:pPr indent="0" marL="0">
              <a:buNone/>
            </a:pPr>
            <a:r>
              <a:rPr lang="en-US" sz="1200" dirty="0">
                <a:solidFill>
                  <a:srgbClr val="3B4A53"/>
                </a:solidFill>
              </a:rPr>
              <a:t>worst mean healthcare delay (8 Mbit/s background)</a:t>
            </a:r>
            <a:endParaRPr lang="en-US" sz="1200" dirty="0"/>
          </a:p>
        </p:txBody>
      </p:sp>
      <p:sp>
        <p:nvSpPr>
          <p:cNvPr id="9" name="Stat bg delay"/>
          <p:cNvSpPr/>
          <p:nvPr/>
        </p:nvSpPr>
        <p:spPr>
          <a:xfrm>
            <a:off x="6126480" y="1325880"/>
            <a:ext cx="2560320" cy="1234440"/>
          </a:xfrm>
          <a:prstGeom prst="roundRect">
            <a:avLst>
              <a:gd name="adj" fmla="val 5926"/>
            </a:avLst>
          </a:prstGeom>
          <a:solidFill>
            <a:schemeClr val="bg2"/>
          </a:solidFill>
          <a:ln/>
        </p:spPr>
      </p:sp>
      <p:sp>
        <p:nvSpPr>
          <p:cNvPr id="10" name="Text 8"/>
          <p:cNvSpPr txBox="1"/>
          <p:nvPr/>
        </p:nvSpPr>
        <p:spPr>
          <a:xfrm>
            <a:off x="6263640" y="1435608"/>
            <a:ext cx="2286000" cy="617220"/>
          </a:xfrm>
          <a:prstGeom prst="rect">
            <a:avLst/>
          </a:prstGeom>
          <a:noFill/>
          <a:ln/>
        </p:spPr>
        <p:txBody>
          <a:bodyPr wrap="square" lIns="0" tIns="0" rIns="0" bIns="0" rtlCol="0" anchor="ctr">
            <a:normAutofit/>
          </a:bodyPr>
          <a:lstStyle/>
          <a:p>
            <a:pPr indent="0" marL="0">
              <a:buNone/>
            </a:pPr>
            <a:r>
              <a:rPr lang="en-US" sz="3600" b="1" dirty="0">
                <a:solidFill>
                  <a:schemeClr val="accent2"/>
                </a:solidFill>
              </a:rPr>
              <a:t>464 ms</a:t>
            </a:r>
            <a:endParaRPr lang="en-US" sz="3600" dirty="0"/>
          </a:p>
        </p:txBody>
      </p:sp>
      <p:sp>
        <p:nvSpPr>
          <p:cNvPr id="11" name="Text 9"/>
          <p:cNvSpPr txBox="1"/>
          <p:nvPr/>
        </p:nvSpPr>
        <p:spPr>
          <a:xfrm>
            <a:off x="6263640" y="2041855"/>
            <a:ext cx="2286000" cy="444398"/>
          </a:xfrm>
          <a:prstGeom prst="rect">
            <a:avLst/>
          </a:prstGeom>
          <a:noFill/>
          <a:ln/>
        </p:spPr>
        <p:txBody>
          <a:bodyPr wrap="square" lIns="0" tIns="0" rIns="0" bIns="0" rtlCol="0" anchor="t"/>
          <a:lstStyle/>
          <a:p>
            <a:pPr indent="0" marL="0">
              <a:buNone/>
            </a:pPr>
            <a:r>
              <a:rPr lang="en-US" sz="1200" dirty="0">
                <a:solidFill>
                  <a:srgbClr val="3B4A53"/>
                </a:solidFill>
              </a:rPr>
              <a:t>background flow's own delay at 8 Mbit/s</a:t>
            </a:r>
            <a:endParaRPr lang="en-US" sz="1200" dirty="0"/>
          </a:p>
        </p:txBody>
      </p:sp>
      <p:sp>
        <p:nvSpPr>
          <p:cNvPr id="12" name="Text 10"/>
          <p:cNvSpPr txBox="1"/>
          <p:nvPr/>
        </p:nvSpPr>
        <p:spPr>
          <a:xfrm>
            <a:off x="457200" y="2743200"/>
            <a:ext cx="8229600" cy="1920240"/>
          </a:xfrm>
          <a:prstGeom prst="rect">
            <a:avLst/>
          </a:prstGeom>
          <a:noFill/>
          <a:ln/>
        </p:spPr>
        <p:txBody>
          <a:bodyPr wrap="square" lIns="0" tIns="0" rIns="0" bIns="0" rtlCol="0" anchor="t"/>
          <a:lstStyle/>
          <a:p>
            <a:pPr indent="0" marL="0">
              <a:buNone/>
            </a:pPr>
            <a:r>
              <a:rPr lang="en-US" sz="1400" b="1" dirty="0">
                <a:solidFill>
                  <a:schemeClr val="tx1"/>
                </a:solidFill>
              </a:rPr>
              <a:t>Congestion stays in the sender that causes it</a:t>
            </a:r>
            <a:endParaRPr lang="en-US" sz="1400" dirty="0"/>
          </a:p>
          <a:p>
            <a:pPr indent="0" marL="0">
              <a:buNone/>
            </a:pPr>
            <a:r>
              <a:rPr lang="en-US" sz="1300" dirty="0">
                <a:solidFill>
                  <a:srgbClr val="3B4A53"/>
                </a:solidFill>
              </a:rPr>
              <a:t>The healthcare and background flows have separate station queues. Under 802.11 contention a light flow waits for at most one frame in flight (about 1.5 ms at 6 Mbit/s) plus a short backoff.</a:t>
            </a:r>
            <a:endParaRPr lang="en-US" sz="1400" dirty="0"/>
          </a:p>
          <a:p>
            <a:pPr indent="0" marL="0">
              <a:buNone/>
            </a:pPr>
            <a:r>
              <a:rPr lang="en-US" sz="600" dirty="0">
                <a:solidFill>
                  <a:srgbClr val="000000"/>
                </a:solidFill>
              </a:rPr>
              <a:t> </a:t>
            </a:r>
            <a:endParaRPr lang="en-US" sz="1400" dirty="0"/>
          </a:p>
          <a:p>
            <a:pPr indent="0" marL="0">
              <a:buNone/>
            </a:pPr>
            <a:r>
              <a:rPr lang="en-US" sz="1400" b="1" dirty="0">
                <a:solidFill>
                  <a:schemeClr val="tx1"/>
                </a:solidFill>
              </a:rPr>
              <a:t>TCP's higher throughput is header arithmetic</a:t>
            </a:r>
            <a:endParaRPr lang="en-US" sz="1400" dirty="0"/>
          </a:p>
          <a:p>
            <a:pPr indent="0" marL="0">
              <a:buNone/>
            </a:pPr>
            <a:r>
              <a:rPr lang="en-US" sz="1300" dirty="0">
                <a:solidFill>
                  <a:srgbClr val="3B4A53"/>
                </a:solidFill>
              </a:rPr>
              <a:t>100 packets/s x 128 B (UDP) x 8 = 102.4 kbit/s;  x 152 B (TCP) = 121.6 kbit/s.</a:t>
            </a:r>
            <a:endParaRPr lang="en-US" sz="1400" dirty="0"/>
          </a:p>
          <a:p>
            <a:pPr indent="0" marL="0">
              <a:buNone/>
            </a:pPr>
            <a:r>
              <a:rPr lang="en-US" sz="600" dirty="0">
                <a:solidFill>
                  <a:srgbClr val="000000"/>
                </a:solidFill>
              </a:rPr>
              <a:t> </a:t>
            </a:r>
            <a:endParaRPr lang="en-US" sz="1400" dirty="0"/>
          </a:p>
          <a:p>
            <a:pPr indent="0" marL="0">
              <a:buNone/>
            </a:pPr>
            <a:r>
              <a:rPr lang="en-US" sz="1300" b="1" dirty="0">
                <a:solidFill>
                  <a:schemeClr val="accent2"/>
                </a:solidFill>
              </a:rPr>
              <a:t>Limits: one run per point, lossless channel, one device, three loads. So the proposed framework is tested where telemetry shares a bottleneck queue.</a:t>
            </a:r>
            <a:endParaRPr lang="en-US" sz="14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914400"/>
          </a:xfrm>
          <a:prstGeom prst="rect">
            <a:avLst/>
          </a:prstGeom>
          <a:noFill/>
          <a:ln/>
        </p:spPr>
        <p:txBody>
          <a:bodyPr wrap="square" lIns="0" tIns="0" rIns="0" bIns="0" rtlCol="0" anchor="ctr"/>
          <a:lstStyle/>
          <a:p>
            <a:pPr algn="l" indent="0" marL="0">
              <a:buNone/>
            </a:pPr>
            <a:r>
              <a:rPr lang="en-US" sz="3000" b="1" dirty="0">
                <a:solidFill>
                  <a:schemeClr val="tx1"/>
                </a:solidFill>
              </a:rPr>
              <a:t>Validation: Python replica vs ns-3</a:t>
            </a:r>
            <a:endParaRPr lang="en-US" sz="3000" dirty="0"/>
          </a:p>
        </p:txBody>
      </p:sp>
      <p:pic>
        <p:nvPicPr>
          <p:cNvPr id="3" name="Image 0" descr="ns-3 results compared with the Python replica for healthcare throughput, delay, jitter and background delay">    </p:cNvPr>
          <p:cNvPicPr>
            <a:picLocks noChangeAspect="1"/>
          </p:cNvPicPr>
          <p:nvPr/>
        </p:nvPicPr>
        <p:blipFill>
          <a:blip r:embed="rId1"/>
          <a:stretch>
            <a:fillRect/>
          </a:stretch>
        </p:blipFill>
        <p:spPr>
          <a:xfrm>
            <a:off x="457200" y="1188720"/>
            <a:ext cx="8229600" cy="2400300"/>
          </a:xfrm>
          <a:prstGeom prst="rect">
            <a:avLst/>
          </a:prstGeom>
        </p:spPr>
      </p:pic>
      <p:sp>
        <p:nvSpPr>
          <p:cNvPr id="4" name="Text 1"/>
          <p:cNvSpPr txBox="1"/>
          <p:nvPr/>
        </p:nvSpPr>
        <p:spPr>
          <a:xfrm>
            <a:off x="457200" y="3703320"/>
            <a:ext cx="8229600" cy="10058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3B4A53"/>
                </a:solidFill>
              </a:rPr>
              <a:t>Throughput within 0.6% for both flows; saturated background delay within 0.7%.</a:t>
            </a:r>
            <a:endParaRPr lang="en-US" sz="1300" dirty="0"/>
          </a:p>
          <a:p>
            <a:pPr marL="342900" indent="-342900">
              <a:spcAft>
                <a:spcPts val="400"/>
              </a:spcAft>
              <a:buSzPct val="100000"/>
              <a:buChar char="•"/>
            </a:pPr>
            <a:r>
              <a:rPr lang="en-US" sz="1300" dirty="0">
                <a:solidFill>
                  <a:srgbClr val="3B4A53"/>
                </a:solidFill>
              </a:rPr>
              <a:t>Healthcare delay at 8 Mbit/s is 14 to 19% high (2.8 vs 2.4 ms).</a:t>
            </a:r>
            <a:endParaRPr lang="en-US" sz="1300" dirty="0"/>
          </a:p>
          <a:p>
            <a:pPr marL="342900" indent="-342900">
              <a:spcAft>
                <a:spcPts val="400"/>
              </a:spcAft>
              <a:buSzPct val="100000"/>
              <a:buChar char="•"/>
            </a:pPr>
            <a:r>
              <a:rPr lang="en-US" sz="1300" dirty="0">
                <a:solidFill>
                  <a:srgbClr val="3B4A53"/>
                </a:solidFill>
              </a:rPr>
              <a:t>At 1 and 4 Mbit/s the replica overestimates delay; ns-3 is one deterministic run, so this gap is approximate.</a:t>
            </a:r>
            <a:endParaRPr lang="en-US" sz="13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914400"/>
          </a:xfrm>
          <a:prstGeom prst="rect">
            <a:avLst/>
          </a:prstGeom>
          <a:noFill/>
          <a:ln/>
        </p:spPr>
        <p:txBody>
          <a:bodyPr wrap="square" lIns="0" tIns="0" rIns="0" bIns="0" rtlCol="0" anchor="ctr"/>
          <a:lstStyle/>
          <a:p>
            <a:pPr algn="l" indent="0" marL="0">
              <a:buNone/>
            </a:pPr>
            <a:r>
              <a:rPr lang="en-US" sz="3000" b="1" dirty="0">
                <a:solidFill>
                  <a:schemeClr val="tx1"/>
                </a:solidFill>
              </a:rPr>
              <a:t>The working model: run it, change it, reproduce it</a:t>
            </a:r>
            <a:endParaRPr lang="en-US" sz="3000" dirty="0"/>
          </a:p>
        </p:txBody>
      </p:sp>
      <p:sp>
        <p:nvSpPr>
          <p:cNvPr id="3" name="Model card 1"/>
          <p:cNvSpPr/>
          <p:nvPr/>
        </p:nvSpPr>
        <p:spPr>
          <a:xfrm>
            <a:off x="457200" y="1371600"/>
            <a:ext cx="4023360" cy="1417320"/>
          </a:xfrm>
          <a:prstGeom prst="roundRect">
            <a:avLst>
              <a:gd name="adj" fmla="val 5161"/>
            </a:avLst>
          </a:prstGeom>
          <a:solidFill>
            <a:schemeClr val="bg2"/>
          </a:solidFill>
          <a:ln/>
        </p:spPr>
      </p:sp>
      <p:sp>
        <p:nvSpPr>
          <p:cNvPr id="4" name="Text 2"/>
          <p:cNvSpPr txBox="1"/>
          <p:nvPr/>
        </p:nvSpPr>
        <p:spPr>
          <a:xfrm>
            <a:off x="640080" y="1508760"/>
            <a:ext cx="3657600" cy="365760"/>
          </a:xfrm>
          <a:prstGeom prst="rect">
            <a:avLst/>
          </a:prstGeom>
          <a:noFill/>
          <a:ln/>
        </p:spPr>
        <p:txBody>
          <a:bodyPr wrap="square" lIns="0" tIns="0" rIns="0" bIns="0" rtlCol="0" anchor="ctr"/>
          <a:lstStyle/>
          <a:p>
            <a:pPr indent="0" marL="0">
              <a:buNone/>
            </a:pPr>
            <a:r>
              <a:rPr lang="en-US" sz="1600" b="1" dirty="0">
                <a:solidFill>
                  <a:schemeClr val="accent1"/>
                </a:solidFill>
              </a:rPr>
              <a:t>Interactive demo</a:t>
            </a:r>
            <a:endParaRPr lang="en-US" sz="1600" dirty="0"/>
          </a:p>
        </p:txBody>
      </p:sp>
      <p:sp>
        <p:nvSpPr>
          <p:cNvPr id="5" name="Text 3"/>
          <p:cNvSpPr txBox="1"/>
          <p:nvPr/>
        </p:nvSpPr>
        <p:spPr>
          <a:xfrm>
            <a:off x="640080" y="1920240"/>
            <a:ext cx="3657600" cy="777240"/>
          </a:xfrm>
          <a:prstGeom prst="rect">
            <a:avLst/>
          </a:prstGeom>
          <a:noFill/>
          <a:ln/>
        </p:spPr>
        <p:txBody>
          <a:bodyPr wrap="square" lIns="0" tIns="0" rIns="0" bIns="0" rtlCol="0" anchor="t"/>
          <a:lstStyle/>
          <a:p>
            <a:pPr indent="0" marL="0">
              <a:buNone/>
            </a:pPr>
            <a:r>
              <a:rPr lang="en-US" sz="1300" dirty="0">
                <a:solidFill>
                  <a:srgbClr val="3B4A53"/>
                </a:solidFill>
              </a:rPr>
              <a:t>streamlit run app.py: sliders for patients, bulk flows, loss, buffer; five schemes side by side</a:t>
            </a:r>
            <a:endParaRPr lang="en-US" sz="1300" dirty="0"/>
          </a:p>
        </p:txBody>
      </p:sp>
      <p:sp>
        <p:nvSpPr>
          <p:cNvPr id="6" name="Model card 2"/>
          <p:cNvSpPr/>
          <p:nvPr/>
        </p:nvSpPr>
        <p:spPr>
          <a:xfrm>
            <a:off x="4663440" y="1371600"/>
            <a:ext cx="4023360" cy="1417320"/>
          </a:xfrm>
          <a:prstGeom prst="roundRect">
            <a:avLst>
              <a:gd name="adj" fmla="val 5161"/>
            </a:avLst>
          </a:prstGeom>
          <a:solidFill>
            <a:schemeClr val="bg2"/>
          </a:solidFill>
          <a:ln/>
        </p:spPr>
      </p:sp>
      <p:sp>
        <p:nvSpPr>
          <p:cNvPr id="7" name="Text 5"/>
          <p:cNvSpPr txBox="1"/>
          <p:nvPr/>
        </p:nvSpPr>
        <p:spPr>
          <a:xfrm>
            <a:off x="4846320" y="1508760"/>
            <a:ext cx="3657600" cy="365760"/>
          </a:xfrm>
          <a:prstGeom prst="rect">
            <a:avLst/>
          </a:prstGeom>
          <a:noFill/>
          <a:ln/>
        </p:spPr>
        <p:txBody>
          <a:bodyPr wrap="square" lIns="0" tIns="0" rIns="0" bIns="0" rtlCol="0" anchor="ctr"/>
          <a:lstStyle/>
          <a:p>
            <a:pPr indent="0" marL="0">
              <a:buNone/>
            </a:pPr>
            <a:r>
              <a:rPr lang="en-US" sz="1600" b="1" dirty="0">
                <a:solidFill>
                  <a:schemeClr val="accent1"/>
                </a:solidFill>
              </a:rPr>
              <a:t>One-command results</a:t>
            </a:r>
            <a:endParaRPr lang="en-US" sz="1600" dirty="0"/>
          </a:p>
        </p:txBody>
      </p:sp>
      <p:sp>
        <p:nvSpPr>
          <p:cNvPr id="8" name="Text 6"/>
          <p:cNvSpPr txBox="1"/>
          <p:nvPr/>
        </p:nvSpPr>
        <p:spPr>
          <a:xfrm>
            <a:off x="4846320" y="1920240"/>
            <a:ext cx="3657600" cy="777240"/>
          </a:xfrm>
          <a:prstGeom prst="rect">
            <a:avLst/>
          </a:prstGeom>
          <a:noFill/>
          <a:ln/>
        </p:spPr>
        <p:txBody>
          <a:bodyPr wrap="square" lIns="0" tIns="0" rIns="0" bIns="0" rtlCol="0" anchor="t"/>
          <a:lstStyle/>
          <a:p>
            <a:pPr indent="0" marL="0">
              <a:buNone/>
            </a:pPr>
            <a:r>
              <a:rPr lang="en-US" sz="1300" dirty="0">
                <a:solidFill>
                  <a:srgbClr val="3B4A53"/>
                </a:solidFill>
              </a:rPr>
              <a:t>python run_all.py regenerates every number and figure in the paper</a:t>
            </a:r>
            <a:endParaRPr lang="en-US" sz="1300" dirty="0"/>
          </a:p>
        </p:txBody>
      </p:sp>
      <p:sp>
        <p:nvSpPr>
          <p:cNvPr id="9" name="Model card 3"/>
          <p:cNvSpPr/>
          <p:nvPr/>
        </p:nvSpPr>
        <p:spPr>
          <a:xfrm>
            <a:off x="457200" y="2971800"/>
            <a:ext cx="4023360" cy="1417320"/>
          </a:xfrm>
          <a:prstGeom prst="roundRect">
            <a:avLst>
              <a:gd name="adj" fmla="val 5161"/>
            </a:avLst>
          </a:prstGeom>
          <a:solidFill>
            <a:schemeClr val="bg2"/>
          </a:solidFill>
          <a:ln/>
        </p:spPr>
      </p:sp>
      <p:sp>
        <p:nvSpPr>
          <p:cNvPr id="10" name="Text 8"/>
          <p:cNvSpPr txBox="1"/>
          <p:nvPr/>
        </p:nvSpPr>
        <p:spPr>
          <a:xfrm>
            <a:off x="640080" y="3108960"/>
            <a:ext cx="3657600" cy="365760"/>
          </a:xfrm>
          <a:prstGeom prst="rect">
            <a:avLst/>
          </a:prstGeom>
          <a:noFill/>
          <a:ln/>
        </p:spPr>
        <p:txBody>
          <a:bodyPr wrap="square" lIns="0" tIns="0" rIns="0" bIns="0" rtlCol="0" anchor="ctr"/>
          <a:lstStyle/>
          <a:p>
            <a:pPr indent="0" marL="0">
              <a:buNone/>
            </a:pPr>
            <a:r>
              <a:rPr lang="en-US" sz="1600" b="1" dirty="0">
                <a:solidFill>
                  <a:schemeClr val="accent1"/>
                </a:solidFill>
              </a:rPr>
              <a:t>Validated baseline</a:t>
            </a:r>
            <a:endParaRPr lang="en-US" sz="1600" dirty="0"/>
          </a:p>
        </p:txBody>
      </p:sp>
      <p:sp>
        <p:nvSpPr>
          <p:cNvPr id="11" name="Text 9"/>
          <p:cNvSpPr txBox="1"/>
          <p:nvPr/>
        </p:nvSpPr>
        <p:spPr>
          <a:xfrm>
            <a:off x="640080" y="3520440"/>
            <a:ext cx="3657600" cy="777240"/>
          </a:xfrm>
          <a:prstGeom prst="rect">
            <a:avLst/>
          </a:prstGeom>
          <a:noFill/>
          <a:ln/>
        </p:spPr>
        <p:txBody>
          <a:bodyPr wrap="square" lIns="0" tIns="0" rIns="0" bIns="0" rtlCol="0" anchor="t"/>
          <a:lstStyle/>
          <a:p>
            <a:pPr indent="0" marL="0">
              <a:buNone/>
            </a:pPr>
            <a:r>
              <a:rPr lang="en-US" sz="1300" dirty="0">
                <a:solidFill>
                  <a:srgbClr val="3B4A53"/>
                </a:solidFill>
              </a:rPr>
              <a:t>Python 802.11g replica checked against the repository's ns-3 results</a:t>
            </a:r>
            <a:endParaRPr lang="en-US" sz="1300" dirty="0"/>
          </a:p>
        </p:txBody>
      </p:sp>
      <p:sp>
        <p:nvSpPr>
          <p:cNvPr id="12" name="Model card 4"/>
          <p:cNvSpPr/>
          <p:nvPr/>
        </p:nvSpPr>
        <p:spPr>
          <a:xfrm>
            <a:off x="4663440" y="2971800"/>
            <a:ext cx="4023360" cy="1417320"/>
          </a:xfrm>
          <a:prstGeom prst="roundRect">
            <a:avLst>
              <a:gd name="adj" fmla="val 5161"/>
            </a:avLst>
          </a:prstGeom>
          <a:solidFill>
            <a:schemeClr val="bg2"/>
          </a:solidFill>
          <a:ln/>
        </p:spPr>
      </p:sp>
      <p:sp>
        <p:nvSpPr>
          <p:cNvPr id="13" name="Text 11"/>
          <p:cNvSpPr txBox="1"/>
          <p:nvPr/>
        </p:nvSpPr>
        <p:spPr>
          <a:xfrm>
            <a:off x="4846320" y="3108960"/>
            <a:ext cx="3657600" cy="365760"/>
          </a:xfrm>
          <a:prstGeom prst="rect">
            <a:avLst/>
          </a:prstGeom>
          <a:noFill/>
          <a:ln/>
        </p:spPr>
        <p:txBody>
          <a:bodyPr wrap="square" lIns="0" tIns="0" rIns="0" bIns="0" rtlCol="0" anchor="ctr"/>
          <a:lstStyle/>
          <a:p>
            <a:pPr indent="0" marL="0">
              <a:buNone/>
            </a:pPr>
            <a:r>
              <a:rPr lang="en-US" sz="1600" b="1" dirty="0">
                <a:solidFill>
                  <a:schemeClr val="accent1"/>
                </a:solidFill>
              </a:rPr>
              <a:t>Open data</a:t>
            </a:r>
            <a:endParaRPr lang="en-US" sz="1600" dirty="0"/>
          </a:p>
        </p:txBody>
      </p:sp>
      <p:sp>
        <p:nvSpPr>
          <p:cNvPr id="14" name="Text 12"/>
          <p:cNvSpPr txBox="1"/>
          <p:nvPr/>
        </p:nvSpPr>
        <p:spPr>
          <a:xfrm>
            <a:off x="4846320" y="3520440"/>
            <a:ext cx="3657600" cy="777240"/>
          </a:xfrm>
          <a:prstGeom prst="rect">
            <a:avLst/>
          </a:prstGeom>
          <a:noFill/>
          <a:ln/>
        </p:spPr>
        <p:txBody>
          <a:bodyPr wrap="square" lIns="0" tIns="0" rIns="0" bIns="0" rtlCol="0" anchor="t"/>
          <a:lstStyle/>
          <a:p>
            <a:pPr indent="0" marL="0">
              <a:buNone/>
            </a:pPr>
            <a:r>
              <a:rPr lang="en-US" sz="1300" dirty="0">
                <a:solidFill>
                  <a:srgbClr val="3B4A53"/>
                </a:solidFill>
              </a:rPr>
              <a:t>Per-run CSVs, summary.json and all source code ship with the paper</a:t>
            </a:r>
            <a:endParaRPr lang="en-US" sz="13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914400"/>
          </a:xfrm>
          <a:prstGeom prst="rect">
            <a:avLst/>
          </a:prstGeom>
          <a:noFill/>
          <a:ln/>
        </p:spPr>
        <p:txBody>
          <a:bodyPr wrap="square" lIns="0" tIns="0" rIns="0" bIns="0" rtlCol="0" anchor="ctr"/>
          <a:lstStyle/>
          <a:p>
            <a:pPr algn="l" indent="0" marL="0">
              <a:buNone/>
            </a:pPr>
            <a:r>
              <a:rPr lang="en-US" sz="3000" b="1" dirty="0">
                <a:solidFill>
                  <a:schemeClr val="tx1"/>
                </a:solidFill>
              </a:rPr>
              <a:t>Architecture: a chain of cooperating modules</a:t>
            </a:r>
            <a:endParaRPr lang="en-US" sz="3000" dirty="0"/>
          </a:p>
        </p:txBody>
      </p:sp>
      <p:sp>
        <p:nvSpPr>
          <p:cNvPr id="3" name="Module 1"/>
          <p:cNvSpPr/>
          <p:nvPr/>
        </p:nvSpPr>
        <p:spPr>
          <a:xfrm>
            <a:off x="457200" y="1965960"/>
            <a:ext cx="1188720" cy="1463040"/>
          </a:xfrm>
          <a:prstGeom prst="roundRect">
            <a:avLst>
              <a:gd name="adj" fmla="val 6154"/>
            </a:avLst>
          </a:prstGeom>
          <a:solidFill>
            <a:schemeClr val="bg2"/>
          </a:solidFill>
          <a:ln/>
        </p:spPr>
      </p:sp>
      <p:sp>
        <p:nvSpPr>
          <p:cNvPr id="4" name="Text 2"/>
          <p:cNvSpPr txBox="1"/>
          <p:nvPr/>
        </p:nvSpPr>
        <p:spPr>
          <a:xfrm>
            <a:off x="512064" y="2039112"/>
            <a:ext cx="1078992" cy="566928"/>
          </a:xfrm>
          <a:prstGeom prst="rect">
            <a:avLst/>
          </a:prstGeom>
          <a:noFill/>
          <a:ln/>
        </p:spPr>
        <p:txBody>
          <a:bodyPr wrap="square" lIns="0" tIns="0" rIns="0" bIns="0" rtlCol="0" anchor="ctr"/>
          <a:lstStyle/>
          <a:p>
            <a:pPr algn="ctr" indent="0" marL="0">
              <a:buNone/>
            </a:pPr>
            <a:r>
              <a:rPr lang="en-US" sz="1200" b="1" dirty="0">
                <a:solidFill>
                  <a:schemeClr val="tx1"/>
                </a:solidFill>
              </a:rPr>
              <a:t>Telemetry sources</a:t>
            </a:r>
            <a:endParaRPr lang="en-US" sz="1200" dirty="0"/>
          </a:p>
        </p:txBody>
      </p:sp>
      <p:sp>
        <p:nvSpPr>
          <p:cNvPr id="5" name="Text 3"/>
          <p:cNvSpPr txBox="1"/>
          <p:nvPr/>
        </p:nvSpPr>
        <p:spPr>
          <a:xfrm>
            <a:off x="512064" y="2624328"/>
            <a:ext cx="1078992" cy="749808"/>
          </a:xfrm>
          <a:prstGeom prst="rect">
            <a:avLst/>
          </a:prstGeom>
          <a:noFill/>
          <a:ln/>
        </p:spPr>
        <p:txBody>
          <a:bodyPr wrap="square" lIns="0" tIns="0" rIns="0" bIns="0" rtlCol="0" anchor="t"/>
          <a:lstStyle/>
          <a:p>
            <a:pPr algn="ctr" indent="0" marL="0">
              <a:buNone/>
            </a:pPr>
            <a:r>
              <a:rPr lang="en-US" sz="1100" dirty="0">
                <a:solidFill>
                  <a:srgbClr val="3B4A53"/>
                </a:solidFill>
              </a:rPr>
              <a:t>Alarm, ECG, vitals</a:t>
            </a:r>
            <a:endParaRPr lang="en-US" sz="1100" dirty="0"/>
          </a:p>
        </p:txBody>
      </p:sp>
      <p:sp>
        <p:nvSpPr>
          <p:cNvPr id="6" name="Shape 4"/>
          <p:cNvSpPr/>
          <p:nvPr/>
        </p:nvSpPr>
        <p:spPr>
          <a:xfrm>
            <a:off x="1664208" y="2697480"/>
            <a:ext cx="182880" cy="0"/>
          </a:xfrm>
          <a:prstGeom prst="line">
            <a:avLst/>
          </a:prstGeom>
          <a:noFill/>
          <a:ln w="19050">
            <a:solidFill>
              <a:srgbClr val="0E2A38"/>
            </a:solidFill>
            <a:prstDash val="solid"/>
            <a:tailEnd type="triangle"/>
          </a:ln>
        </p:spPr>
      </p:sp>
      <p:sp>
        <p:nvSpPr>
          <p:cNvPr id="7" name="Module 2"/>
          <p:cNvSpPr/>
          <p:nvPr/>
        </p:nvSpPr>
        <p:spPr>
          <a:xfrm>
            <a:off x="1865376" y="1965960"/>
            <a:ext cx="1188720" cy="1463040"/>
          </a:xfrm>
          <a:prstGeom prst="roundRect">
            <a:avLst>
              <a:gd name="adj" fmla="val 6154"/>
            </a:avLst>
          </a:prstGeom>
          <a:solidFill>
            <a:schemeClr val="bg2"/>
          </a:solidFill>
          <a:ln/>
        </p:spPr>
      </p:sp>
      <p:sp>
        <p:nvSpPr>
          <p:cNvPr id="8" name="Text 6"/>
          <p:cNvSpPr txBox="1"/>
          <p:nvPr/>
        </p:nvSpPr>
        <p:spPr>
          <a:xfrm>
            <a:off x="1920240" y="2039112"/>
            <a:ext cx="1078992" cy="566928"/>
          </a:xfrm>
          <a:prstGeom prst="rect">
            <a:avLst/>
          </a:prstGeom>
          <a:noFill/>
          <a:ln/>
        </p:spPr>
        <p:txBody>
          <a:bodyPr wrap="square" lIns="0" tIns="0" rIns="0" bIns="0" rtlCol="0" anchor="ctr"/>
          <a:lstStyle/>
          <a:p>
            <a:pPr algn="ctr" indent="0" marL="0">
              <a:buNone/>
            </a:pPr>
            <a:r>
              <a:rPr lang="en-US" sz="1200" b="1" dirty="0">
                <a:solidFill>
                  <a:schemeClr val="tx1"/>
                </a:solidFill>
              </a:rPr>
              <a:t>Class marker</a:t>
            </a:r>
            <a:endParaRPr lang="en-US" sz="1200" dirty="0"/>
          </a:p>
        </p:txBody>
      </p:sp>
      <p:sp>
        <p:nvSpPr>
          <p:cNvPr id="9" name="Text 7"/>
          <p:cNvSpPr txBox="1"/>
          <p:nvPr/>
        </p:nvSpPr>
        <p:spPr>
          <a:xfrm>
            <a:off x="1920240" y="2624328"/>
            <a:ext cx="1078992" cy="749808"/>
          </a:xfrm>
          <a:prstGeom prst="rect">
            <a:avLst/>
          </a:prstGeom>
          <a:noFill/>
          <a:ln/>
        </p:spPr>
        <p:txBody>
          <a:bodyPr wrap="square" lIns="0" tIns="0" rIns="0" bIns="0" rtlCol="0" anchor="t"/>
          <a:lstStyle/>
          <a:p>
            <a:pPr algn="ctr" indent="0" marL="0">
              <a:buNone/>
            </a:pPr>
            <a:r>
              <a:rPr lang="en-US" sz="1100" dirty="0">
                <a:solidFill>
                  <a:srgbClr val="3B4A53"/>
                </a:solidFill>
              </a:rPr>
              <a:t>Class tag, deadline, sequence no.</a:t>
            </a:r>
            <a:endParaRPr lang="en-US" sz="1100" dirty="0"/>
          </a:p>
        </p:txBody>
      </p:sp>
      <p:sp>
        <p:nvSpPr>
          <p:cNvPr id="10" name="Shape 8"/>
          <p:cNvSpPr/>
          <p:nvPr/>
        </p:nvSpPr>
        <p:spPr>
          <a:xfrm>
            <a:off x="3072384" y="2697480"/>
            <a:ext cx="182880" cy="0"/>
          </a:xfrm>
          <a:prstGeom prst="line">
            <a:avLst/>
          </a:prstGeom>
          <a:noFill/>
          <a:ln w="19050">
            <a:solidFill>
              <a:srgbClr val="0E2A38"/>
            </a:solidFill>
            <a:prstDash val="solid"/>
            <a:tailEnd type="triangle"/>
          </a:ln>
        </p:spPr>
      </p:sp>
      <p:sp>
        <p:nvSpPr>
          <p:cNvPr id="11" name="Module 3"/>
          <p:cNvSpPr/>
          <p:nvPr/>
        </p:nvSpPr>
        <p:spPr>
          <a:xfrm>
            <a:off x="3273552" y="1965960"/>
            <a:ext cx="1188720" cy="1463040"/>
          </a:xfrm>
          <a:prstGeom prst="roundRect">
            <a:avLst>
              <a:gd name="adj" fmla="val 6154"/>
            </a:avLst>
          </a:prstGeom>
          <a:solidFill>
            <a:schemeClr val="accent1"/>
          </a:solidFill>
          <a:ln/>
        </p:spPr>
      </p:sp>
      <p:sp>
        <p:nvSpPr>
          <p:cNvPr id="12" name="Text 10"/>
          <p:cNvSpPr txBox="1"/>
          <p:nvPr/>
        </p:nvSpPr>
        <p:spPr>
          <a:xfrm>
            <a:off x="3328416" y="2039112"/>
            <a:ext cx="1078992" cy="566928"/>
          </a:xfrm>
          <a:prstGeom prst="rect">
            <a:avLst/>
          </a:prstGeom>
          <a:noFill/>
          <a:ln/>
        </p:spPr>
        <p:txBody>
          <a:bodyPr wrap="square" lIns="0" tIns="0" rIns="0" bIns="0" rtlCol="0" anchor="ctr"/>
          <a:lstStyle/>
          <a:p>
            <a:pPr algn="ctr" indent="0" marL="0">
              <a:buNone/>
            </a:pPr>
            <a:r>
              <a:rPr lang="en-US" sz="1200" b="1" dirty="0">
                <a:solidFill>
                  <a:schemeClr val="bg1"/>
                </a:solidFill>
              </a:rPr>
              <a:t>Reliability engine</a:t>
            </a:r>
            <a:endParaRPr lang="en-US" sz="1200" dirty="0"/>
          </a:p>
        </p:txBody>
      </p:sp>
      <p:sp>
        <p:nvSpPr>
          <p:cNvPr id="13" name="Text 11"/>
          <p:cNvSpPr txBox="1"/>
          <p:nvPr/>
        </p:nvSpPr>
        <p:spPr>
          <a:xfrm>
            <a:off x="3328416" y="2624328"/>
            <a:ext cx="1078992" cy="749808"/>
          </a:xfrm>
          <a:prstGeom prst="rect">
            <a:avLst/>
          </a:prstGeom>
          <a:noFill/>
          <a:ln/>
        </p:spPr>
        <p:txBody>
          <a:bodyPr wrap="square" lIns="0" tIns="0" rIns="0" bIns="0" rtlCol="0" anchor="t"/>
          <a:lstStyle/>
          <a:p>
            <a:pPr algn="ctr" indent="0" marL="0">
              <a:buNone/>
            </a:pPr>
            <a:r>
              <a:rPr lang="en-US" sz="1100" dirty="0">
                <a:solidFill>
                  <a:schemeClr val="bg1"/>
                </a:solidFill>
              </a:rPr>
              <a:t>ARQ, FEC, alarm copies, gate</a:t>
            </a:r>
            <a:endParaRPr lang="en-US" sz="1100" dirty="0"/>
          </a:p>
        </p:txBody>
      </p:sp>
      <p:sp>
        <p:nvSpPr>
          <p:cNvPr id="14" name="Shape 12"/>
          <p:cNvSpPr/>
          <p:nvPr/>
        </p:nvSpPr>
        <p:spPr>
          <a:xfrm>
            <a:off x="4480560" y="2697480"/>
            <a:ext cx="182880" cy="0"/>
          </a:xfrm>
          <a:prstGeom prst="line">
            <a:avLst/>
          </a:prstGeom>
          <a:noFill/>
          <a:ln w="19050">
            <a:solidFill>
              <a:srgbClr val="0E2A38"/>
            </a:solidFill>
            <a:prstDash val="solid"/>
            <a:tailEnd type="triangle"/>
          </a:ln>
        </p:spPr>
      </p:sp>
      <p:sp>
        <p:nvSpPr>
          <p:cNvPr id="15" name="Module 4"/>
          <p:cNvSpPr/>
          <p:nvPr/>
        </p:nvSpPr>
        <p:spPr>
          <a:xfrm>
            <a:off x="4681728" y="1965960"/>
            <a:ext cx="1188720" cy="1463040"/>
          </a:xfrm>
          <a:prstGeom prst="roundRect">
            <a:avLst>
              <a:gd name="adj" fmla="val 6154"/>
            </a:avLst>
          </a:prstGeom>
          <a:solidFill>
            <a:schemeClr val="accent1"/>
          </a:solidFill>
          <a:ln/>
        </p:spPr>
      </p:sp>
      <p:sp>
        <p:nvSpPr>
          <p:cNvPr id="16" name="Text 14"/>
          <p:cNvSpPr txBox="1"/>
          <p:nvPr/>
        </p:nvSpPr>
        <p:spPr>
          <a:xfrm>
            <a:off x="4736592" y="2039112"/>
            <a:ext cx="1078992" cy="566928"/>
          </a:xfrm>
          <a:prstGeom prst="rect">
            <a:avLst/>
          </a:prstGeom>
          <a:noFill/>
          <a:ln/>
        </p:spPr>
        <p:txBody>
          <a:bodyPr wrap="square" lIns="0" tIns="0" rIns="0" bIns="0" rtlCol="0" anchor="ctr"/>
          <a:lstStyle/>
          <a:p>
            <a:pPr algn="ctr" indent="0" marL="0">
              <a:buNone/>
            </a:pPr>
            <a:r>
              <a:rPr lang="en-US" sz="1200" b="1" dirty="0">
                <a:solidFill>
                  <a:schemeClr val="bg1"/>
                </a:solidFill>
              </a:rPr>
              <a:t>AP priority queue</a:t>
            </a:r>
            <a:endParaRPr lang="en-US" sz="1200" dirty="0"/>
          </a:p>
        </p:txBody>
      </p:sp>
      <p:sp>
        <p:nvSpPr>
          <p:cNvPr id="17" name="Text 15"/>
          <p:cNvSpPr txBox="1"/>
          <p:nvPr/>
        </p:nvSpPr>
        <p:spPr>
          <a:xfrm>
            <a:off x="4736592" y="2624328"/>
            <a:ext cx="1078992" cy="749808"/>
          </a:xfrm>
          <a:prstGeom prst="rect">
            <a:avLst/>
          </a:prstGeom>
          <a:noFill/>
          <a:ln/>
        </p:spPr>
        <p:txBody>
          <a:bodyPr wrap="square" lIns="0" tIns="0" rIns="0" bIns="0" rtlCol="0" anchor="t"/>
          <a:lstStyle/>
          <a:p>
            <a:pPr algn="ctr" indent="0" marL="0">
              <a:buNone/>
            </a:pPr>
            <a:r>
              <a:rPr lang="en-US" sz="1100" dirty="0">
                <a:solidFill>
                  <a:schemeClr val="bg1"/>
                </a:solidFill>
              </a:rPr>
              <a:t>Strict priority, deadline drop</a:t>
            </a:r>
            <a:endParaRPr lang="en-US" sz="1100" dirty="0"/>
          </a:p>
        </p:txBody>
      </p:sp>
      <p:sp>
        <p:nvSpPr>
          <p:cNvPr id="18" name="Shape 16"/>
          <p:cNvSpPr/>
          <p:nvPr/>
        </p:nvSpPr>
        <p:spPr>
          <a:xfrm>
            <a:off x="5888736" y="2697480"/>
            <a:ext cx="182880" cy="0"/>
          </a:xfrm>
          <a:prstGeom prst="line">
            <a:avLst/>
          </a:prstGeom>
          <a:noFill/>
          <a:ln w="19050">
            <a:solidFill>
              <a:srgbClr val="0E2A38"/>
            </a:solidFill>
            <a:prstDash val="solid"/>
            <a:tailEnd type="triangle"/>
          </a:ln>
        </p:spPr>
      </p:sp>
      <p:sp>
        <p:nvSpPr>
          <p:cNvPr id="19" name="Module 5"/>
          <p:cNvSpPr/>
          <p:nvPr/>
        </p:nvSpPr>
        <p:spPr>
          <a:xfrm>
            <a:off x="6089904" y="1965960"/>
            <a:ext cx="1188720" cy="1463040"/>
          </a:xfrm>
          <a:prstGeom prst="roundRect">
            <a:avLst>
              <a:gd name="adj" fmla="val 6154"/>
            </a:avLst>
          </a:prstGeom>
          <a:solidFill>
            <a:schemeClr val="bg2"/>
          </a:solidFill>
          <a:ln/>
        </p:spPr>
      </p:sp>
      <p:sp>
        <p:nvSpPr>
          <p:cNvPr id="20" name="Text 18"/>
          <p:cNvSpPr txBox="1"/>
          <p:nvPr/>
        </p:nvSpPr>
        <p:spPr>
          <a:xfrm>
            <a:off x="6144768" y="2039112"/>
            <a:ext cx="1078992" cy="566928"/>
          </a:xfrm>
          <a:prstGeom prst="rect">
            <a:avLst/>
          </a:prstGeom>
          <a:noFill/>
          <a:ln/>
        </p:spPr>
        <p:txBody>
          <a:bodyPr wrap="square" lIns="0" tIns="0" rIns="0" bIns="0" rtlCol="0" anchor="ctr"/>
          <a:lstStyle/>
          <a:p>
            <a:pPr algn="ctr" indent="0" marL="0">
              <a:buNone/>
            </a:pPr>
            <a:r>
              <a:rPr lang="en-US" sz="1200" b="1" dirty="0">
                <a:solidFill>
                  <a:schemeClr val="tx1"/>
                </a:solidFill>
              </a:rPr>
              <a:t>Wireless channel</a:t>
            </a:r>
            <a:endParaRPr lang="en-US" sz="1200" dirty="0"/>
          </a:p>
        </p:txBody>
      </p:sp>
      <p:sp>
        <p:nvSpPr>
          <p:cNvPr id="21" name="Text 19"/>
          <p:cNvSpPr txBox="1"/>
          <p:nvPr/>
        </p:nvSpPr>
        <p:spPr>
          <a:xfrm>
            <a:off x="6144768" y="2624328"/>
            <a:ext cx="1078992" cy="749808"/>
          </a:xfrm>
          <a:prstGeom prst="rect">
            <a:avLst/>
          </a:prstGeom>
          <a:noFill/>
          <a:ln/>
        </p:spPr>
        <p:txBody>
          <a:bodyPr wrap="square" lIns="0" tIns="0" rIns="0" bIns="0" rtlCol="0" anchor="t"/>
          <a:lstStyle/>
          <a:p>
            <a:pPr algn="ctr" indent="0" marL="0">
              <a:buNone/>
            </a:pPr>
            <a:r>
              <a:rPr lang="en-US" sz="1100" dirty="0">
                <a:solidFill>
                  <a:srgbClr val="3B4A53"/>
                </a:solidFill>
              </a:rPr>
              <a:t>Bursty loss, shared capacity</a:t>
            </a:r>
            <a:endParaRPr lang="en-US" sz="1100" dirty="0"/>
          </a:p>
        </p:txBody>
      </p:sp>
      <p:sp>
        <p:nvSpPr>
          <p:cNvPr id="22" name="Shape 20"/>
          <p:cNvSpPr/>
          <p:nvPr/>
        </p:nvSpPr>
        <p:spPr>
          <a:xfrm>
            <a:off x="7296912" y="2697480"/>
            <a:ext cx="182880" cy="0"/>
          </a:xfrm>
          <a:prstGeom prst="line">
            <a:avLst/>
          </a:prstGeom>
          <a:noFill/>
          <a:ln w="19050">
            <a:solidFill>
              <a:srgbClr val="0E2A38"/>
            </a:solidFill>
            <a:prstDash val="solid"/>
            <a:tailEnd type="triangle"/>
          </a:ln>
        </p:spPr>
      </p:sp>
      <p:sp>
        <p:nvSpPr>
          <p:cNvPr id="23" name="Module 6"/>
          <p:cNvSpPr/>
          <p:nvPr/>
        </p:nvSpPr>
        <p:spPr>
          <a:xfrm>
            <a:off x="7498080" y="1965960"/>
            <a:ext cx="1188720" cy="1463040"/>
          </a:xfrm>
          <a:prstGeom prst="roundRect">
            <a:avLst>
              <a:gd name="adj" fmla="val 6154"/>
            </a:avLst>
          </a:prstGeom>
          <a:solidFill>
            <a:schemeClr val="bg2"/>
          </a:solidFill>
          <a:ln/>
        </p:spPr>
      </p:sp>
      <p:sp>
        <p:nvSpPr>
          <p:cNvPr id="24" name="Text 22"/>
          <p:cNvSpPr txBox="1"/>
          <p:nvPr/>
        </p:nvSpPr>
        <p:spPr>
          <a:xfrm>
            <a:off x="7552944" y="2039112"/>
            <a:ext cx="1078992" cy="566928"/>
          </a:xfrm>
          <a:prstGeom prst="rect">
            <a:avLst/>
          </a:prstGeom>
          <a:noFill/>
          <a:ln/>
        </p:spPr>
        <p:txBody>
          <a:bodyPr wrap="square" lIns="0" tIns="0" rIns="0" bIns="0" rtlCol="0" anchor="ctr"/>
          <a:lstStyle/>
          <a:p>
            <a:pPr algn="ctr" indent="0" marL="0">
              <a:buNone/>
            </a:pPr>
            <a:r>
              <a:rPr lang="en-US" sz="1200" b="1" dirty="0">
                <a:solidFill>
                  <a:schemeClr val="tx1"/>
                </a:solidFill>
              </a:rPr>
              <a:t>Receiver</a:t>
            </a:r>
            <a:endParaRPr lang="en-US" sz="1200" dirty="0"/>
          </a:p>
        </p:txBody>
      </p:sp>
      <p:sp>
        <p:nvSpPr>
          <p:cNvPr id="25" name="Text 23"/>
          <p:cNvSpPr txBox="1"/>
          <p:nvPr/>
        </p:nvSpPr>
        <p:spPr>
          <a:xfrm>
            <a:off x="7552944" y="2624328"/>
            <a:ext cx="1078992" cy="749808"/>
          </a:xfrm>
          <a:prstGeom prst="rect">
            <a:avLst/>
          </a:prstGeom>
          <a:noFill/>
          <a:ln/>
        </p:spPr>
        <p:txBody>
          <a:bodyPr wrap="square" lIns="0" tIns="0" rIns="0" bIns="0" rtlCol="0" anchor="t"/>
          <a:lstStyle/>
          <a:p>
            <a:pPr algn="ctr" indent="0" marL="0">
              <a:buNone/>
            </a:pPr>
            <a:r>
              <a:rPr lang="en-US" sz="1100" dirty="0">
                <a:solidFill>
                  <a:srgbClr val="3B4A53"/>
                </a:solidFill>
              </a:rPr>
              <a:t>Out-of-order delivery, FEC decode, ACK</a:t>
            </a:r>
            <a:endParaRPr lang="en-US" sz="1100" dirty="0"/>
          </a:p>
        </p:txBody>
      </p:sp>
      <p:sp>
        <p:nvSpPr>
          <p:cNvPr id="26" name="Text 24"/>
          <p:cNvSpPr txBox="1"/>
          <p:nvPr/>
        </p:nvSpPr>
        <p:spPr>
          <a:xfrm>
            <a:off x="4544568" y="1261872"/>
            <a:ext cx="1463040" cy="274320"/>
          </a:xfrm>
          <a:prstGeom prst="rect">
            <a:avLst/>
          </a:prstGeom>
          <a:noFill/>
          <a:ln/>
        </p:spPr>
        <p:txBody>
          <a:bodyPr wrap="square" lIns="0" tIns="0" rIns="0" bIns="0" rtlCol="0" anchor="ctr"/>
          <a:lstStyle/>
          <a:p>
            <a:pPr algn="ctr" indent="0" marL="0">
              <a:buNone/>
            </a:pPr>
            <a:r>
              <a:rPr lang="en-US" sz="1100" b="1" dirty="0">
                <a:solidFill>
                  <a:srgbClr val="E4572E"/>
                </a:solidFill>
              </a:rPr>
              <a:t>Bulk TCP cross traffic</a:t>
            </a:r>
            <a:endParaRPr lang="en-US" sz="1100" dirty="0"/>
          </a:p>
        </p:txBody>
      </p:sp>
      <p:sp>
        <p:nvSpPr>
          <p:cNvPr id="27" name="Shape 25"/>
          <p:cNvSpPr/>
          <p:nvPr/>
        </p:nvSpPr>
        <p:spPr>
          <a:xfrm>
            <a:off x="5276088" y="1554480"/>
            <a:ext cx="0" cy="384048"/>
          </a:xfrm>
          <a:prstGeom prst="line">
            <a:avLst/>
          </a:prstGeom>
          <a:noFill/>
          <a:ln w="19050">
            <a:solidFill>
              <a:srgbClr val="E4572E"/>
            </a:solidFill>
            <a:prstDash val="dash"/>
            <a:tailEnd type="triangle"/>
          </a:ln>
        </p:spPr>
      </p:sp>
      <p:sp>
        <p:nvSpPr>
          <p:cNvPr id="28" name="Feedback down"/>
          <p:cNvSpPr/>
          <p:nvPr/>
        </p:nvSpPr>
        <p:spPr>
          <a:xfrm>
            <a:off x="8092440" y="3447288"/>
            <a:ext cx="0" cy="621792"/>
          </a:xfrm>
          <a:prstGeom prst="line">
            <a:avLst/>
          </a:prstGeom>
          <a:noFill/>
          <a:ln w="19050">
            <a:solidFill>
              <a:srgbClr val="0E2A38"/>
            </a:solidFill>
            <a:prstDash val="solid"/>
          </a:ln>
        </p:spPr>
      </p:sp>
      <p:sp>
        <p:nvSpPr>
          <p:cNvPr id="29" name="Feedback across"/>
          <p:cNvSpPr/>
          <p:nvPr/>
        </p:nvSpPr>
        <p:spPr>
          <a:xfrm>
            <a:off x="3867912" y="4069080"/>
            <a:ext cx="4224528" cy="0"/>
          </a:xfrm>
          <a:prstGeom prst="line">
            <a:avLst/>
          </a:prstGeom>
          <a:noFill/>
          <a:ln w="19050">
            <a:solidFill>
              <a:srgbClr val="0E2A38"/>
            </a:solidFill>
            <a:prstDash val="solid"/>
          </a:ln>
        </p:spPr>
      </p:sp>
      <p:sp>
        <p:nvSpPr>
          <p:cNvPr id="30" name="Shape 28"/>
          <p:cNvSpPr/>
          <p:nvPr/>
        </p:nvSpPr>
        <p:spPr>
          <a:xfrm flipV="1">
            <a:off x="3867912" y="3456432"/>
            <a:ext cx="0" cy="612648"/>
          </a:xfrm>
          <a:prstGeom prst="line">
            <a:avLst/>
          </a:prstGeom>
          <a:noFill/>
          <a:ln w="19050">
            <a:solidFill>
              <a:srgbClr val="0E2A38"/>
            </a:solidFill>
            <a:prstDash val="solid"/>
            <a:tailEnd type="triangle"/>
          </a:ln>
        </p:spPr>
      </p:sp>
      <p:sp>
        <p:nvSpPr>
          <p:cNvPr id="31" name="Text 29"/>
          <p:cNvSpPr txBox="1"/>
          <p:nvPr/>
        </p:nvSpPr>
        <p:spPr>
          <a:xfrm>
            <a:off x="4142232" y="4142232"/>
            <a:ext cx="3675888" cy="292608"/>
          </a:xfrm>
          <a:prstGeom prst="rect">
            <a:avLst/>
          </a:prstGeom>
          <a:noFill/>
          <a:ln/>
        </p:spPr>
        <p:txBody>
          <a:bodyPr wrap="square" lIns="0" tIns="0" rIns="0" bIns="0" rtlCol="0" anchor="ctr"/>
          <a:lstStyle/>
          <a:p>
            <a:pPr algn="ctr" indent="0" marL="0">
              <a:buNone/>
            </a:pPr>
            <a:r>
              <a:rPr lang="en-US" sz="1200" b="1" dirty="0">
                <a:solidFill>
                  <a:schemeClr val="tx1"/>
                </a:solidFill>
              </a:rPr>
              <a:t>Feedback: ACK, RTT, loss estimate</a:t>
            </a:r>
            <a:endParaRPr lang="en-US" sz="12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914400"/>
          </a:xfrm>
          <a:prstGeom prst="rect">
            <a:avLst/>
          </a:prstGeom>
          <a:noFill/>
          <a:ln/>
        </p:spPr>
        <p:txBody>
          <a:bodyPr wrap="square" lIns="0" tIns="0" rIns="0" bIns="0" rtlCol="0" anchor="ctr"/>
          <a:lstStyle/>
          <a:p>
            <a:pPr algn="l" indent="0" marL="0">
              <a:buNone/>
            </a:pPr>
            <a:r>
              <a:rPr lang="en-US" sz="3000" b="1" dirty="0">
                <a:solidFill>
                  <a:schemeClr val="tx1"/>
                </a:solidFill>
              </a:rPr>
              <a:t>Deadline-aware retransmission: repair only what can still arrive</a:t>
            </a:r>
            <a:endParaRPr lang="en-US" sz="3000" dirty="0"/>
          </a:p>
        </p:txBody>
      </p:sp>
      <p:sp>
        <p:nvSpPr>
          <p:cNvPr id="3" name="Rules card"/>
          <p:cNvSpPr/>
          <p:nvPr/>
        </p:nvSpPr>
        <p:spPr>
          <a:xfrm>
            <a:off x="457200" y="1371600"/>
            <a:ext cx="4754880" cy="3154680"/>
          </a:xfrm>
          <a:prstGeom prst="roundRect">
            <a:avLst>
              <a:gd name="adj" fmla="val 2319"/>
            </a:avLst>
          </a:prstGeom>
          <a:solidFill>
            <a:schemeClr val="bg2"/>
          </a:solidFill>
          <a:ln/>
        </p:spPr>
      </p:sp>
      <p:sp>
        <p:nvSpPr>
          <p:cNvPr id="4" name="Text 2"/>
          <p:cNvSpPr txBox="1"/>
          <p:nvPr/>
        </p:nvSpPr>
        <p:spPr>
          <a:xfrm>
            <a:off x="640080" y="1508760"/>
            <a:ext cx="4389120" cy="2926080"/>
          </a:xfrm>
          <a:prstGeom prst="rect">
            <a:avLst/>
          </a:prstGeom>
          <a:noFill/>
          <a:ln/>
        </p:spPr>
        <p:txBody>
          <a:bodyPr wrap="square" lIns="0" tIns="0" rIns="0" bIns="0" rtlCol="0" anchor="t"/>
          <a:lstStyle/>
          <a:p>
            <a:pPr indent="0" marL="0">
              <a:buNone/>
            </a:pPr>
            <a:r>
              <a:rPr lang="en-US" sz="1400" b="1" dirty="0">
                <a:solidFill>
                  <a:schemeClr val="tx1"/>
                </a:solidFill>
              </a:rPr>
              <a:t>Timer</a:t>
            </a:r>
            <a:endParaRPr lang="en-US" sz="1400" dirty="0"/>
          </a:p>
          <a:p>
            <a:pPr indent="0" marL="0">
              <a:buNone/>
            </a:pPr>
            <a:r>
              <a:rPr lang="en-US" sz="1600" b="1" dirty="0">
                <a:solidFill>
                  <a:schemeClr val="accent1"/>
                </a:solidFill>
              </a:rPr>
              <a:t>RTO = max(30 ms, srtt + 4 rttvar)</a:t>
            </a:r>
            <a:endParaRPr lang="en-US" sz="1400" dirty="0"/>
          </a:p>
          <a:p>
            <a:pPr indent="0" marL="0">
              <a:buNone/>
            </a:pPr>
            <a:r>
              <a:rPr lang="en-US" sz="800" dirty="0">
                <a:solidFill>
                  <a:srgbClr val="000000"/>
                </a:solidFill>
              </a:rPr>
              <a:t> </a:t>
            </a:r>
            <a:endParaRPr lang="en-US" sz="1400" dirty="0"/>
          </a:p>
          <a:p>
            <a:pPr indent="0" marL="0">
              <a:buNone/>
            </a:pPr>
            <a:r>
              <a:rPr lang="en-US" sz="1400" b="1" dirty="0">
                <a:solidFill>
                  <a:schemeClr val="tx1"/>
                </a:solidFill>
              </a:rPr>
              <a:t>Retransmit only if</a:t>
            </a:r>
            <a:endParaRPr lang="en-US" sz="1400" dirty="0"/>
          </a:p>
          <a:p>
            <a:pPr indent="0" marL="0">
              <a:buNone/>
            </a:pPr>
            <a:r>
              <a:rPr lang="en-US" sz="1600" b="1" dirty="0">
                <a:solidFill>
                  <a:schemeClr val="accent1"/>
                </a:solidFill>
              </a:rPr>
              <a:t>r &lt; 3  and  t + srtt / 2 ≤ deadline</a:t>
            </a:r>
            <a:endParaRPr lang="en-US" sz="1400" dirty="0"/>
          </a:p>
          <a:p>
            <a:pPr indent="0" marL="0">
              <a:buNone/>
            </a:pPr>
            <a:r>
              <a:rPr lang="en-US" sz="800" dirty="0">
                <a:solidFill>
                  <a:srgbClr val="000000"/>
                </a:solidFill>
              </a:rPr>
              <a:t> </a:t>
            </a:r>
            <a:endParaRPr lang="en-US" sz="1400" dirty="0"/>
          </a:p>
          <a:p>
            <a:pPr indent="0" marL="0">
              <a:buNone/>
            </a:pPr>
            <a:r>
              <a:rPr lang="en-US" sz="1400" dirty="0">
                <a:solidFill>
                  <a:srgbClr val="3B4A53"/>
                </a:solidFill>
              </a:rPr>
              <a:t>Otherwise abandon the message and free capacity for fresher data. RTT is sampled from first transmissions only (Karn's rule); timers back off by 1.5 per retry.</a:t>
            </a:r>
            <a:endParaRPr lang="en-US" sz="1400" dirty="0"/>
          </a:p>
        </p:txBody>
      </p:sp>
      <p:sp>
        <p:nvSpPr>
          <p:cNvPr id="5" name="Stat floor"/>
          <p:cNvSpPr/>
          <p:nvPr/>
        </p:nvSpPr>
        <p:spPr>
          <a:xfrm>
            <a:off x="5486400" y="1371600"/>
            <a:ext cx="3200400" cy="1463040"/>
          </a:xfrm>
          <a:prstGeom prst="roundRect">
            <a:avLst>
              <a:gd name="adj" fmla="val 5000"/>
            </a:avLst>
          </a:prstGeom>
          <a:solidFill>
            <a:schemeClr val="bg2"/>
          </a:solidFill>
          <a:ln/>
        </p:spPr>
      </p:sp>
      <p:sp>
        <p:nvSpPr>
          <p:cNvPr id="6" name="Text 4"/>
          <p:cNvSpPr txBox="1"/>
          <p:nvPr/>
        </p:nvSpPr>
        <p:spPr>
          <a:xfrm>
            <a:off x="5623560" y="1481328"/>
            <a:ext cx="2926080" cy="731520"/>
          </a:xfrm>
          <a:prstGeom prst="rect">
            <a:avLst/>
          </a:prstGeom>
          <a:noFill/>
          <a:ln/>
        </p:spPr>
        <p:txBody>
          <a:bodyPr wrap="square" lIns="0" tIns="0" rIns="0" bIns="0" rtlCol="0" anchor="ctr">
            <a:normAutofit/>
          </a:bodyPr>
          <a:lstStyle/>
          <a:p>
            <a:pPr indent="0" marL="0">
              <a:buNone/>
            </a:pPr>
            <a:r>
              <a:rPr lang="en-US" sz="3600" b="1" dirty="0">
                <a:solidFill>
                  <a:schemeClr val="accent1"/>
                </a:solidFill>
              </a:rPr>
              <a:t>30 ms</a:t>
            </a:r>
            <a:endParaRPr lang="en-US" sz="3600" dirty="0"/>
          </a:p>
        </p:txBody>
      </p:sp>
      <p:sp>
        <p:nvSpPr>
          <p:cNvPr id="7" name="Text 5"/>
          <p:cNvSpPr txBox="1"/>
          <p:nvPr/>
        </p:nvSpPr>
        <p:spPr>
          <a:xfrm>
            <a:off x="5623560" y="2220163"/>
            <a:ext cx="2926080" cy="526694"/>
          </a:xfrm>
          <a:prstGeom prst="rect">
            <a:avLst/>
          </a:prstGeom>
          <a:noFill/>
          <a:ln/>
        </p:spPr>
        <p:txBody>
          <a:bodyPr wrap="square" lIns="0" tIns="0" rIns="0" bIns="0" rtlCol="0" anchor="t"/>
          <a:lstStyle/>
          <a:p>
            <a:pPr indent="0" marL="0">
              <a:buNone/>
            </a:pPr>
            <a:r>
              <a:rPr lang="en-US" sz="1200" dirty="0">
                <a:solidFill>
                  <a:srgbClr val="3B4A53"/>
                </a:solidFill>
              </a:rPr>
              <a:t>timer floor in the proposed design</a:t>
            </a:r>
            <a:endParaRPr lang="en-US" sz="1200" dirty="0"/>
          </a:p>
        </p:txBody>
      </p:sp>
      <p:sp>
        <p:nvSpPr>
          <p:cNvPr id="8" name="Stat TCP floor"/>
          <p:cNvSpPr/>
          <p:nvPr/>
        </p:nvSpPr>
        <p:spPr>
          <a:xfrm>
            <a:off x="5486400" y="3017520"/>
            <a:ext cx="3200400" cy="1508760"/>
          </a:xfrm>
          <a:prstGeom prst="roundRect">
            <a:avLst>
              <a:gd name="adj" fmla="val 4848"/>
            </a:avLst>
          </a:prstGeom>
          <a:solidFill>
            <a:schemeClr val="bg2"/>
          </a:solidFill>
          <a:ln/>
        </p:spPr>
      </p:sp>
      <p:sp>
        <p:nvSpPr>
          <p:cNvPr id="9" name="Text 7"/>
          <p:cNvSpPr txBox="1"/>
          <p:nvPr/>
        </p:nvSpPr>
        <p:spPr>
          <a:xfrm>
            <a:off x="5623560" y="3127248"/>
            <a:ext cx="2926080" cy="754380"/>
          </a:xfrm>
          <a:prstGeom prst="rect">
            <a:avLst/>
          </a:prstGeom>
          <a:noFill/>
          <a:ln/>
        </p:spPr>
        <p:txBody>
          <a:bodyPr wrap="square" lIns="0" tIns="0" rIns="0" bIns="0" rtlCol="0" anchor="ctr">
            <a:normAutofit/>
          </a:bodyPr>
          <a:lstStyle/>
          <a:p>
            <a:pPr indent="0" marL="0">
              <a:buNone/>
            </a:pPr>
            <a:r>
              <a:rPr lang="en-US" sz="3600" b="1" dirty="0">
                <a:solidFill>
                  <a:schemeClr val="accent2"/>
                </a:solidFill>
              </a:rPr>
              <a:t>200 ms</a:t>
            </a:r>
            <a:endParaRPr lang="en-US" sz="3600" dirty="0"/>
          </a:p>
        </p:txBody>
      </p:sp>
      <p:sp>
        <p:nvSpPr>
          <p:cNvPr id="10" name="Text 8"/>
          <p:cNvSpPr txBox="1"/>
          <p:nvPr/>
        </p:nvSpPr>
        <p:spPr>
          <a:xfrm>
            <a:off x="5623560" y="3892601"/>
            <a:ext cx="2926080" cy="543154"/>
          </a:xfrm>
          <a:prstGeom prst="rect">
            <a:avLst/>
          </a:prstGeom>
          <a:noFill/>
          <a:ln/>
        </p:spPr>
        <p:txBody>
          <a:bodyPr wrap="square" lIns="0" tIns="0" rIns="0" bIns="0" rtlCol="0" anchor="t"/>
          <a:lstStyle/>
          <a:p>
            <a:pPr indent="0" marL="0">
              <a:buNone/>
            </a:pPr>
            <a:r>
              <a:rPr lang="en-US" sz="1200" dirty="0">
                <a:solidFill>
                  <a:srgbClr val="3B4A53"/>
                </a:solidFill>
              </a:rPr>
              <a:t>minimum retransmission timer in common TCP implementations</a:t>
            </a:r>
            <a:endParaRPr lang="en-US" sz="12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914400"/>
          </a:xfrm>
          <a:prstGeom prst="rect">
            <a:avLst/>
          </a:prstGeom>
          <a:noFill/>
          <a:ln/>
        </p:spPr>
        <p:txBody>
          <a:bodyPr wrap="square" lIns="0" tIns="0" rIns="0" bIns="0" rtlCol="0" anchor="ctr"/>
          <a:lstStyle/>
          <a:p>
            <a:pPr algn="l" indent="0" marL="0">
              <a:buNone/>
            </a:pPr>
            <a:r>
              <a:rPr lang="en-US" sz="3000" b="1" dirty="0">
                <a:solidFill>
                  <a:schemeClr val="tx1"/>
                </a:solidFill>
              </a:rPr>
              <a:t>Redundancy, switched off when queueing is the cause</a:t>
            </a:r>
            <a:endParaRPr lang="en-US" sz="3000" dirty="0"/>
          </a:p>
        </p:txBody>
      </p:sp>
      <p:sp>
        <p:nvSpPr>
          <p:cNvPr id="3" name="Text 1"/>
          <p:cNvSpPr txBox="1"/>
          <p:nvPr/>
        </p:nvSpPr>
        <p:spPr>
          <a:xfrm>
            <a:off x="457200" y="1325880"/>
            <a:ext cx="4023360" cy="320040"/>
          </a:xfrm>
          <a:prstGeom prst="rect">
            <a:avLst/>
          </a:prstGeom>
          <a:noFill/>
          <a:ln/>
        </p:spPr>
        <p:txBody>
          <a:bodyPr wrap="square" lIns="0" tIns="0" rIns="0" bIns="0" rtlCol="0" anchor="ctr"/>
          <a:lstStyle/>
          <a:p>
            <a:pPr indent="0" marL="0">
              <a:buNone/>
            </a:pPr>
            <a:r>
              <a:rPr lang="en-US" sz="1600" b="1" dirty="0">
                <a:solidFill>
                  <a:schemeClr val="tx1"/>
                </a:solidFill>
              </a:rPr>
              <a:t>Loss-adaptive FEC for ECG</a:t>
            </a:r>
            <a:endParaRPr lang="en-US" sz="1600" dirty="0"/>
          </a:p>
        </p:txBody>
      </p:sp>
      <p:graphicFrame>
        <p:nvGraphicFramePr>
          <p:cNvPr id="13" name="FEC table"/>
          <p:cNvGraphicFramePr>
            <a:graphicFrameLocks noGrp="1"/>
          </p:cNvGraphicFramePr>
          <p:nvPr>
            <p:extLst>
              <p:ext uri="{D42A27DB-BD31-4B8C-83A1-F6EECF244321}">
                <p14:modId xmlns:p14="http://schemas.microsoft.com/office/powerpoint/2010/main" val="1579011935"/>
              </p:ext>
            </p:extLst>
          </p:nvPr>
        </p:nvGraphicFramePr>
        <p:xfrm>
          <a:off x="457200" y="1691640"/>
          <a:ext cx="4023360" cy="914400"/>
        </p:xfrm>
        <a:graphic>
          <a:graphicData uri="http://schemas.openxmlformats.org/drawingml/2006/table">
            <a:tbl>
              <a:tblPr/>
              <a:tblGrid>
                <a:gridCol w="1280160"/>
                <a:gridCol w="1371600"/>
                <a:gridCol w="1371600"/>
              </a:tblGrid>
              <a:tr h="329184">
                <a:tc>
                  <a:txBody>
                    <a:bodyPr/>
                    <a:lstStyle/>
                    <a:p>
                      <a:pPr indent="0" marL="0">
                        <a:buNone/>
                      </a:pPr>
                      <a:r>
                        <a:rPr lang="en-US" sz="1200" b="1" dirty="0">
                          <a:solidFill>
                            <a:srgbClr val="FFFFFF"/>
                          </a:solidFill>
                        </a:rPr>
                        <a:t>Loss estimate</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0E7C86"/>
                    </a:solidFill>
                  </a:tcPr>
                </a:tc>
                <a:tc>
                  <a:txBody>
                    <a:bodyPr/>
                    <a:lstStyle/>
                    <a:p>
                      <a:pPr indent="0" marL="0">
                        <a:buNone/>
                      </a:pPr>
                      <a:r>
                        <a:rPr lang="en-US" sz="1200" b="1" dirty="0">
                          <a:solidFill>
                            <a:srgbClr val="FFFFFF"/>
                          </a:solidFill>
                        </a:rPr>
                        <a:t>XOR group size</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0E7C86"/>
                    </a:solidFill>
                  </a:tcPr>
                </a:tc>
                <a:tc>
                  <a:txBody>
                    <a:bodyPr/>
                    <a:lstStyle/>
                    <a:p>
                      <a:pPr indent="0" marL="0">
                        <a:buNone/>
                      </a:pPr>
                      <a:r>
                        <a:rPr lang="en-US" sz="1200" b="1" dirty="0">
                          <a:solidFill>
                            <a:srgbClr val="FFFFFF"/>
                          </a:solidFill>
                        </a:rPr>
                        <a:t>Extra traffic</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0E7C86"/>
                    </a:solidFill>
                  </a:tcPr>
                </a:tc>
              </a:tr>
              <a:tr h="329184">
                <a:tc>
                  <a:txBody>
                    <a:bodyPr/>
                    <a:lstStyle/>
                    <a:p>
                      <a:pPr indent="0" marL="0">
                        <a:buNone/>
                      </a:pPr>
                      <a:r>
                        <a:rPr lang="en-US" sz="1200" dirty="0">
                          <a:solidFill>
                            <a:srgbClr val="3B4A53"/>
                          </a:solidFill>
                        </a:rPr>
                        <a:t>&lt; 1%</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no FEC</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0%</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r>
              <a:tr h="329184">
                <a:tc>
                  <a:txBody>
                    <a:bodyPr/>
                    <a:lstStyle/>
                    <a:p>
                      <a:pPr indent="0" marL="0">
                        <a:buNone/>
                      </a:pPr>
                      <a:r>
                        <a:rPr lang="en-US" sz="1200" dirty="0">
                          <a:solidFill>
                            <a:srgbClr val="3B4A53"/>
                          </a:solidFill>
                        </a:rPr>
                        <a:t>1% to 6%</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4 packets</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25%</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r>
              <a:tr h="329184">
                <a:tc>
                  <a:txBody>
                    <a:bodyPr/>
                    <a:lstStyle/>
                    <a:p>
                      <a:pPr indent="0" marL="0">
                        <a:buNone/>
                      </a:pPr>
                      <a:r>
                        <a:rPr lang="en-US" sz="1200" dirty="0">
                          <a:solidFill>
                            <a:srgbClr val="3B4A53"/>
                          </a:solidFill>
                        </a:rPr>
                        <a:t>≥ 6%</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2 packets</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50%</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r>
            </a:tbl>
          </a:graphicData>
        </a:graphic>
      </p:graphicFrame>
      <p:sp>
        <p:nvSpPr>
          <p:cNvPr id="5" name="Text 2"/>
          <p:cNvSpPr txBox="1"/>
          <p:nvPr/>
        </p:nvSpPr>
        <p:spPr>
          <a:xfrm>
            <a:off x="457200" y="3200400"/>
            <a:ext cx="4023360" cy="640080"/>
          </a:xfrm>
          <a:prstGeom prst="rect">
            <a:avLst/>
          </a:prstGeom>
          <a:noFill/>
          <a:ln/>
        </p:spPr>
        <p:txBody>
          <a:bodyPr wrap="square" lIns="0" tIns="0" rIns="0" bIns="0" rtlCol="0" anchor="t"/>
          <a:lstStyle/>
          <a:p>
            <a:pPr indent="0" marL="0">
              <a:buNone/>
            </a:pPr>
            <a:r>
              <a:rPr lang="en-US" sz="1300" dirty="0">
                <a:solidFill>
                  <a:srgbClr val="3B4A53"/>
                </a:solidFill>
              </a:rPr>
              <a:t>Alarms: a second copy is sent 10 ms after the first when the loss estimate exceeds 1%.</a:t>
            </a:r>
            <a:endParaRPr lang="en-US" sz="1300" dirty="0"/>
          </a:p>
        </p:txBody>
      </p:sp>
      <p:sp>
        <p:nvSpPr>
          <p:cNvPr id="6" name="Gate card"/>
          <p:cNvSpPr/>
          <p:nvPr/>
        </p:nvSpPr>
        <p:spPr>
          <a:xfrm>
            <a:off x="4754880" y="1325880"/>
            <a:ext cx="3931920" cy="3200400"/>
          </a:xfrm>
          <a:prstGeom prst="roundRect">
            <a:avLst>
              <a:gd name="adj" fmla="val 2286"/>
            </a:avLst>
          </a:prstGeom>
          <a:solidFill>
            <a:schemeClr val="bg2"/>
          </a:solidFill>
          <a:ln/>
        </p:spPr>
      </p:sp>
      <p:sp>
        <p:nvSpPr>
          <p:cNvPr id="7" name="Text 4"/>
          <p:cNvSpPr txBox="1"/>
          <p:nvPr/>
        </p:nvSpPr>
        <p:spPr>
          <a:xfrm>
            <a:off x="4937760" y="1463040"/>
            <a:ext cx="3566160" cy="2926080"/>
          </a:xfrm>
          <a:prstGeom prst="rect">
            <a:avLst/>
          </a:prstGeom>
          <a:noFill/>
          <a:ln/>
        </p:spPr>
        <p:txBody>
          <a:bodyPr wrap="square" lIns="0" tIns="0" rIns="0" bIns="0" rtlCol="0" anchor="t"/>
          <a:lstStyle/>
          <a:p>
            <a:pPr indent="0" marL="0">
              <a:buNone/>
            </a:pPr>
            <a:r>
              <a:rPr lang="en-US" sz="1600" b="1" dirty="0">
                <a:solidFill>
                  <a:schemeClr val="tx1"/>
                </a:solidFill>
              </a:rPr>
              <a:t>Congestion gate</a:t>
            </a:r>
            <a:endParaRPr lang="en-US" sz="1600" dirty="0"/>
          </a:p>
          <a:p>
            <a:pPr indent="0" marL="0">
              <a:buNone/>
            </a:pPr>
            <a:r>
              <a:rPr lang="en-US" sz="1400" dirty="0">
                <a:solidFill>
                  <a:srgbClr val="3B4A53"/>
                </a:solidFill>
              </a:rPr>
              <a:t>Parity and copies are disabled while the ECG stream's smoothed RTT exceeds 1.5 × (2d + 4 ms) = 36 ms.</a:t>
            </a:r>
            <a:endParaRPr lang="en-US" sz="1600" dirty="0"/>
          </a:p>
          <a:p>
            <a:pPr indent="0" marL="0">
              <a:buNone/>
            </a:pPr>
            <a:r>
              <a:rPr lang="en-US" sz="800" dirty="0">
                <a:solidFill>
                  <a:srgbClr val="000000"/>
                </a:solidFill>
              </a:rPr>
              <a:t> </a:t>
            </a:r>
            <a:endParaRPr lang="en-US" sz="1600" dirty="0"/>
          </a:p>
          <a:p>
            <a:pPr indent="0" marL="0">
              <a:buNone/>
            </a:pPr>
            <a:r>
              <a:rPr lang="en-US" sz="1400" b="1" dirty="0">
                <a:solidFill>
                  <a:schemeClr val="accent2"/>
                </a:solidFill>
              </a:rPr>
              <a:t>Without the gate, extra traffic deepens overload: at 120 patients vitals on time fall to 0.0% (with gate: 85.8%).</a:t>
            </a:r>
            <a:endParaRPr lang="en-US" sz="16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914400"/>
          </a:xfrm>
          <a:prstGeom prst="rect">
            <a:avLst/>
          </a:prstGeom>
          <a:noFill/>
          <a:ln/>
        </p:spPr>
        <p:txBody>
          <a:bodyPr wrap="square" lIns="0" tIns="0" rIns="0" bIns="0" rtlCol="0" anchor="ctr"/>
          <a:lstStyle/>
          <a:p>
            <a:pPr algn="l" indent="0" marL="0">
              <a:buNone/>
            </a:pPr>
            <a:r>
              <a:rPr lang="en-US" sz="3000" b="1" dirty="0">
                <a:solidFill>
                  <a:schemeClr val="tx1"/>
                </a:solidFill>
              </a:rPr>
              <a:t>Priority queue with deadline-aware dropping</a:t>
            </a:r>
            <a:endParaRPr lang="en-US" sz="3000" dirty="0"/>
          </a:p>
        </p:txBody>
      </p:sp>
      <p:sp>
        <p:nvSpPr>
          <p:cNvPr id="3" name="Text 1"/>
          <p:cNvSpPr txBox="1"/>
          <p:nvPr/>
        </p:nvSpPr>
        <p:spPr>
          <a:xfrm>
            <a:off x="457200" y="1417320"/>
            <a:ext cx="914400" cy="594360"/>
          </a:xfrm>
          <a:prstGeom prst="rect">
            <a:avLst/>
          </a:prstGeom>
          <a:noFill/>
          <a:ln/>
        </p:spPr>
        <p:txBody>
          <a:bodyPr wrap="square" lIns="0" tIns="0" rIns="0" bIns="0" rtlCol="0" anchor="ctr"/>
          <a:lstStyle/>
          <a:p>
            <a:pPr indent="0" marL="0">
              <a:buNone/>
            </a:pPr>
            <a:r>
              <a:rPr lang="en-US" sz="1400" b="1" dirty="0">
                <a:solidFill>
                  <a:schemeClr val="tx1"/>
                </a:solidFill>
              </a:rPr>
              <a:t>Alarm</a:t>
            </a:r>
            <a:endParaRPr lang="en-US" sz="1400" dirty="0"/>
          </a:p>
        </p:txBody>
      </p:sp>
      <p:sp>
        <p:nvSpPr>
          <p:cNvPr id="4" name="Queue Alarm"/>
          <p:cNvSpPr/>
          <p:nvPr/>
        </p:nvSpPr>
        <p:spPr>
          <a:xfrm>
            <a:off x="1417320" y="1417320"/>
            <a:ext cx="2926080" cy="594360"/>
          </a:xfrm>
          <a:prstGeom prst="roundRect">
            <a:avLst>
              <a:gd name="adj" fmla="val 9231"/>
            </a:avLst>
          </a:prstGeom>
          <a:solidFill>
            <a:schemeClr val="bg2"/>
          </a:solidFill>
          <a:ln w="9525">
            <a:solidFill>
              <a:srgbClr val="D5E0E3"/>
            </a:solidFill>
            <a:prstDash val="solid"/>
          </a:ln>
        </p:spPr>
      </p:sp>
      <p:sp>
        <p:nvSpPr>
          <p:cNvPr id="5" name="Queue fill Alarm"/>
          <p:cNvSpPr/>
          <p:nvPr/>
        </p:nvSpPr>
        <p:spPr>
          <a:xfrm>
            <a:off x="3246120" y="1490472"/>
            <a:ext cx="1005840" cy="448056"/>
          </a:xfrm>
          <a:prstGeom prst="roundRect">
            <a:avLst>
              <a:gd name="adj" fmla="val 10204"/>
            </a:avLst>
          </a:prstGeom>
          <a:solidFill>
            <a:schemeClr val="accent2"/>
          </a:solidFill>
          <a:ln/>
        </p:spPr>
      </p:sp>
      <p:sp>
        <p:nvSpPr>
          <p:cNvPr id="6" name="Text 4"/>
          <p:cNvSpPr txBox="1"/>
          <p:nvPr/>
        </p:nvSpPr>
        <p:spPr>
          <a:xfrm>
            <a:off x="4389120" y="1417320"/>
            <a:ext cx="731520" cy="594360"/>
          </a:xfrm>
          <a:prstGeom prst="rect">
            <a:avLst/>
          </a:prstGeom>
          <a:noFill/>
          <a:ln/>
        </p:spPr>
        <p:txBody>
          <a:bodyPr wrap="square" lIns="0" tIns="0" rIns="0" bIns="0" rtlCol="0" anchor="ctr"/>
          <a:lstStyle/>
          <a:p>
            <a:pPr indent="0" marL="0">
              <a:buNone/>
            </a:pPr>
            <a:r>
              <a:rPr lang="en-US" sz="1200" dirty="0">
                <a:solidFill>
                  <a:srgbClr val="7A8B99"/>
                </a:solidFill>
              </a:rPr>
              <a:t>10 kB</a:t>
            </a:r>
            <a:endParaRPr lang="en-US" sz="1200" dirty="0"/>
          </a:p>
        </p:txBody>
      </p:sp>
      <p:sp>
        <p:nvSpPr>
          <p:cNvPr id="7" name="Shape 5"/>
          <p:cNvSpPr/>
          <p:nvPr/>
        </p:nvSpPr>
        <p:spPr>
          <a:xfrm>
            <a:off x="5074920" y="1714500"/>
            <a:ext cx="548640" cy="982980"/>
          </a:xfrm>
          <a:prstGeom prst="line">
            <a:avLst/>
          </a:prstGeom>
          <a:noFill/>
          <a:ln w="19050">
            <a:solidFill>
              <a:srgbClr val="0E2A38"/>
            </a:solidFill>
            <a:prstDash val="solid"/>
            <a:tailEnd type="triangle"/>
          </a:ln>
        </p:spPr>
      </p:sp>
      <p:sp>
        <p:nvSpPr>
          <p:cNvPr id="8" name="Text 6"/>
          <p:cNvSpPr txBox="1"/>
          <p:nvPr/>
        </p:nvSpPr>
        <p:spPr>
          <a:xfrm>
            <a:off x="457200" y="2148840"/>
            <a:ext cx="914400" cy="594360"/>
          </a:xfrm>
          <a:prstGeom prst="rect">
            <a:avLst/>
          </a:prstGeom>
          <a:noFill/>
          <a:ln/>
        </p:spPr>
        <p:txBody>
          <a:bodyPr wrap="square" lIns="0" tIns="0" rIns="0" bIns="0" rtlCol="0" anchor="ctr"/>
          <a:lstStyle/>
          <a:p>
            <a:pPr indent="0" marL="0">
              <a:buNone/>
            </a:pPr>
            <a:r>
              <a:rPr lang="en-US" sz="1400" b="1" dirty="0">
                <a:solidFill>
                  <a:schemeClr val="tx1"/>
                </a:solidFill>
              </a:rPr>
              <a:t>ECG</a:t>
            </a:r>
            <a:endParaRPr lang="en-US" sz="1400" dirty="0"/>
          </a:p>
        </p:txBody>
      </p:sp>
      <p:sp>
        <p:nvSpPr>
          <p:cNvPr id="9" name="Queue ECG"/>
          <p:cNvSpPr/>
          <p:nvPr/>
        </p:nvSpPr>
        <p:spPr>
          <a:xfrm>
            <a:off x="1417320" y="2148840"/>
            <a:ext cx="2926080" cy="594360"/>
          </a:xfrm>
          <a:prstGeom prst="roundRect">
            <a:avLst>
              <a:gd name="adj" fmla="val 9231"/>
            </a:avLst>
          </a:prstGeom>
          <a:solidFill>
            <a:schemeClr val="bg2"/>
          </a:solidFill>
          <a:ln w="9525">
            <a:solidFill>
              <a:srgbClr val="D5E0E3"/>
            </a:solidFill>
            <a:prstDash val="solid"/>
          </a:ln>
        </p:spPr>
      </p:sp>
      <p:sp>
        <p:nvSpPr>
          <p:cNvPr id="10" name="Queue fill ECG"/>
          <p:cNvSpPr/>
          <p:nvPr/>
        </p:nvSpPr>
        <p:spPr>
          <a:xfrm>
            <a:off x="3246120" y="2221992"/>
            <a:ext cx="1005840" cy="448056"/>
          </a:xfrm>
          <a:prstGeom prst="roundRect">
            <a:avLst>
              <a:gd name="adj" fmla="val 10204"/>
            </a:avLst>
          </a:prstGeom>
          <a:solidFill>
            <a:schemeClr val="accent1"/>
          </a:solidFill>
          <a:ln/>
        </p:spPr>
      </p:sp>
      <p:sp>
        <p:nvSpPr>
          <p:cNvPr id="11" name="Text 9"/>
          <p:cNvSpPr txBox="1"/>
          <p:nvPr/>
        </p:nvSpPr>
        <p:spPr>
          <a:xfrm>
            <a:off x="4389120" y="2148840"/>
            <a:ext cx="731520" cy="594360"/>
          </a:xfrm>
          <a:prstGeom prst="rect">
            <a:avLst/>
          </a:prstGeom>
          <a:noFill/>
          <a:ln/>
        </p:spPr>
        <p:txBody>
          <a:bodyPr wrap="square" lIns="0" tIns="0" rIns="0" bIns="0" rtlCol="0" anchor="ctr"/>
          <a:lstStyle/>
          <a:p>
            <a:pPr indent="0" marL="0">
              <a:buNone/>
            </a:pPr>
            <a:r>
              <a:rPr lang="en-US" sz="1200" dirty="0">
                <a:solidFill>
                  <a:srgbClr val="7A8B99"/>
                </a:solidFill>
              </a:rPr>
              <a:t>30 kB</a:t>
            </a:r>
            <a:endParaRPr lang="en-US" sz="1200" dirty="0"/>
          </a:p>
        </p:txBody>
      </p:sp>
      <p:sp>
        <p:nvSpPr>
          <p:cNvPr id="12" name="Shape 10"/>
          <p:cNvSpPr/>
          <p:nvPr/>
        </p:nvSpPr>
        <p:spPr>
          <a:xfrm>
            <a:off x="5074920" y="2446020"/>
            <a:ext cx="548640" cy="251460"/>
          </a:xfrm>
          <a:prstGeom prst="line">
            <a:avLst/>
          </a:prstGeom>
          <a:noFill/>
          <a:ln w="19050">
            <a:solidFill>
              <a:srgbClr val="0E2A38"/>
            </a:solidFill>
            <a:prstDash val="solid"/>
            <a:tailEnd type="triangle"/>
          </a:ln>
        </p:spPr>
      </p:sp>
      <p:sp>
        <p:nvSpPr>
          <p:cNvPr id="13" name="Text 11"/>
          <p:cNvSpPr txBox="1"/>
          <p:nvPr/>
        </p:nvSpPr>
        <p:spPr>
          <a:xfrm>
            <a:off x="457200" y="2880360"/>
            <a:ext cx="914400" cy="594360"/>
          </a:xfrm>
          <a:prstGeom prst="rect">
            <a:avLst/>
          </a:prstGeom>
          <a:noFill/>
          <a:ln/>
        </p:spPr>
        <p:txBody>
          <a:bodyPr wrap="square" lIns="0" tIns="0" rIns="0" bIns="0" rtlCol="0" anchor="ctr"/>
          <a:lstStyle/>
          <a:p>
            <a:pPr indent="0" marL="0">
              <a:buNone/>
            </a:pPr>
            <a:r>
              <a:rPr lang="en-US" sz="1400" b="1" dirty="0">
                <a:solidFill>
                  <a:schemeClr val="tx1"/>
                </a:solidFill>
              </a:rPr>
              <a:t>Vitals</a:t>
            </a:r>
            <a:endParaRPr lang="en-US" sz="1400" dirty="0"/>
          </a:p>
        </p:txBody>
      </p:sp>
      <p:sp>
        <p:nvSpPr>
          <p:cNvPr id="14" name="Queue Vitals"/>
          <p:cNvSpPr/>
          <p:nvPr/>
        </p:nvSpPr>
        <p:spPr>
          <a:xfrm>
            <a:off x="1417320" y="2880360"/>
            <a:ext cx="2926080" cy="594360"/>
          </a:xfrm>
          <a:prstGeom prst="roundRect">
            <a:avLst>
              <a:gd name="adj" fmla="val 9231"/>
            </a:avLst>
          </a:prstGeom>
          <a:solidFill>
            <a:schemeClr val="bg2"/>
          </a:solidFill>
          <a:ln w="9525">
            <a:solidFill>
              <a:srgbClr val="D5E0E3"/>
            </a:solidFill>
            <a:prstDash val="solid"/>
          </a:ln>
        </p:spPr>
      </p:sp>
      <p:sp>
        <p:nvSpPr>
          <p:cNvPr id="15" name="Queue fill Vitals"/>
          <p:cNvSpPr/>
          <p:nvPr/>
        </p:nvSpPr>
        <p:spPr>
          <a:xfrm>
            <a:off x="3246120" y="2953512"/>
            <a:ext cx="1005840" cy="448056"/>
          </a:xfrm>
          <a:prstGeom prst="roundRect">
            <a:avLst>
              <a:gd name="adj" fmla="val 10204"/>
            </a:avLst>
          </a:prstGeom>
          <a:solidFill>
            <a:schemeClr val="accent1"/>
          </a:solidFill>
          <a:ln/>
        </p:spPr>
      </p:sp>
      <p:sp>
        <p:nvSpPr>
          <p:cNvPr id="16" name="Text 14"/>
          <p:cNvSpPr txBox="1"/>
          <p:nvPr/>
        </p:nvSpPr>
        <p:spPr>
          <a:xfrm>
            <a:off x="4389120" y="2880360"/>
            <a:ext cx="731520" cy="594360"/>
          </a:xfrm>
          <a:prstGeom prst="rect">
            <a:avLst/>
          </a:prstGeom>
          <a:noFill/>
          <a:ln/>
        </p:spPr>
        <p:txBody>
          <a:bodyPr wrap="square" lIns="0" tIns="0" rIns="0" bIns="0" rtlCol="0" anchor="ctr"/>
          <a:lstStyle/>
          <a:p>
            <a:pPr indent="0" marL="0">
              <a:buNone/>
            </a:pPr>
            <a:r>
              <a:rPr lang="en-US" sz="1200" dirty="0">
                <a:solidFill>
                  <a:srgbClr val="7A8B99"/>
                </a:solidFill>
              </a:rPr>
              <a:t>10 kB</a:t>
            </a:r>
            <a:endParaRPr lang="en-US" sz="1200" dirty="0"/>
          </a:p>
        </p:txBody>
      </p:sp>
      <p:sp>
        <p:nvSpPr>
          <p:cNvPr id="17" name="Shape 15"/>
          <p:cNvSpPr/>
          <p:nvPr/>
        </p:nvSpPr>
        <p:spPr>
          <a:xfrm flipV="1">
            <a:off x="5074920" y="2697480"/>
            <a:ext cx="548640" cy="480060"/>
          </a:xfrm>
          <a:prstGeom prst="line">
            <a:avLst/>
          </a:prstGeom>
          <a:noFill/>
          <a:ln w="19050">
            <a:solidFill>
              <a:srgbClr val="0E2A38"/>
            </a:solidFill>
            <a:prstDash val="solid"/>
            <a:tailEnd type="triangle"/>
          </a:ln>
        </p:spPr>
      </p:sp>
      <p:sp>
        <p:nvSpPr>
          <p:cNvPr id="18" name="Text 16"/>
          <p:cNvSpPr txBox="1"/>
          <p:nvPr/>
        </p:nvSpPr>
        <p:spPr>
          <a:xfrm>
            <a:off x="457200" y="3611880"/>
            <a:ext cx="914400" cy="594360"/>
          </a:xfrm>
          <a:prstGeom prst="rect">
            <a:avLst/>
          </a:prstGeom>
          <a:noFill/>
          <a:ln/>
        </p:spPr>
        <p:txBody>
          <a:bodyPr wrap="square" lIns="0" tIns="0" rIns="0" bIns="0" rtlCol="0" anchor="ctr"/>
          <a:lstStyle/>
          <a:p>
            <a:pPr indent="0" marL="0">
              <a:buNone/>
            </a:pPr>
            <a:r>
              <a:rPr lang="en-US" sz="1400" b="1" dirty="0">
                <a:solidFill>
                  <a:schemeClr val="tx1"/>
                </a:solidFill>
              </a:rPr>
              <a:t>Bulk</a:t>
            </a:r>
            <a:endParaRPr lang="en-US" sz="1400" dirty="0"/>
          </a:p>
        </p:txBody>
      </p:sp>
      <p:sp>
        <p:nvSpPr>
          <p:cNvPr id="19" name="Queue Bulk"/>
          <p:cNvSpPr/>
          <p:nvPr/>
        </p:nvSpPr>
        <p:spPr>
          <a:xfrm>
            <a:off x="1417320" y="3611880"/>
            <a:ext cx="2926080" cy="594360"/>
          </a:xfrm>
          <a:prstGeom prst="roundRect">
            <a:avLst>
              <a:gd name="adj" fmla="val 9231"/>
            </a:avLst>
          </a:prstGeom>
          <a:solidFill>
            <a:schemeClr val="bg2"/>
          </a:solidFill>
          <a:ln w="9525">
            <a:solidFill>
              <a:srgbClr val="D5E0E3"/>
            </a:solidFill>
            <a:prstDash val="solid"/>
          </a:ln>
        </p:spPr>
      </p:sp>
      <p:sp>
        <p:nvSpPr>
          <p:cNvPr id="20" name="Queue fill Bulk"/>
          <p:cNvSpPr/>
          <p:nvPr/>
        </p:nvSpPr>
        <p:spPr>
          <a:xfrm>
            <a:off x="1965960" y="3685032"/>
            <a:ext cx="2286000" cy="448056"/>
          </a:xfrm>
          <a:prstGeom prst="roundRect">
            <a:avLst>
              <a:gd name="adj" fmla="val 10204"/>
            </a:avLst>
          </a:prstGeom>
          <a:solidFill>
            <a:schemeClr val="accent5"/>
          </a:solidFill>
          <a:ln/>
        </p:spPr>
      </p:sp>
      <p:sp>
        <p:nvSpPr>
          <p:cNvPr id="21" name="Text 19"/>
          <p:cNvSpPr txBox="1"/>
          <p:nvPr/>
        </p:nvSpPr>
        <p:spPr>
          <a:xfrm>
            <a:off x="4389120" y="3611880"/>
            <a:ext cx="731520" cy="594360"/>
          </a:xfrm>
          <a:prstGeom prst="rect">
            <a:avLst/>
          </a:prstGeom>
          <a:noFill/>
          <a:ln/>
        </p:spPr>
        <p:txBody>
          <a:bodyPr wrap="square" lIns="0" tIns="0" rIns="0" bIns="0" rtlCol="0" anchor="ctr"/>
          <a:lstStyle/>
          <a:p>
            <a:pPr indent="0" marL="0">
              <a:buNone/>
            </a:pPr>
            <a:r>
              <a:rPr lang="en-US" sz="1200" dirty="0">
                <a:solidFill>
                  <a:srgbClr val="7A8B99"/>
                </a:solidFill>
              </a:rPr>
              <a:t>200 kB</a:t>
            </a:r>
            <a:endParaRPr lang="en-US" sz="1200" dirty="0"/>
          </a:p>
        </p:txBody>
      </p:sp>
      <p:sp>
        <p:nvSpPr>
          <p:cNvPr id="22" name="Shape 20"/>
          <p:cNvSpPr/>
          <p:nvPr/>
        </p:nvSpPr>
        <p:spPr>
          <a:xfrm flipV="1">
            <a:off x="5074920" y="2697480"/>
            <a:ext cx="548640" cy="1211580"/>
          </a:xfrm>
          <a:prstGeom prst="line">
            <a:avLst/>
          </a:prstGeom>
          <a:noFill/>
          <a:ln w="19050">
            <a:solidFill>
              <a:srgbClr val="0E2A38"/>
            </a:solidFill>
            <a:prstDash val="solid"/>
            <a:tailEnd type="triangle"/>
          </a:ln>
        </p:spPr>
      </p:sp>
      <p:sp>
        <p:nvSpPr>
          <p:cNvPr id="23" name="Link box"/>
          <p:cNvSpPr/>
          <p:nvPr/>
        </p:nvSpPr>
        <p:spPr>
          <a:xfrm>
            <a:off x="5623560" y="2240280"/>
            <a:ext cx="1188720" cy="914400"/>
          </a:xfrm>
          <a:prstGeom prst="roundRect">
            <a:avLst>
              <a:gd name="adj" fmla="val 8000"/>
            </a:avLst>
          </a:prstGeom>
          <a:solidFill>
            <a:schemeClr val="accent1"/>
          </a:solidFill>
          <a:ln/>
        </p:spPr>
      </p:sp>
      <p:sp>
        <p:nvSpPr>
          <p:cNvPr id="24" name="Text 22"/>
          <p:cNvSpPr txBox="1"/>
          <p:nvPr/>
        </p:nvSpPr>
        <p:spPr>
          <a:xfrm>
            <a:off x="5623560" y="2240280"/>
            <a:ext cx="1188720" cy="914400"/>
          </a:xfrm>
          <a:prstGeom prst="rect">
            <a:avLst/>
          </a:prstGeom>
          <a:noFill/>
          <a:ln/>
        </p:spPr>
        <p:txBody>
          <a:bodyPr wrap="square" lIns="0" tIns="0" rIns="0" bIns="0" rtlCol="0" anchor="ctr"/>
          <a:lstStyle/>
          <a:p>
            <a:pPr algn="ctr" indent="0" marL="0">
              <a:buNone/>
            </a:pPr>
            <a:r>
              <a:rPr lang="en-US" sz="1200" b="1" dirty="0">
                <a:solidFill>
                  <a:schemeClr val="bg1"/>
                </a:solidFill>
              </a:rPr>
              <a:t>Wireless link</a:t>
            </a:r>
            <a:endParaRPr lang="en-US" sz="1200" dirty="0"/>
          </a:p>
        </p:txBody>
      </p:sp>
      <p:sp>
        <p:nvSpPr>
          <p:cNvPr id="25" name="Rule card"/>
          <p:cNvSpPr/>
          <p:nvPr/>
        </p:nvSpPr>
        <p:spPr>
          <a:xfrm>
            <a:off x="7040880" y="1417320"/>
            <a:ext cx="1645920" cy="2834640"/>
          </a:xfrm>
          <a:prstGeom prst="roundRect">
            <a:avLst>
              <a:gd name="adj" fmla="val 4444"/>
            </a:avLst>
          </a:prstGeom>
          <a:solidFill>
            <a:schemeClr val="bg2"/>
          </a:solidFill>
          <a:ln/>
        </p:spPr>
      </p:sp>
      <p:sp>
        <p:nvSpPr>
          <p:cNvPr id="26" name="Text 24"/>
          <p:cNvSpPr txBox="1"/>
          <p:nvPr/>
        </p:nvSpPr>
        <p:spPr>
          <a:xfrm>
            <a:off x="7150608" y="1508760"/>
            <a:ext cx="1444752" cy="2880360"/>
          </a:xfrm>
          <a:prstGeom prst="rect">
            <a:avLst/>
          </a:prstGeom>
          <a:noFill/>
          <a:ln/>
        </p:spPr>
        <p:txBody>
          <a:bodyPr wrap="square" lIns="0" tIns="0" rIns="0" bIns="0" rtlCol="0" anchor="t"/>
          <a:lstStyle/>
          <a:p>
            <a:pPr indent="0" marL="0">
              <a:buNone/>
            </a:pPr>
            <a:r>
              <a:rPr lang="en-US" sz="1300" b="1" dirty="0">
                <a:solidFill>
                  <a:schemeClr val="tx1"/>
                </a:solidFill>
              </a:rPr>
              <a:t>Strict priority</a:t>
            </a:r>
            <a:endParaRPr lang="en-US" sz="1300" dirty="0"/>
          </a:p>
          <a:p>
            <a:pPr indent="0" marL="0">
              <a:buNone/>
            </a:pPr>
            <a:r>
              <a:rPr lang="en-US" sz="1200" dirty="0">
                <a:solidFill>
                  <a:srgbClr val="3B4A53"/>
                </a:solidFill>
              </a:rPr>
              <a:t>Bulk cannot take telemetry buffer space.</a:t>
            </a:r>
            <a:endParaRPr lang="en-US" sz="1300" dirty="0"/>
          </a:p>
          <a:p>
            <a:pPr indent="0" marL="0">
              <a:buNone/>
            </a:pPr>
            <a:r>
              <a:rPr lang="en-US" sz="600" dirty="0">
                <a:solidFill>
                  <a:srgbClr val="000000"/>
                </a:solidFill>
              </a:rPr>
              <a:t> </a:t>
            </a:r>
            <a:endParaRPr lang="en-US" sz="1300" dirty="0"/>
          </a:p>
          <a:p>
            <a:pPr indent="0" marL="0">
              <a:buNone/>
            </a:pPr>
            <a:r>
              <a:rPr lang="en-US" sz="1300" b="1" dirty="0">
                <a:solidFill>
                  <a:schemeClr val="tx1"/>
                </a:solidFill>
              </a:rPr>
              <a:t>Deadline drop</a:t>
            </a:r>
            <a:endParaRPr lang="en-US" sz="1300" dirty="0"/>
          </a:p>
          <a:p>
            <a:pPr indent="0" marL="0">
              <a:buNone/>
            </a:pPr>
            <a:r>
              <a:rPr lang="en-US" sz="1200" dirty="0">
                <a:solidFill>
                  <a:srgbClr val="3B4A53"/>
                </a:solidFill>
              </a:rPr>
              <a:t>Drop a telemetry packet at dequeue if t + d &gt; deadline.</a:t>
            </a:r>
            <a:endParaRPr lang="en-US" sz="1300" dirty="0"/>
          </a:p>
        </p:txBody>
      </p:sp>
      <p:sp>
        <p:nvSpPr>
          <p:cNvPr id="27" name="Text 25"/>
          <p:cNvSpPr txBox="1"/>
          <p:nvPr/>
        </p:nvSpPr>
        <p:spPr>
          <a:xfrm>
            <a:off x="457200" y="4343400"/>
            <a:ext cx="8229600" cy="365760"/>
          </a:xfrm>
          <a:prstGeom prst="rect">
            <a:avLst/>
          </a:prstGeom>
          <a:noFill/>
          <a:ln/>
        </p:spPr>
        <p:txBody>
          <a:bodyPr wrap="square" lIns="0" tIns="0" rIns="0" bIns="0" rtlCol="0" anchor="ctr"/>
          <a:lstStyle/>
          <a:p>
            <a:pPr indent="0" marL="0">
              <a:buNone/>
            </a:pPr>
            <a:r>
              <a:rPr lang="en-US" sz="1100" dirty="0">
                <a:solidFill>
                  <a:srgbClr val="7A8B99"/>
                </a:solidFill>
              </a:rPr>
              <a:t>Assumes the access point supports class-based priority (for example DiffServ marking and 802.11e access categories). Real 802.11 priority is statistical, not strict.</a:t>
            </a:r>
            <a:endParaRPr lang="en-US" sz="11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914400"/>
          </a:xfrm>
          <a:prstGeom prst="rect">
            <a:avLst/>
          </a:prstGeom>
          <a:noFill/>
          <a:ln/>
        </p:spPr>
        <p:txBody>
          <a:bodyPr wrap="square" lIns="0" tIns="0" rIns="0" bIns="0" rtlCol="0" anchor="ctr"/>
          <a:lstStyle/>
          <a:p>
            <a:pPr algn="l" indent="0" marL="0">
              <a:buNone/>
            </a:pPr>
            <a:r>
              <a:rPr lang="en-US" sz="3000" b="1" dirty="0">
                <a:solidFill>
                  <a:schemeClr val="tx1"/>
                </a:solidFill>
              </a:rPr>
              <a:t>Five configurations form an ablation ladder</a:t>
            </a:r>
            <a:endParaRPr lang="en-US" sz="3000" dirty="0"/>
          </a:p>
        </p:txBody>
      </p:sp>
      <p:graphicFrame>
        <p:nvGraphicFramePr>
          <p:cNvPr id="15" name="Configuration table"/>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1645920"/>
                <a:gridCol w="1920240"/>
                <a:gridCol w="1005840"/>
                <a:gridCol w="1280160"/>
                <a:gridCol w="1188720"/>
                <a:gridCol w="1188720"/>
              </a:tblGrid>
              <a:tr h="347472">
                <a:tc>
                  <a:txBody>
                    <a:bodyPr/>
                    <a:lstStyle/>
                    <a:p>
                      <a:pPr indent="0" marL="0">
                        <a:buNone/>
                      </a:pPr>
                      <a:r>
                        <a:rPr lang="en-US" sz="1200" b="1" dirty="0">
                          <a:solidFill>
                            <a:srgbClr val="FFFFFF"/>
                          </a:solidFill>
                        </a:rPr>
                        <a:t>Configuration</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0E7C86"/>
                    </a:solidFill>
                  </a:tcPr>
                </a:tc>
                <a:tc>
                  <a:txBody>
                    <a:bodyPr/>
                    <a:lstStyle/>
                    <a:p>
                      <a:pPr indent="0" marL="0">
                        <a:buNone/>
                      </a:pPr>
                      <a:r>
                        <a:rPr lang="en-US" sz="1200" b="1" dirty="0">
                          <a:solidFill>
                            <a:srgbClr val="FFFFFF"/>
                          </a:solidFill>
                        </a:rPr>
                        <a:t>Recovery</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0E7C86"/>
                    </a:solidFill>
                  </a:tcPr>
                </a:tc>
                <a:tc>
                  <a:txBody>
                    <a:bodyPr/>
                    <a:lstStyle/>
                    <a:p>
                      <a:pPr indent="0" marL="0">
                        <a:buNone/>
                      </a:pPr>
                      <a:r>
                        <a:rPr lang="en-US" sz="1200" b="1" dirty="0">
                          <a:solidFill>
                            <a:srgbClr val="FFFFFF"/>
                          </a:solidFill>
                        </a:rPr>
                        <a:t>Order</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0E7C86"/>
                    </a:solidFill>
                  </a:tcPr>
                </a:tc>
                <a:tc>
                  <a:txBody>
                    <a:bodyPr/>
                    <a:lstStyle/>
                    <a:p>
                      <a:pPr indent="0" marL="0">
                        <a:buNone/>
                      </a:pPr>
                      <a:r>
                        <a:rPr lang="en-US" sz="1200" b="1" dirty="0">
                          <a:solidFill>
                            <a:srgbClr val="FFFFFF"/>
                          </a:solidFill>
                        </a:rPr>
                        <a:t>Priority queue</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0E7C86"/>
                    </a:solidFill>
                  </a:tcPr>
                </a:tc>
                <a:tc>
                  <a:txBody>
                    <a:bodyPr/>
                    <a:lstStyle/>
                    <a:p>
                      <a:pPr indent="0" marL="0">
                        <a:buNone/>
                      </a:pPr>
                      <a:r>
                        <a:rPr lang="en-US" sz="1200" b="1" dirty="0">
                          <a:solidFill>
                            <a:srgbClr val="FFFFFF"/>
                          </a:solidFill>
                        </a:rPr>
                        <a:t>Deadline drop</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0E7C86"/>
                    </a:solidFill>
                  </a:tcPr>
                </a:tc>
                <a:tc>
                  <a:txBody>
                    <a:bodyPr/>
                    <a:lstStyle/>
                    <a:p>
                      <a:pPr indent="0" marL="0">
                        <a:buNone/>
                      </a:pPr>
                      <a:r>
                        <a:rPr lang="en-US" sz="1200" b="1" dirty="0">
                          <a:solidFill>
                            <a:srgbClr val="FFFFFF"/>
                          </a:solidFill>
                        </a:rPr>
                        <a:t>FEC / copies</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0E7C86"/>
                    </a:solidFill>
                  </a:tcPr>
                </a:tc>
              </a:tr>
              <a:tr h="347472">
                <a:tc>
                  <a:txBody>
                    <a:bodyPr/>
                    <a:lstStyle/>
                    <a:p>
                      <a:pPr indent="0" marL="0">
                        <a:buNone/>
                      </a:pPr>
                      <a:r>
                        <a:rPr lang="en-US" sz="1200" dirty="0">
                          <a:solidFill>
                            <a:srgbClr val="3B4A53"/>
                          </a:solidFill>
                        </a:rPr>
                        <a:t>TCP</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TCP ARQ</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in-order</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r>
              <a:tr h="347472">
                <a:tc>
                  <a:txBody>
                    <a:bodyPr/>
                    <a:lstStyle/>
                    <a:p>
                      <a:pPr indent="0" marL="0">
                        <a:buNone/>
                      </a:pPr>
                      <a:r>
                        <a:rPr lang="en-US" sz="1200" dirty="0">
                          <a:solidFill>
                            <a:srgbClr val="3B4A53"/>
                          </a:solidFill>
                        </a:rPr>
                        <a:t>UDP</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none</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none</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r>
              <a:tr h="347472">
                <a:tc>
                  <a:txBody>
                    <a:bodyPr/>
                    <a:lstStyle/>
                    <a:p>
                      <a:pPr indent="0" marL="0">
                        <a:buNone/>
                      </a:pPr>
                      <a:r>
                        <a:rPr lang="en-US" sz="1200" dirty="0">
                          <a:solidFill>
                            <a:srgbClr val="3B4A53"/>
                          </a:solidFill>
                        </a:rPr>
                        <a:t>UDP+Prio</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none</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none</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r>
              <a:tr h="347472">
                <a:tc>
                  <a:txBody>
                    <a:bodyPr/>
                    <a:lstStyle/>
                    <a:p>
                      <a:pPr indent="0" marL="0">
                        <a:buNone/>
                      </a:pPr>
                      <a:r>
                        <a:rPr lang="en-US" sz="1200" dirty="0">
                          <a:solidFill>
                            <a:srgbClr val="3B4A53"/>
                          </a:solidFill>
                        </a:rPr>
                        <a:t>Transport-only</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deadline-aware ARQ</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none</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dirty="0">
                          <a:solidFill>
                            <a:srgbClr val="3B4A53"/>
                          </a:solidFill>
                        </a:rPr>
                        <a:t>✓</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r>
              <a:tr h="347472">
                <a:tc>
                  <a:txBody>
                    <a:bodyPr/>
                    <a:lstStyle/>
                    <a:p>
                      <a:pPr indent="0" marL="0">
                        <a:buNone/>
                      </a:pPr>
                      <a:r>
                        <a:rPr lang="en-US" sz="1200" b="1" dirty="0">
                          <a:solidFill>
                            <a:schemeClr val="tx1"/>
                          </a:solidFill>
                        </a:rPr>
                        <a:t>Proposed</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b="1" dirty="0">
                          <a:solidFill>
                            <a:schemeClr val="tx1"/>
                          </a:solidFill>
                        </a:rPr>
                        <a:t>deadline-aware ARQ</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b="1" dirty="0">
                          <a:solidFill>
                            <a:schemeClr val="tx1"/>
                          </a:solidFill>
                        </a:rPr>
                        <a:t>none</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b="1" dirty="0">
                          <a:solidFill>
                            <a:schemeClr val="tx1"/>
                          </a:solidFill>
                        </a:rPr>
                        <a:t>✓</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b="1" dirty="0">
                          <a:solidFill>
                            <a:schemeClr val="tx1"/>
                          </a:solidFill>
                        </a:rPr>
                        <a:t>✓</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c>
                  <a:txBody>
                    <a:bodyPr/>
                    <a:lstStyle/>
                    <a:p>
                      <a:pPr indent="0" marL="0">
                        <a:buNone/>
                      </a:pPr>
                      <a:r>
                        <a:rPr lang="en-US" sz="1200" b="1" dirty="0">
                          <a:solidFill>
                            <a:schemeClr val="tx1"/>
                          </a:solidFill>
                        </a:rPr>
                        <a:t>✓</a:t>
                      </a:r>
                      <a:endParaRPr lang="en-US" sz="1200" dirty="0"/>
                    </a:p>
                  </a:txBody>
                  <a:tcPr marL="91440" marR="91440" marT="45720" marB="45720"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tcPr>
                </a:tc>
              </a:tr>
            </a:tbl>
          </a:graphicData>
        </a:graphic>
      </p:graphicFrame>
      <p:sp>
        <p:nvSpPr>
          <p:cNvPr id="4" name="Text 1"/>
          <p:cNvSpPr txBox="1"/>
          <p:nvPr/>
        </p:nvSpPr>
        <p:spPr>
          <a:xfrm>
            <a:off x="457200" y="3611880"/>
            <a:ext cx="8229600" cy="914400"/>
          </a:xfrm>
          <a:prstGeom prst="rect">
            <a:avLst/>
          </a:prstGeom>
          <a:noFill/>
          <a:ln/>
        </p:spPr>
        <p:txBody>
          <a:bodyPr wrap="square" lIns="0" tIns="0" rIns="0" bIns="0" rtlCol="0" anchor="t"/>
          <a:lstStyle/>
          <a:p>
            <a:pPr indent="0" marL="0">
              <a:buNone/>
            </a:pPr>
            <a:r>
              <a:rPr lang="en-US" sz="1400" b="1" dirty="0">
                <a:solidFill>
                  <a:srgbClr val="3B4A53"/>
                </a:solidFill>
              </a:rPr>
              <a:t>Default scenario: </a:t>
            </a:r>
            <a:pPr indent="0" marL="0">
              <a:buNone/>
            </a:pPr>
            <a:r>
              <a:rPr lang="en-US" sz="1400" dirty="0">
                <a:solidFill>
                  <a:srgbClr val="3B4A53"/>
                </a:solidFill>
              </a:rPr>
              <a:t>40 patients, 8 bulk flows, 200 kB buffer, one-way delay 10 ms, ACKs also lossy. 8 seeds per setting, 95% confidence intervals. Custom discrete-time simulator (1 ms steps); same message schedule for every configuration within a seed.</a:t>
            </a:r>
            <a:endParaRPr lang="en-US" sz="14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914400"/>
          </a:xfrm>
          <a:prstGeom prst="rect">
            <a:avLst/>
          </a:prstGeom>
          <a:noFill/>
          <a:ln/>
        </p:spPr>
        <p:txBody>
          <a:bodyPr wrap="square" lIns="0" tIns="0" rIns="0" bIns="0" rtlCol="0" anchor="ctr"/>
          <a:lstStyle/>
          <a:p>
            <a:pPr algn="l" indent="0" marL="0">
              <a:buNone/>
            </a:pPr>
            <a:r>
              <a:rPr lang="en-US" sz="3000" b="1" dirty="0">
                <a:solidFill>
                  <a:schemeClr val="tx1"/>
                </a:solidFill>
              </a:rPr>
              <a:t>Under congestion, only the full design meets deadlines</a:t>
            </a:r>
            <a:endParaRPr lang="en-US" sz="3000" dirty="0"/>
          </a:p>
        </p:txBody>
      </p:sp>
      <p:graphicFrame>
        <p:nvGraphicFramePr>
          <p:cNvPr id="3" name="Chart 0" descr=""/>
          <p:cNvGraphicFramePr/>
          <p:nvPr/>
        </p:nvGraphicFramePr>
        <p:xfrm>
          <a:off x="365760" y="1234440"/>
          <a:ext cx="5852160" cy="3474720"/>
        </p:xfrm>
        <a:graphic xmlns:a="http://schemas.openxmlformats.org/drawingml/2006/main">
          <a:graphicData uri="http://schemas.openxmlformats.org/drawingml/2006/chart">
            <c:chart xmlns:c="http://schemas.openxmlformats.org/drawingml/2006/chart" r:id="rId1"/>
          </a:graphicData>
        </a:graphic>
      </p:graphicFrame>
      <p:sp>
        <p:nvSpPr>
          <p:cNvPr id="4" name="Stat TCP alarms"/>
          <p:cNvSpPr/>
          <p:nvPr/>
        </p:nvSpPr>
        <p:spPr>
          <a:xfrm>
            <a:off x="6492240" y="1280160"/>
            <a:ext cx="2194560" cy="1051560"/>
          </a:xfrm>
          <a:prstGeom prst="roundRect">
            <a:avLst>
              <a:gd name="adj" fmla="val 6957"/>
            </a:avLst>
          </a:prstGeom>
          <a:solidFill>
            <a:schemeClr val="bg2"/>
          </a:solidFill>
          <a:ln/>
        </p:spPr>
      </p:sp>
      <p:sp>
        <p:nvSpPr>
          <p:cNvPr id="5" name="Text 2"/>
          <p:cNvSpPr txBox="1"/>
          <p:nvPr/>
        </p:nvSpPr>
        <p:spPr>
          <a:xfrm>
            <a:off x="6629400" y="1389888"/>
            <a:ext cx="1920240" cy="525780"/>
          </a:xfrm>
          <a:prstGeom prst="rect">
            <a:avLst/>
          </a:prstGeom>
          <a:noFill/>
          <a:ln/>
        </p:spPr>
        <p:txBody>
          <a:bodyPr wrap="square" lIns="0" tIns="0" rIns="0" bIns="0" rtlCol="0" anchor="ctr">
            <a:normAutofit/>
          </a:bodyPr>
          <a:lstStyle/>
          <a:p>
            <a:pPr indent="0" marL="0">
              <a:buNone/>
            </a:pPr>
            <a:r>
              <a:rPr lang="en-US" sz="3600" b="1" dirty="0">
                <a:solidFill>
                  <a:schemeClr val="accent2"/>
                </a:solidFill>
              </a:rPr>
              <a:t>20.1%</a:t>
            </a:r>
            <a:endParaRPr lang="en-US" sz="3600" dirty="0"/>
          </a:p>
        </p:txBody>
      </p:sp>
      <p:sp>
        <p:nvSpPr>
          <p:cNvPr id="6" name="Text 3"/>
          <p:cNvSpPr txBox="1"/>
          <p:nvPr/>
        </p:nvSpPr>
        <p:spPr>
          <a:xfrm>
            <a:off x="6629400" y="1890065"/>
            <a:ext cx="1920240" cy="378562"/>
          </a:xfrm>
          <a:prstGeom prst="rect">
            <a:avLst/>
          </a:prstGeom>
          <a:noFill/>
          <a:ln/>
        </p:spPr>
        <p:txBody>
          <a:bodyPr wrap="square" lIns="0" tIns="0" rIns="0" bIns="0" rtlCol="0" anchor="t"/>
          <a:lstStyle/>
          <a:p>
            <a:pPr indent="0" marL="0">
              <a:buNone/>
            </a:pPr>
            <a:r>
              <a:rPr lang="en-US" sz="1200" dirty="0">
                <a:solidFill>
                  <a:srgbClr val="3B4A53"/>
                </a:solidFill>
              </a:rPr>
              <a:t>alarms on time with TCP</a:t>
            </a:r>
            <a:endParaRPr lang="en-US" sz="1200" dirty="0"/>
          </a:p>
        </p:txBody>
      </p:sp>
      <p:sp>
        <p:nvSpPr>
          <p:cNvPr id="7" name="Stat proposed alarms"/>
          <p:cNvSpPr/>
          <p:nvPr/>
        </p:nvSpPr>
        <p:spPr>
          <a:xfrm>
            <a:off x="6492240" y="2423160"/>
            <a:ext cx="2194560" cy="1051560"/>
          </a:xfrm>
          <a:prstGeom prst="roundRect">
            <a:avLst>
              <a:gd name="adj" fmla="val 6957"/>
            </a:avLst>
          </a:prstGeom>
          <a:solidFill>
            <a:schemeClr val="bg2"/>
          </a:solidFill>
          <a:ln/>
        </p:spPr>
      </p:sp>
      <p:sp>
        <p:nvSpPr>
          <p:cNvPr id="8" name="Text 5"/>
          <p:cNvSpPr txBox="1"/>
          <p:nvPr/>
        </p:nvSpPr>
        <p:spPr>
          <a:xfrm>
            <a:off x="6629400" y="2532888"/>
            <a:ext cx="1920240" cy="525780"/>
          </a:xfrm>
          <a:prstGeom prst="rect">
            <a:avLst/>
          </a:prstGeom>
          <a:noFill/>
          <a:ln/>
        </p:spPr>
        <p:txBody>
          <a:bodyPr wrap="square" lIns="0" tIns="0" rIns="0" bIns="0" rtlCol="0" anchor="ctr">
            <a:normAutofit/>
          </a:bodyPr>
          <a:lstStyle/>
          <a:p>
            <a:pPr indent="0" marL="0">
              <a:buNone/>
            </a:pPr>
            <a:r>
              <a:rPr lang="en-US" sz="3600" b="1" dirty="0">
                <a:solidFill>
                  <a:schemeClr val="accent1"/>
                </a:solidFill>
              </a:rPr>
              <a:t>100.0%</a:t>
            </a:r>
            <a:endParaRPr lang="en-US" sz="3600" dirty="0"/>
          </a:p>
        </p:txBody>
      </p:sp>
      <p:sp>
        <p:nvSpPr>
          <p:cNvPr id="9" name="Text 6"/>
          <p:cNvSpPr txBox="1"/>
          <p:nvPr/>
        </p:nvSpPr>
        <p:spPr>
          <a:xfrm>
            <a:off x="6629400" y="3033065"/>
            <a:ext cx="1920240" cy="378562"/>
          </a:xfrm>
          <a:prstGeom prst="rect">
            <a:avLst/>
          </a:prstGeom>
          <a:noFill/>
          <a:ln/>
        </p:spPr>
        <p:txBody>
          <a:bodyPr wrap="square" lIns="0" tIns="0" rIns="0" bIns="0" rtlCol="0" anchor="t"/>
          <a:lstStyle/>
          <a:p>
            <a:pPr indent="0" marL="0">
              <a:buNone/>
            </a:pPr>
            <a:r>
              <a:rPr lang="en-US" sz="1200" dirty="0">
                <a:solidFill>
                  <a:srgbClr val="3B4A53"/>
                </a:solidFill>
              </a:rPr>
              <a:t>alarms on time, proposed</a:t>
            </a:r>
            <a:endParaRPr lang="en-US" sz="1200" dirty="0"/>
          </a:p>
        </p:txBody>
      </p:sp>
      <p:sp>
        <p:nvSpPr>
          <p:cNvPr id="10" name="Stat cost"/>
          <p:cNvSpPr/>
          <p:nvPr/>
        </p:nvSpPr>
        <p:spPr>
          <a:xfrm>
            <a:off x="6492240" y="3566160"/>
            <a:ext cx="2194560" cy="1051560"/>
          </a:xfrm>
          <a:prstGeom prst="roundRect">
            <a:avLst>
              <a:gd name="adj" fmla="val 6957"/>
            </a:avLst>
          </a:prstGeom>
          <a:solidFill>
            <a:schemeClr val="bg2"/>
          </a:solidFill>
          <a:ln/>
        </p:spPr>
      </p:sp>
      <p:sp>
        <p:nvSpPr>
          <p:cNvPr id="11" name="Text 8"/>
          <p:cNvSpPr txBox="1"/>
          <p:nvPr/>
        </p:nvSpPr>
        <p:spPr>
          <a:xfrm>
            <a:off x="6629400" y="3675888"/>
            <a:ext cx="1920240" cy="525780"/>
          </a:xfrm>
          <a:prstGeom prst="rect">
            <a:avLst/>
          </a:prstGeom>
          <a:noFill/>
          <a:ln/>
        </p:spPr>
        <p:txBody>
          <a:bodyPr wrap="square" lIns="0" tIns="0" rIns="0" bIns="0" rtlCol="0" anchor="ctr">
            <a:normAutofit/>
          </a:bodyPr>
          <a:lstStyle/>
          <a:p>
            <a:pPr indent="0" marL="0">
              <a:buNone/>
            </a:pPr>
            <a:r>
              <a:rPr lang="en-US" sz="3600" b="1" dirty="0">
                <a:solidFill>
                  <a:schemeClr val="tx1"/>
                </a:solidFill>
              </a:rPr>
              <a:t>-11%</a:t>
            </a:r>
            <a:endParaRPr lang="en-US" sz="3600" dirty="0"/>
          </a:p>
        </p:txBody>
      </p:sp>
      <p:sp>
        <p:nvSpPr>
          <p:cNvPr id="12" name="Text 9"/>
          <p:cNvSpPr txBox="1"/>
          <p:nvPr/>
        </p:nvSpPr>
        <p:spPr>
          <a:xfrm>
            <a:off x="6629400" y="4176065"/>
            <a:ext cx="1920240" cy="378562"/>
          </a:xfrm>
          <a:prstGeom prst="rect">
            <a:avLst/>
          </a:prstGeom>
          <a:noFill/>
          <a:ln/>
        </p:spPr>
        <p:txBody>
          <a:bodyPr wrap="square" lIns="0" tIns="0" rIns="0" bIns="0" rtlCol="0" anchor="t"/>
          <a:lstStyle/>
          <a:p>
            <a:pPr indent="0" marL="0">
              <a:buNone/>
            </a:pPr>
            <a:r>
              <a:rPr lang="en-US" sz="1200" dirty="0">
                <a:solidFill>
                  <a:srgbClr val="3B4A53"/>
                </a:solidFill>
              </a:rPr>
              <a:t>bulk goodput vs UDP+Prio</a:t>
            </a:r>
            <a:endParaRPr lang="en-US" sz="12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914400"/>
          </a:xfrm>
          <a:prstGeom prst="rect">
            <a:avLst/>
          </a:prstGeom>
          <a:noFill/>
          <a:ln/>
        </p:spPr>
        <p:txBody>
          <a:bodyPr wrap="square" lIns="0" tIns="0" rIns="0" bIns="0" rtlCol="0" anchor="ctr"/>
          <a:lstStyle/>
          <a:p>
            <a:pPr algn="l" indent="0" marL="0">
              <a:buNone/>
            </a:pPr>
            <a:r>
              <a:rPr lang="en-US" sz="3000" b="1" dirty="0">
                <a:solidFill>
                  <a:schemeClr val="tx1"/>
                </a:solidFill>
              </a:rPr>
              <a:t>TCP fades as background flows grow; the design does not</a:t>
            </a:r>
            <a:endParaRPr lang="en-US" sz="3000" dirty="0"/>
          </a:p>
        </p:txBody>
      </p:sp>
      <p:graphicFrame>
        <p:nvGraphicFramePr>
          <p:cNvPr id="3" name="Chart 0" descr=""/>
          <p:cNvGraphicFramePr/>
          <p:nvPr/>
        </p:nvGraphicFramePr>
        <p:xfrm>
          <a:off x="365760" y="1234440"/>
          <a:ext cx="4206240" cy="32004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572000" y="1234440"/>
          <a:ext cx="4206240" cy="3200400"/>
        </p:xfrm>
        <a:graphic xmlns:a="http://schemas.openxmlformats.org/drawingml/2006/main">
          <a:graphicData uri="http://schemas.openxmlformats.org/drawingml/2006/chart">
            <c:chart xmlns:c="http://schemas.openxmlformats.org/drawingml/2006/chart" r:id="rId2"/>
          </a:graphicData>
        </a:graphic>
      </p:graphicFrame>
      <p:sp>
        <p:nvSpPr>
          <p:cNvPr id="5" name="Legend dot TCP"/>
          <p:cNvSpPr/>
          <p:nvPr/>
        </p:nvSpPr>
        <p:spPr>
          <a:xfrm>
            <a:off x="822960" y="4553712"/>
            <a:ext cx="128016" cy="128016"/>
          </a:xfrm>
          <a:prstGeom prst="ellipse">
            <a:avLst/>
          </a:prstGeom>
          <a:solidFill>
            <a:srgbClr val="E4572E"/>
          </a:solidFill>
          <a:ln/>
        </p:spPr>
      </p:sp>
      <p:sp>
        <p:nvSpPr>
          <p:cNvPr id="6" name="Text 2"/>
          <p:cNvSpPr txBox="1"/>
          <p:nvPr/>
        </p:nvSpPr>
        <p:spPr>
          <a:xfrm>
            <a:off x="1005840" y="4480560"/>
            <a:ext cx="1280160" cy="274320"/>
          </a:xfrm>
          <a:prstGeom prst="rect">
            <a:avLst/>
          </a:prstGeom>
          <a:noFill/>
          <a:ln/>
        </p:spPr>
        <p:txBody>
          <a:bodyPr wrap="square" lIns="0" tIns="0" rIns="0" bIns="0" rtlCol="0" anchor="ctr"/>
          <a:lstStyle/>
          <a:p>
            <a:pPr indent="0" marL="0">
              <a:buNone/>
            </a:pPr>
            <a:r>
              <a:rPr lang="en-US" sz="1100" dirty="0">
                <a:solidFill>
                  <a:srgbClr val="3B4A53"/>
                </a:solidFill>
              </a:rPr>
              <a:t>TCP</a:t>
            </a:r>
            <a:endParaRPr lang="en-US" sz="1100" dirty="0"/>
          </a:p>
        </p:txBody>
      </p:sp>
      <p:sp>
        <p:nvSpPr>
          <p:cNvPr id="7" name="Legend dot UDP"/>
          <p:cNvSpPr/>
          <p:nvPr/>
        </p:nvSpPr>
        <p:spPr>
          <a:xfrm>
            <a:off x="2423160" y="4553712"/>
            <a:ext cx="128016" cy="128016"/>
          </a:xfrm>
          <a:prstGeom prst="ellipse">
            <a:avLst/>
          </a:prstGeom>
          <a:solidFill>
            <a:srgbClr val="F2A541"/>
          </a:solidFill>
          <a:ln/>
        </p:spPr>
      </p:sp>
      <p:sp>
        <p:nvSpPr>
          <p:cNvPr id="8" name="Text 4"/>
          <p:cNvSpPr txBox="1"/>
          <p:nvPr/>
        </p:nvSpPr>
        <p:spPr>
          <a:xfrm>
            <a:off x="2606040" y="4480560"/>
            <a:ext cx="1280160" cy="274320"/>
          </a:xfrm>
          <a:prstGeom prst="rect">
            <a:avLst/>
          </a:prstGeom>
          <a:noFill/>
          <a:ln/>
        </p:spPr>
        <p:txBody>
          <a:bodyPr wrap="square" lIns="0" tIns="0" rIns="0" bIns="0" rtlCol="0" anchor="ctr"/>
          <a:lstStyle/>
          <a:p>
            <a:pPr indent="0" marL="0">
              <a:buNone/>
            </a:pPr>
            <a:r>
              <a:rPr lang="en-US" sz="1100" dirty="0">
                <a:solidFill>
                  <a:srgbClr val="3B4A53"/>
                </a:solidFill>
              </a:rPr>
              <a:t>UDP</a:t>
            </a:r>
            <a:endParaRPr lang="en-US" sz="1100" dirty="0"/>
          </a:p>
        </p:txBody>
      </p:sp>
      <p:sp>
        <p:nvSpPr>
          <p:cNvPr id="9" name="Legend dot UDP+Prio"/>
          <p:cNvSpPr/>
          <p:nvPr/>
        </p:nvSpPr>
        <p:spPr>
          <a:xfrm>
            <a:off x="4023360" y="4553712"/>
            <a:ext cx="128016" cy="128016"/>
          </a:xfrm>
          <a:prstGeom prst="ellipse">
            <a:avLst/>
          </a:prstGeom>
          <a:solidFill>
            <a:srgbClr val="5B8FB9"/>
          </a:solidFill>
          <a:ln/>
        </p:spPr>
      </p:sp>
      <p:sp>
        <p:nvSpPr>
          <p:cNvPr id="10" name="Text 6"/>
          <p:cNvSpPr txBox="1"/>
          <p:nvPr/>
        </p:nvSpPr>
        <p:spPr>
          <a:xfrm>
            <a:off x="4206240" y="4480560"/>
            <a:ext cx="1280160" cy="274320"/>
          </a:xfrm>
          <a:prstGeom prst="rect">
            <a:avLst/>
          </a:prstGeom>
          <a:noFill/>
          <a:ln/>
        </p:spPr>
        <p:txBody>
          <a:bodyPr wrap="square" lIns="0" tIns="0" rIns="0" bIns="0" rtlCol="0" anchor="ctr"/>
          <a:lstStyle/>
          <a:p>
            <a:pPr indent="0" marL="0">
              <a:buNone/>
            </a:pPr>
            <a:r>
              <a:rPr lang="en-US" sz="1100" dirty="0">
                <a:solidFill>
                  <a:srgbClr val="3B4A53"/>
                </a:solidFill>
              </a:rPr>
              <a:t>UDP+Prio</a:t>
            </a:r>
            <a:endParaRPr lang="en-US" sz="1100" dirty="0"/>
          </a:p>
        </p:txBody>
      </p:sp>
      <p:sp>
        <p:nvSpPr>
          <p:cNvPr id="11" name="Legend dot Transport-only"/>
          <p:cNvSpPr/>
          <p:nvPr/>
        </p:nvSpPr>
        <p:spPr>
          <a:xfrm>
            <a:off x="5623560" y="4553712"/>
            <a:ext cx="128016" cy="128016"/>
          </a:xfrm>
          <a:prstGeom prst="ellipse">
            <a:avLst/>
          </a:prstGeom>
          <a:solidFill>
            <a:srgbClr val="7A8B99"/>
          </a:solidFill>
          <a:ln/>
        </p:spPr>
      </p:sp>
      <p:sp>
        <p:nvSpPr>
          <p:cNvPr id="12" name="Text 8"/>
          <p:cNvSpPr txBox="1"/>
          <p:nvPr/>
        </p:nvSpPr>
        <p:spPr>
          <a:xfrm>
            <a:off x="5806440" y="4480560"/>
            <a:ext cx="1280160" cy="274320"/>
          </a:xfrm>
          <a:prstGeom prst="rect">
            <a:avLst/>
          </a:prstGeom>
          <a:noFill/>
          <a:ln/>
        </p:spPr>
        <p:txBody>
          <a:bodyPr wrap="square" lIns="0" tIns="0" rIns="0" bIns="0" rtlCol="0" anchor="ctr"/>
          <a:lstStyle/>
          <a:p>
            <a:pPr indent="0" marL="0">
              <a:buNone/>
            </a:pPr>
            <a:r>
              <a:rPr lang="en-US" sz="1100" dirty="0">
                <a:solidFill>
                  <a:srgbClr val="3B4A53"/>
                </a:solidFill>
              </a:rPr>
              <a:t>Transport-only</a:t>
            </a:r>
            <a:endParaRPr lang="en-US" sz="1100" dirty="0"/>
          </a:p>
        </p:txBody>
      </p:sp>
      <p:sp>
        <p:nvSpPr>
          <p:cNvPr id="13" name="Legend dot Proposed"/>
          <p:cNvSpPr/>
          <p:nvPr/>
        </p:nvSpPr>
        <p:spPr>
          <a:xfrm>
            <a:off x="7223760" y="4553712"/>
            <a:ext cx="128016" cy="128016"/>
          </a:xfrm>
          <a:prstGeom prst="ellipse">
            <a:avLst/>
          </a:prstGeom>
          <a:solidFill>
            <a:srgbClr val="0E7C86"/>
          </a:solidFill>
          <a:ln/>
        </p:spPr>
      </p:sp>
      <p:sp>
        <p:nvSpPr>
          <p:cNvPr id="14" name="Text 10"/>
          <p:cNvSpPr txBox="1"/>
          <p:nvPr/>
        </p:nvSpPr>
        <p:spPr>
          <a:xfrm>
            <a:off x="7406640" y="4480560"/>
            <a:ext cx="1280160" cy="274320"/>
          </a:xfrm>
          <a:prstGeom prst="rect">
            <a:avLst/>
          </a:prstGeom>
          <a:noFill/>
          <a:ln/>
        </p:spPr>
        <p:txBody>
          <a:bodyPr wrap="square" lIns="0" tIns="0" rIns="0" bIns="0" rtlCol="0" anchor="ctr"/>
          <a:lstStyle/>
          <a:p>
            <a:pPr indent="0" marL="0">
              <a:buNone/>
            </a:pPr>
            <a:r>
              <a:rPr lang="en-US" sz="1100" dirty="0">
                <a:solidFill>
                  <a:srgbClr val="3B4A53"/>
                </a:solidFill>
              </a:rPr>
              <a:t>Proposed</a:t>
            </a:r>
            <a:endParaRPr lang="en-US" sz="11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914400"/>
          </a:xfrm>
          <a:prstGeom prst="rect">
            <a:avLst/>
          </a:prstGeom>
          <a:noFill/>
          <a:ln/>
        </p:spPr>
        <p:txBody>
          <a:bodyPr wrap="square" lIns="0" tIns="0" rIns="0" bIns="0" rtlCol="0" anchor="ctr"/>
          <a:lstStyle/>
          <a:p>
            <a:pPr algn="l" indent="0" marL="0">
              <a:buNone/>
            </a:pPr>
            <a:r>
              <a:rPr lang="en-US" sz="3000" b="1" dirty="0">
                <a:solidFill>
                  <a:schemeClr val="tx1"/>
                </a:solidFill>
              </a:rPr>
              <a:t>Tail latency: a bounded 20 to 40 ms instead of seconds</a:t>
            </a:r>
            <a:endParaRPr lang="en-US" sz="3000" dirty="0"/>
          </a:p>
        </p:txBody>
      </p:sp>
      <p:graphicFrame>
        <p:nvGraphicFramePr>
          <p:cNvPr id="3" name="Chart 0" descr=""/>
          <p:cNvGraphicFramePr/>
          <p:nvPr/>
        </p:nvGraphicFramePr>
        <p:xfrm>
          <a:off x="365760" y="1234440"/>
          <a:ext cx="5852160" cy="3474720"/>
        </p:xfrm>
        <a:graphic xmlns:a="http://schemas.openxmlformats.org/drawingml/2006/main">
          <a:graphicData uri="http://schemas.openxmlformats.org/drawingml/2006/chart">
            <c:chart xmlns:c="http://schemas.openxmlformats.org/drawingml/2006/chart" r:id="rId1"/>
          </a:graphicData>
        </a:graphic>
      </p:graphicFrame>
      <p:sp>
        <p:nvSpPr>
          <p:cNvPr id="4" name="Latency card"/>
          <p:cNvSpPr/>
          <p:nvPr/>
        </p:nvSpPr>
        <p:spPr>
          <a:xfrm>
            <a:off x="6492240" y="1280160"/>
            <a:ext cx="2194560" cy="3337560"/>
          </a:xfrm>
          <a:prstGeom prst="roundRect">
            <a:avLst>
              <a:gd name="adj" fmla="val 3333"/>
            </a:avLst>
          </a:prstGeom>
          <a:solidFill>
            <a:schemeClr val="bg2"/>
          </a:solidFill>
          <a:ln/>
        </p:spPr>
      </p:sp>
      <p:sp>
        <p:nvSpPr>
          <p:cNvPr id="5" name="Text 2"/>
          <p:cNvSpPr txBox="1"/>
          <p:nvPr/>
        </p:nvSpPr>
        <p:spPr>
          <a:xfrm>
            <a:off x="6629400" y="1389888"/>
            <a:ext cx="1965960" cy="3154680"/>
          </a:xfrm>
          <a:prstGeom prst="rect">
            <a:avLst/>
          </a:prstGeom>
          <a:noFill/>
          <a:ln/>
        </p:spPr>
        <p:txBody>
          <a:bodyPr wrap="square" lIns="0" tIns="0" rIns="0" bIns="0" rtlCol="0" anchor="t"/>
          <a:lstStyle/>
          <a:p>
            <a:pPr indent="0" marL="0">
              <a:buNone/>
            </a:pPr>
            <a:r>
              <a:rPr lang="en-US" sz="1400" b="1" dirty="0">
                <a:solidFill>
                  <a:schemeClr val="tx1"/>
                </a:solidFill>
              </a:rPr>
              <a:t>Deadlines</a:t>
            </a:r>
            <a:endParaRPr lang="en-US" sz="1400" dirty="0"/>
          </a:p>
          <a:p>
            <a:pPr indent="0" marL="0">
              <a:buNone/>
            </a:pPr>
            <a:r>
              <a:rPr lang="en-US" sz="1300" dirty="0">
                <a:solidFill>
                  <a:srgbClr val="3B4A53"/>
                </a:solidFill>
              </a:rPr>
              <a:t>Alarm 150 ms, ECG 300 ms</a:t>
            </a:r>
            <a:endParaRPr lang="en-US" sz="1400" dirty="0"/>
          </a:p>
          <a:p>
            <a:pPr indent="0" marL="0">
              <a:buNone/>
            </a:pPr>
            <a:r>
              <a:rPr lang="en-US" sz="800" dirty="0">
                <a:solidFill>
                  <a:srgbClr val="000000"/>
                </a:solidFill>
              </a:rPr>
              <a:t> </a:t>
            </a:r>
            <a:endParaRPr lang="en-US" sz="1400" dirty="0"/>
          </a:p>
          <a:p>
            <a:pPr indent="0" marL="0">
              <a:buNone/>
            </a:pPr>
            <a:r>
              <a:rPr lang="en-US" sz="1400" b="1" dirty="0">
                <a:solidFill>
                  <a:schemeClr val="tx1"/>
                </a:solidFill>
              </a:rPr>
              <a:t>FIFO baselines</a:t>
            </a:r>
            <a:endParaRPr lang="en-US" sz="1400" dirty="0"/>
          </a:p>
          <a:p>
            <a:pPr indent="0" marL="0">
              <a:buNone/>
            </a:pPr>
            <a:r>
              <a:rPr lang="en-US" sz="1300" dirty="0">
                <a:solidFill>
                  <a:srgbClr val="3B4A53"/>
                </a:solidFill>
              </a:rPr>
              <a:t>UDP and Transport-only sit near 230 ms, the queue drain time; TCP reaches about 1 s.</a:t>
            </a:r>
            <a:endParaRPr lang="en-US" sz="1400" dirty="0"/>
          </a:p>
          <a:p>
            <a:pPr indent="0" marL="0">
              <a:buNone/>
            </a:pPr>
            <a:r>
              <a:rPr lang="en-US" sz="800" dirty="0">
                <a:solidFill>
                  <a:srgbClr val="000000"/>
                </a:solidFill>
              </a:rPr>
              <a:t> </a:t>
            </a:r>
            <a:endParaRPr lang="en-US" sz="1400" dirty="0"/>
          </a:p>
          <a:p>
            <a:pPr indent="0" marL="0">
              <a:buNone/>
            </a:pPr>
            <a:r>
              <a:rPr lang="en-US" sz="1400" b="1" dirty="0">
                <a:solidFill>
                  <a:schemeClr val="accent1"/>
                </a:solidFill>
              </a:rPr>
              <a:t>Proposed</a:t>
            </a:r>
            <a:endParaRPr lang="en-US" sz="1400" dirty="0"/>
          </a:p>
          <a:p>
            <a:pPr indent="0" marL="0">
              <a:buNone/>
            </a:pPr>
            <a:r>
              <a:rPr lang="en-US" sz="1300" dirty="0">
                <a:solidFill>
                  <a:srgbClr val="3B4A53"/>
                </a:solidFill>
              </a:rPr>
              <a:t>Path delay plus at most one repair.</a:t>
            </a:r>
            <a:endParaRPr lang="en-US" sz="14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914400"/>
          </a:xfrm>
          <a:prstGeom prst="rect">
            <a:avLst/>
          </a:prstGeom>
          <a:noFill/>
          <a:ln/>
        </p:spPr>
        <p:txBody>
          <a:bodyPr wrap="square" lIns="0" tIns="0" rIns="0" bIns="0" rtlCol="0" anchor="ctr"/>
          <a:lstStyle/>
          <a:p>
            <a:pPr algn="l" indent="0" marL="0">
              <a:buNone/>
            </a:pPr>
            <a:r>
              <a:rPr lang="en-US" sz="3000" b="1" dirty="0">
                <a:solidFill>
                  <a:schemeClr val="tx1"/>
                </a:solidFill>
              </a:rPr>
              <a:t>Scaling to 100 patients, and why the gate matters</a:t>
            </a:r>
            <a:endParaRPr lang="en-US" sz="3000" dirty="0"/>
          </a:p>
        </p:txBody>
      </p:sp>
      <p:graphicFrame>
        <p:nvGraphicFramePr>
          <p:cNvPr id="3" name="Chart 0" descr=""/>
          <p:cNvGraphicFramePr/>
          <p:nvPr/>
        </p:nvGraphicFramePr>
        <p:xfrm>
          <a:off x="365760" y="1234440"/>
          <a:ext cx="5394960" cy="3474720"/>
        </p:xfrm>
        <a:graphic xmlns:a="http://schemas.openxmlformats.org/drawingml/2006/main">
          <a:graphicData uri="http://schemas.openxmlformats.org/drawingml/2006/chart">
            <c:chart xmlns:c="http://schemas.openxmlformats.org/drawingml/2006/chart" r:id="rId1"/>
          </a:graphicData>
        </a:graphic>
      </p:graphicFrame>
      <p:sp>
        <p:nvSpPr>
          <p:cNvPr id="4" name="Scaling card"/>
          <p:cNvSpPr/>
          <p:nvPr/>
        </p:nvSpPr>
        <p:spPr>
          <a:xfrm>
            <a:off x="5989320" y="1280160"/>
            <a:ext cx="2697480" cy="3337560"/>
          </a:xfrm>
          <a:prstGeom prst="roundRect">
            <a:avLst>
              <a:gd name="adj" fmla="val 2712"/>
            </a:avLst>
          </a:prstGeom>
          <a:solidFill>
            <a:schemeClr val="bg2"/>
          </a:solidFill>
          <a:ln/>
        </p:spPr>
      </p:sp>
      <p:sp>
        <p:nvSpPr>
          <p:cNvPr id="5" name="Text 2"/>
          <p:cNvSpPr txBox="1"/>
          <p:nvPr/>
        </p:nvSpPr>
        <p:spPr>
          <a:xfrm>
            <a:off x="6126480" y="1389888"/>
            <a:ext cx="2468880" cy="3154680"/>
          </a:xfrm>
          <a:prstGeom prst="rect">
            <a:avLst/>
          </a:prstGeom>
          <a:noFill/>
          <a:ln/>
        </p:spPr>
        <p:txBody>
          <a:bodyPr wrap="square" lIns="0" tIns="0" rIns="0" bIns="0" rtlCol="0" anchor="t"/>
          <a:lstStyle/>
          <a:p>
            <a:pPr indent="0" marL="0">
              <a:buNone/>
            </a:pPr>
            <a:r>
              <a:rPr lang="en-US" sz="1400" b="1" dirty="0">
                <a:solidFill>
                  <a:schemeClr val="tx1"/>
                </a:solidFill>
              </a:rPr>
              <a:t>Up to 100 patients</a:t>
            </a:r>
            <a:endParaRPr lang="en-US" sz="1400" dirty="0"/>
          </a:p>
          <a:p>
            <a:pPr indent="0" marL="0">
              <a:buNone/>
            </a:pPr>
            <a:r>
              <a:rPr lang="en-US" sz="1300" dirty="0">
                <a:solidFill>
                  <a:srgbClr val="3B4A53"/>
                </a:solidFill>
              </a:rPr>
              <a:t>Proposed keeps every class at or above 99.9%.</a:t>
            </a:r>
            <a:endParaRPr lang="en-US" sz="1400" dirty="0"/>
          </a:p>
          <a:p>
            <a:pPr indent="0" marL="0">
              <a:buNone/>
            </a:pPr>
            <a:r>
              <a:rPr lang="en-US" sz="800" dirty="0">
                <a:solidFill>
                  <a:srgbClr val="000000"/>
                </a:solidFill>
              </a:rPr>
              <a:t> </a:t>
            </a:r>
            <a:endParaRPr lang="en-US" sz="1400" dirty="0"/>
          </a:p>
          <a:p>
            <a:pPr indent="0" marL="0">
              <a:buNone/>
            </a:pPr>
            <a:r>
              <a:rPr lang="en-US" sz="1400" b="1" dirty="0">
                <a:solidFill>
                  <a:schemeClr val="tx1"/>
                </a:solidFill>
              </a:rPr>
              <a:t>At 120 patients</a:t>
            </a:r>
            <a:endParaRPr lang="en-US" sz="1400" dirty="0"/>
          </a:p>
          <a:p>
            <a:pPr indent="0" marL="0">
              <a:buNone/>
            </a:pPr>
            <a:r>
              <a:rPr lang="en-US" sz="1300" dirty="0">
                <a:solidFill>
                  <a:srgbClr val="3B4A53"/>
                </a:solidFill>
              </a:rPr>
              <a:t>Alarms 100.0%, but vitals fall to 85.8% and bulk goodput to 0.08 Mbit/s: strict priority starves the rest. Without the gate, vitals reach 0.0%.</a:t>
            </a:r>
            <a:endParaRPr lang="en-US" sz="14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914400"/>
          </a:xfrm>
          <a:prstGeom prst="rect">
            <a:avLst/>
          </a:prstGeom>
          <a:noFill/>
          <a:ln/>
        </p:spPr>
        <p:txBody>
          <a:bodyPr wrap="square" lIns="0" tIns="0" rIns="0" bIns="0" rtlCol="0" anchor="ctr"/>
          <a:lstStyle/>
          <a:p>
            <a:pPr algn="l" indent="0" marL="0">
              <a:buNone/>
            </a:pPr>
            <a:r>
              <a:rPr lang="en-US" sz="3000" b="1" dirty="0">
                <a:solidFill>
                  <a:schemeClr val="tx1"/>
                </a:solidFill>
              </a:rPr>
              <a:t>Short buffers shrink the baselines' penalty</a:t>
            </a:r>
            <a:endParaRPr lang="en-US" sz="3000" dirty="0"/>
          </a:p>
        </p:txBody>
      </p:sp>
      <p:graphicFrame>
        <p:nvGraphicFramePr>
          <p:cNvPr id="3" name="Chart 0" descr=""/>
          <p:cNvGraphicFramePr/>
          <p:nvPr/>
        </p:nvGraphicFramePr>
        <p:xfrm>
          <a:off x="365760" y="1234440"/>
          <a:ext cx="5394960" cy="3474720"/>
        </p:xfrm>
        <a:graphic xmlns:a="http://schemas.openxmlformats.org/drawingml/2006/main">
          <a:graphicData uri="http://schemas.openxmlformats.org/drawingml/2006/chart">
            <c:chart xmlns:c="http://schemas.openxmlformats.org/drawingml/2006/chart" r:id="rId1"/>
          </a:graphicData>
        </a:graphic>
      </p:graphicFrame>
      <p:sp>
        <p:nvSpPr>
          <p:cNvPr id="4" name="Buffer card"/>
          <p:cNvSpPr/>
          <p:nvPr/>
        </p:nvSpPr>
        <p:spPr>
          <a:xfrm>
            <a:off x="5989320" y="1280160"/>
            <a:ext cx="2697480" cy="3337560"/>
          </a:xfrm>
          <a:prstGeom prst="roundRect">
            <a:avLst>
              <a:gd name="adj" fmla="val 2712"/>
            </a:avLst>
          </a:prstGeom>
          <a:solidFill>
            <a:schemeClr val="bg2"/>
          </a:solidFill>
          <a:ln/>
        </p:spPr>
      </p:sp>
      <p:sp>
        <p:nvSpPr>
          <p:cNvPr id="5" name="Text 2"/>
          <p:cNvSpPr txBox="1"/>
          <p:nvPr/>
        </p:nvSpPr>
        <p:spPr>
          <a:xfrm>
            <a:off x="6126480" y="1389888"/>
            <a:ext cx="2468880" cy="3154680"/>
          </a:xfrm>
          <a:prstGeom prst="rect">
            <a:avLst/>
          </a:prstGeom>
          <a:noFill/>
          <a:ln/>
        </p:spPr>
        <p:txBody>
          <a:bodyPr wrap="square" lIns="0" tIns="0" rIns="0" bIns="0" rtlCol="0" anchor="t"/>
          <a:lstStyle/>
          <a:p>
            <a:pPr indent="0" marL="0">
              <a:buNone/>
            </a:pPr>
            <a:r>
              <a:rPr lang="en-US" sz="1400" b="1" dirty="0">
                <a:solidFill>
                  <a:schemeClr val="tx1"/>
                </a:solidFill>
              </a:rPr>
              <a:t>Honest caveat</a:t>
            </a:r>
            <a:endParaRPr lang="en-US" sz="1400" dirty="0"/>
          </a:p>
          <a:p>
            <a:pPr indent="0" marL="0">
              <a:buNone/>
            </a:pPr>
            <a:r>
              <a:rPr lang="en-US" sz="1300" dirty="0">
                <a:solidFill>
                  <a:srgbClr val="3B4A53"/>
                </a:solidFill>
              </a:rPr>
              <a:t>With a 25 kB buffer, TCP delivers 96.2% of alarms on time and UDP 98.1%.</a:t>
            </a:r>
            <a:endParaRPr lang="en-US" sz="1400" dirty="0"/>
          </a:p>
          <a:p>
            <a:pPr indent="0" marL="0">
              <a:buNone/>
            </a:pPr>
            <a:r>
              <a:rPr lang="en-US" sz="800" dirty="0">
                <a:solidFill>
                  <a:srgbClr val="000000"/>
                </a:solidFill>
              </a:rPr>
              <a:t> </a:t>
            </a:r>
            <a:endParaRPr lang="en-US" sz="1400" dirty="0"/>
          </a:p>
          <a:p>
            <a:pPr indent="0" marL="0">
              <a:buNone/>
            </a:pPr>
            <a:r>
              <a:rPr lang="en-US" sz="1300" dirty="0">
                <a:solidFill>
                  <a:srgbClr val="3B4A53"/>
                </a:solidFill>
              </a:rPr>
              <a:t>At 400 kB TCP falls to 16.7%.</a:t>
            </a:r>
            <a:endParaRPr lang="en-US" sz="1400" dirty="0"/>
          </a:p>
          <a:p>
            <a:pPr indent="0" marL="0">
              <a:buNone/>
            </a:pPr>
            <a:r>
              <a:rPr lang="en-US" sz="800" dirty="0">
                <a:solidFill>
                  <a:srgbClr val="000000"/>
                </a:solidFill>
              </a:rPr>
              <a:t> </a:t>
            </a:r>
            <a:endParaRPr lang="en-US" sz="1400" dirty="0"/>
          </a:p>
          <a:p>
            <a:pPr indent="0" marL="0">
              <a:buNone/>
            </a:pPr>
            <a:r>
              <a:rPr lang="en-US" sz="1300" b="1" dirty="0">
                <a:solidFill>
                  <a:schemeClr val="accent1"/>
                </a:solidFill>
              </a:rPr>
              <a:t>Active queue management is a real alternative or complement when priority is not available.</a:t>
            </a:r>
            <a:endParaRPr lang="en-US" sz="14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914400"/>
          </a:xfrm>
          <a:prstGeom prst="rect">
            <a:avLst/>
          </a:prstGeom>
          <a:noFill/>
          <a:ln/>
        </p:spPr>
        <p:txBody>
          <a:bodyPr wrap="square" lIns="0" tIns="0" rIns="0" bIns="0" rtlCol="0" anchor="ctr"/>
          <a:lstStyle/>
          <a:p>
            <a:pPr algn="l" indent="0" marL="0">
              <a:buNone/>
            </a:pPr>
            <a:r>
              <a:rPr lang="en-US" sz="3000" b="1" dirty="0">
                <a:solidFill>
                  <a:schemeClr val="tx1"/>
                </a:solidFill>
              </a:rPr>
              <a:t>Redundancy pays off when the round trip nears the deadline</a:t>
            </a:r>
            <a:endParaRPr lang="en-US" sz="3000" dirty="0"/>
          </a:p>
        </p:txBody>
      </p:sp>
      <p:graphicFrame>
        <p:nvGraphicFramePr>
          <p:cNvPr id="3" name="Chart 0" descr=""/>
          <p:cNvGraphicFramePr/>
          <p:nvPr/>
        </p:nvGraphicFramePr>
        <p:xfrm>
          <a:off x="365760" y="1234440"/>
          <a:ext cx="5394960" cy="3474720"/>
        </p:xfrm>
        <a:graphic xmlns:a="http://schemas.openxmlformats.org/drawingml/2006/main">
          <a:graphicData uri="http://schemas.openxmlformats.org/drawingml/2006/chart">
            <c:chart xmlns:c="http://schemas.openxmlformats.org/drawingml/2006/chart" r:id="rId1"/>
          </a:graphicData>
        </a:graphic>
      </p:graphicFrame>
      <p:sp>
        <p:nvSpPr>
          <p:cNvPr id="4" name="Stat overhead 10"/>
          <p:cNvSpPr/>
          <p:nvPr/>
        </p:nvSpPr>
        <p:spPr>
          <a:xfrm>
            <a:off x="5989320" y="1280160"/>
            <a:ext cx="2697480" cy="1051560"/>
          </a:xfrm>
          <a:prstGeom prst="roundRect">
            <a:avLst>
              <a:gd name="adj" fmla="val 6957"/>
            </a:avLst>
          </a:prstGeom>
          <a:solidFill>
            <a:schemeClr val="bg2"/>
          </a:solidFill>
          <a:ln/>
        </p:spPr>
      </p:sp>
      <p:sp>
        <p:nvSpPr>
          <p:cNvPr id="5" name="Text 2"/>
          <p:cNvSpPr txBox="1"/>
          <p:nvPr/>
        </p:nvSpPr>
        <p:spPr>
          <a:xfrm>
            <a:off x="6126480" y="1389888"/>
            <a:ext cx="2423160" cy="525780"/>
          </a:xfrm>
          <a:prstGeom prst="rect">
            <a:avLst/>
          </a:prstGeom>
          <a:noFill/>
          <a:ln/>
        </p:spPr>
        <p:txBody>
          <a:bodyPr wrap="square" lIns="0" tIns="0" rIns="0" bIns="0" rtlCol="0" anchor="ctr">
            <a:normAutofit/>
          </a:bodyPr>
          <a:lstStyle/>
          <a:p>
            <a:pPr indent="0" marL="0">
              <a:buNone/>
            </a:pPr>
            <a:r>
              <a:rPr lang="en-US" sz="3600" b="1" dirty="0">
                <a:solidFill>
                  <a:schemeClr val="tx1"/>
                </a:solidFill>
              </a:rPr>
              <a:t>1.04 vs 1.28</a:t>
            </a:r>
            <a:endParaRPr lang="en-US" sz="3600" dirty="0"/>
          </a:p>
        </p:txBody>
      </p:sp>
      <p:sp>
        <p:nvSpPr>
          <p:cNvPr id="6" name="Text 3"/>
          <p:cNvSpPr txBox="1"/>
          <p:nvPr/>
        </p:nvSpPr>
        <p:spPr>
          <a:xfrm>
            <a:off x="6126480" y="1890065"/>
            <a:ext cx="2423160" cy="378562"/>
          </a:xfrm>
          <a:prstGeom prst="rect">
            <a:avLst/>
          </a:prstGeom>
          <a:noFill/>
          <a:ln/>
        </p:spPr>
        <p:txBody>
          <a:bodyPr wrap="square" lIns="0" tIns="0" rIns="0" bIns="0" rtlCol="0" anchor="t"/>
          <a:lstStyle/>
          <a:p>
            <a:pPr indent="0" marL="0">
              <a:buNone/>
            </a:pPr>
            <a:r>
              <a:rPr lang="en-US" sz="1200" dirty="0">
                <a:solidFill>
                  <a:srgbClr val="3B4A53"/>
                </a:solidFill>
              </a:rPr>
              <a:t>overhead at 10 ms: ARQ only vs full</a:t>
            </a:r>
            <a:endParaRPr lang="en-US" sz="1200" dirty="0"/>
          </a:p>
        </p:txBody>
      </p:sp>
      <p:sp>
        <p:nvSpPr>
          <p:cNvPr id="7" name="Stat overhead 120"/>
          <p:cNvSpPr/>
          <p:nvPr/>
        </p:nvSpPr>
        <p:spPr>
          <a:xfrm>
            <a:off x="5989320" y="2468880"/>
            <a:ext cx="2697480" cy="1051560"/>
          </a:xfrm>
          <a:prstGeom prst="roundRect">
            <a:avLst>
              <a:gd name="adj" fmla="val 6957"/>
            </a:avLst>
          </a:prstGeom>
          <a:solidFill>
            <a:schemeClr val="bg2"/>
          </a:solidFill>
          <a:ln/>
        </p:spPr>
      </p:sp>
      <p:sp>
        <p:nvSpPr>
          <p:cNvPr id="8" name="Text 5"/>
          <p:cNvSpPr txBox="1"/>
          <p:nvPr/>
        </p:nvSpPr>
        <p:spPr>
          <a:xfrm>
            <a:off x="6126480" y="2578608"/>
            <a:ext cx="2423160" cy="525780"/>
          </a:xfrm>
          <a:prstGeom prst="rect">
            <a:avLst/>
          </a:prstGeom>
          <a:noFill/>
          <a:ln/>
        </p:spPr>
        <p:txBody>
          <a:bodyPr wrap="square" lIns="0" tIns="0" rIns="0" bIns="0" rtlCol="0" anchor="ctr">
            <a:normAutofit/>
          </a:bodyPr>
          <a:lstStyle/>
          <a:p>
            <a:pPr indent="0" marL="0">
              <a:buNone/>
            </a:pPr>
            <a:r>
              <a:rPr lang="en-US" sz="3600" b="1" dirty="0">
                <a:solidFill>
                  <a:schemeClr val="tx1"/>
                </a:solidFill>
              </a:rPr>
              <a:t>1.02 vs 1.49</a:t>
            </a:r>
            <a:endParaRPr lang="en-US" sz="3600" dirty="0"/>
          </a:p>
        </p:txBody>
      </p:sp>
      <p:sp>
        <p:nvSpPr>
          <p:cNvPr id="9" name="Text 6"/>
          <p:cNvSpPr txBox="1"/>
          <p:nvPr/>
        </p:nvSpPr>
        <p:spPr>
          <a:xfrm>
            <a:off x="6126480" y="3078785"/>
            <a:ext cx="2423160" cy="378562"/>
          </a:xfrm>
          <a:prstGeom prst="rect">
            <a:avLst/>
          </a:prstGeom>
          <a:noFill/>
          <a:ln/>
        </p:spPr>
        <p:txBody>
          <a:bodyPr wrap="square" lIns="0" tIns="0" rIns="0" bIns="0" rtlCol="0" anchor="t"/>
          <a:lstStyle/>
          <a:p>
            <a:pPr indent="0" marL="0">
              <a:buNone/>
            </a:pPr>
            <a:r>
              <a:rPr lang="en-US" sz="1200" dirty="0">
                <a:solidFill>
                  <a:srgbClr val="3B4A53"/>
                </a:solidFill>
              </a:rPr>
              <a:t>overhead at 120 ms: ARQ only vs full</a:t>
            </a:r>
            <a:endParaRPr lang="en-US" sz="1200" dirty="0"/>
          </a:p>
        </p:txBody>
      </p:sp>
      <p:sp>
        <p:nvSpPr>
          <p:cNvPr id="10" name="Text 7"/>
          <p:cNvSpPr txBox="1"/>
          <p:nvPr/>
        </p:nvSpPr>
        <p:spPr>
          <a:xfrm>
            <a:off x="5989320" y="3611880"/>
            <a:ext cx="2697480" cy="1005840"/>
          </a:xfrm>
          <a:prstGeom prst="rect">
            <a:avLst/>
          </a:prstGeom>
          <a:noFill/>
          <a:ln/>
        </p:spPr>
        <p:txBody>
          <a:bodyPr wrap="square" lIns="0" tIns="0" rIns="0" bIns="0" rtlCol="0" anchor="t"/>
          <a:lstStyle/>
          <a:p>
            <a:pPr indent="0" marL="0">
              <a:buNone/>
            </a:pPr>
            <a:r>
              <a:rPr lang="en-US" sz="1200" dirty="0">
                <a:solidFill>
                  <a:srgbClr val="3B4A53"/>
                </a:solidFill>
              </a:rPr>
              <a:t>Axis starts at 96%. At 10 ms ARQ alone already reaches 100%, so FEC and copies add traffic for no timeliness gain. At 120 ms they lift alarms from 98.0% to 99.6%.</a:t>
            </a:r>
            <a:endParaRPr lang="en-US" sz="12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914400"/>
          </a:xfrm>
          <a:prstGeom prst="rect">
            <a:avLst/>
          </a:prstGeom>
          <a:noFill/>
          <a:ln/>
        </p:spPr>
        <p:txBody>
          <a:bodyPr wrap="square" lIns="0" tIns="0" rIns="0" bIns="0" rtlCol="0" anchor="ctr"/>
          <a:lstStyle/>
          <a:p>
            <a:pPr algn="l" indent="0" marL="0">
              <a:buNone/>
            </a:pPr>
            <a:r>
              <a:rPr lang="en-US" sz="3000" b="1" dirty="0">
                <a:solidFill>
                  <a:schemeClr val="tx1"/>
                </a:solidFill>
              </a:rPr>
              <a:t>What it costs, and what this study does not show</a:t>
            </a:r>
            <a:endParaRPr lang="en-US" sz="3000" dirty="0"/>
          </a:p>
        </p:txBody>
      </p:sp>
      <p:sp>
        <p:nvSpPr>
          <p:cNvPr id="3" name="Cost card"/>
          <p:cNvSpPr/>
          <p:nvPr/>
        </p:nvSpPr>
        <p:spPr>
          <a:xfrm>
            <a:off x="457200" y="1325880"/>
            <a:ext cx="3977640" cy="3291840"/>
          </a:xfrm>
          <a:prstGeom prst="roundRect">
            <a:avLst>
              <a:gd name="adj" fmla="val 2222"/>
            </a:avLst>
          </a:prstGeom>
          <a:solidFill>
            <a:schemeClr val="bg2"/>
          </a:solidFill>
          <a:ln/>
        </p:spPr>
      </p:sp>
      <p:sp>
        <p:nvSpPr>
          <p:cNvPr id="4" name="Text 2"/>
          <p:cNvSpPr txBox="1"/>
          <p:nvPr/>
        </p:nvSpPr>
        <p:spPr>
          <a:xfrm>
            <a:off x="640080" y="1463040"/>
            <a:ext cx="3657600" cy="3017520"/>
          </a:xfrm>
          <a:prstGeom prst="rect">
            <a:avLst/>
          </a:prstGeom>
          <a:noFill/>
          <a:ln/>
        </p:spPr>
        <p:txBody>
          <a:bodyPr wrap="square" lIns="0" tIns="0" rIns="0" bIns="0" rtlCol="0" anchor="t"/>
          <a:lstStyle/>
          <a:p>
            <a:pPr indent="0" marL="0">
              <a:spcAft>
                <a:spcPts val="800"/>
              </a:spcAft>
              <a:buNone/>
            </a:pPr>
            <a:r>
              <a:rPr lang="en-US" sz="1600" b="1" dirty="0">
                <a:solidFill>
                  <a:schemeClr val="accent1"/>
                </a:solidFill>
              </a:rPr>
              <a:t>Costs</a:t>
            </a:r>
            <a:endParaRPr lang="en-US" sz="1400" dirty="0"/>
          </a:p>
          <a:p>
            <a:pPr marL="342900" indent="-342900">
              <a:spcAft>
                <a:spcPts val="800"/>
              </a:spcAft>
              <a:buSzPct val="100000"/>
              <a:buChar char="•"/>
            </a:pPr>
            <a:r>
              <a:rPr lang="en-US" sz="1400" dirty="0">
                <a:solidFill>
                  <a:srgbClr val="3B4A53"/>
                </a:solidFill>
              </a:rPr>
              <a:t>Overhead ratio 1.28 at default settings</a:t>
            </a:r>
            <a:endParaRPr lang="en-US" sz="1400" dirty="0"/>
          </a:p>
          <a:p>
            <a:pPr marL="342900" indent="-342900">
              <a:spcAft>
                <a:spcPts val="800"/>
              </a:spcAft>
              <a:buSzPct val="100000"/>
              <a:buChar char="•"/>
            </a:pPr>
            <a:r>
              <a:rPr lang="en-US" sz="1400" dirty="0">
                <a:solidFill>
                  <a:srgbClr val="3B4A53"/>
                </a:solidFill>
              </a:rPr>
              <a:t>11% less bulk goodput than UDP+Prio</a:t>
            </a:r>
            <a:endParaRPr lang="en-US" sz="1400" dirty="0"/>
          </a:p>
          <a:p>
            <a:pPr marL="342900" indent="-342900">
              <a:spcAft>
                <a:spcPts val="800"/>
              </a:spcAft>
              <a:buSzPct val="100000"/>
              <a:buChar char="•"/>
            </a:pPr>
            <a:r>
              <a:rPr lang="en-US" sz="1400" dirty="0">
                <a:solidFill>
                  <a:srgbClr val="3B4A53"/>
                </a:solidFill>
              </a:rPr>
              <a:t>Strict priority can starve bulk and vitals at overload</a:t>
            </a:r>
            <a:endParaRPr lang="en-US" sz="1400" dirty="0"/>
          </a:p>
          <a:p>
            <a:pPr marL="342900" indent="-342900">
              <a:spcAft>
                <a:spcPts val="800"/>
              </a:spcAft>
              <a:buSzPct val="100000"/>
              <a:buChar char="•"/>
            </a:pPr>
            <a:r>
              <a:rPr lang="en-US" sz="1400" dirty="0">
                <a:solidFill>
                  <a:srgbClr val="3B4A53"/>
                </a:solidFill>
              </a:rPr>
              <a:t>Spurious retransmissions at mid-range delays</a:t>
            </a:r>
            <a:endParaRPr lang="en-US" sz="1400" dirty="0"/>
          </a:p>
        </p:txBody>
      </p:sp>
      <p:sp>
        <p:nvSpPr>
          <p:cNvPr id="5" name="Limits card"/>
          <p:cNvSpPr/>
          <p:nvPr/>
        </p:nvSpPr>
        <p:spPr>
          <a:xfrm>
            <a:off x="4709160" y="1325880"/>
            <a:ext cx="3977640" cy="3291840"/>
          </a:xfrm>
          <a:prstGeom prst="roundRect">
            <a:avLst>
              <a:gd name="adj" fmla="val 2222"/>
            </a:avLst>
          </a:prstGeom>
          <a:solidFill>
            <a:schemeClr val="bg2"/>
          </a:solidFill>
          <a:ln/>
        </p:spPr>
      </p:sp>
      <p:sp>
        <p:nvSpPr>
          <p:cNvPr id="6" name="Text 4"/>
          <p:cNvSpPr txBox="1"/>
          <p:nvPr/>
        </p:nvSpPr>
        <p:spPr>
          <a:xfrm>
            <a:off x="4892040" y="1463040"/>
            <a:ext cx="3657600" cy="3017520"/>
          </a:xfrm>
          <a:prstGeom prst="rect">
            <a:avLst/>
          </a:prstGeom>
          <a:noFill/>
          <a:ln/>
        </p:spPr>
        <p:txBody>
          <a:bodyPr wrap="square" lIns="0" tIns="0" rIns="0" bIns="0" rtlCol="0" anchor="t"/>
          <a:lstStyle/>
          <a:p>
            <a:pPr indent="0" marL="0">
              <a:spcAft>
                <a:spcPts val="800"/>
              </a:spcAft>
              <a:buNone/>
            </a:pPr>
            <a:r>
              <a:rPr lang="en-US" sz="1600" b="1" dirty="0">
                <a:solidFill>
                  <a:schemeClr val="accent2"/>
                </a:solidFill>
              </a:rPr>
              <a:t>Limits</a:t>
            </a:r>
            <a:endParaRPr lang="en-US" sz="1400" dirty="0"/>
          </a:p>
          <a:p>
            <a:pPr marL="342900" indent="-342900">
              <a:spcAft>
                <a:spcPts val="800"/>
              </a:spcAft>
              <a:buSzPct val="100000"/>
              <a:buChar char="•"/>
            </a:pPr>
            <a:r>
              <a:rPr lang="en-US" sz="1400" dirty="0">
                <a:solidFill>
                  <a:srgbClr val="3B4A53"/>
                </a:solidFill>
              </a:rPr>
              <a:t>Simulation, not measurement</a:t>
            </a:r>
            <a:endParaRPr lang="en-US" sz="1400" dirty="0"/>
          </a:p>
          <a:p>
            <a:pPr marL="342900" indent="-342900">
              <a:spcAft>
                <a:spcPts val="800"/>
              </a:spcAft>
              <a:buSzPct val="100000"/>
              <a:buChar char="•"/>
            </a:pPr>
            <a:r>
              <a:rPr lang="en-US" sz="1400" dirty="0">
                <a:solidFill>
                  <a:srgbClr val="3B4A53"/>
                </a:solidFill>
              </a:rPr>
              <a:t>One shared channel state; no MAC contention</a:t>
            </a:r>
            <a:endParaRPr lang="en-US" sz="1400" dirty="0"/>
          </a:p>
          <a:p>
            <a:pPr marL="342900" indent="-342900">
              <a:spcAft>
                <a:spcPts val="800"/>
              </a:spcAft>
              <a:buSzPct val="100000"/>
              <a:buChar char="•"/>
            </a:pPr>
            <a:r>
              <a:rPr lang="en-US" sz="1400" dirty="0">
                <a:solidFill>
                  <a:srgbClr val="3B4A53"/>
                </a:solidFill>
              </a:rPr>
              <a:t>Strict priority assumed at the AP</a:t>
            </a:r>
            <a:endParaRPr lang="en-US" sz="1400" dirty="0"/>
          </a:p>
          <a:p>
            <a:pPr marL="342900" indent="-342900">
              <a:spcAft>
                <a:spcPts val="800"/>
              </a:spcAft>
              <a:buSzPct val="100000"/>
              <a:buChar char="•"/>
            </a:pPr>
            <a:r>
              <a:rPr lang="en-US" sz="1400" dirty="0">
                <a:solidFill>
                  <a:srgbClr val="3B4A53"/>
                </a:solidFill>
              </a:rPr>
              <a:t>TCP baseline untuned; no QUIC or BBR</a:t>
            </a:r>
            <a:endParaRPr lang="en-US" sz="1400" dirty="0"/>
          </a:p>
          <a:p>
            <a:pPr marL="342900" indent="-342900">
              <a:spcAft>
                <a:spcPts val="800"/>
              </a:spcAft>
              <a:buSzPct val="100000"/>
              <a:buChar char="•"/>
            </a:pPr>
            <a:r>
              <a:rPr lang="en-US" sz="1400" dirty="0">
                <a:solidFill>
                  <a:srgbClr val="3B4A53"/>
                </a:solidFill>
              </a:rPr>
              <a:t>No security overhead; deadlines assumed</a:t>
            </a:r>
            <a:endParaRPr lang="en-US" sz="14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914400"/>
          </a:xfrm>
          <a:prstGeom prst="rect">
            <a:avLst/>
          </a:prstGeom>
          <a:noFill/>
          <a:ln/>
        </p:spPr>
        <p:txBody>
          <a:bodyPr wrap="square" lIns="0" tIns="0" rIns="0" bIns="0" rtlCol="0" anchor="ctr"/>
          <a:lstStyle/>
          <a:p>
            <a:pPr algn="l" indent="0" marL="0">
              <a:buNone/>
            </a:pPr>
            <a:r>
              <a:rPr lang="en-US" sz="3000" b="1" dirty="0">
                <a:solidFill>
                  <a:schemeClr val="bg1"/>
                </a:solidFill>
              </a:rPr>
              <a:t>Conclusions and next steps</a:t>
            </a:r>
            <a:endParaRPr lang="en-US" sz="3000" dirty="0"/>
          </a:p>
        </p:txBody>
      </p:sp>
      <p:sp>
        <p:nvSpPr>
          <p:cNvPr id="3" name="Text 1"/>
          <p:cNvSpPr txBox="1"/>
          <p:nvPr/>
        </p:nvSpPr>
        <p:spPr>
          <a:xfrm>
            <a:off x="457200" y="1280160"/>
            <a:ext cx="4023360" cy="365760"/>
          </a:xfrm>
          <a:prstGeom prst="rect">
            <a:avLst/>
          </a:prstGeom>
          <a:noFill/>
          <a:ln/>
        </p:spPr>
        <p:txBody>
          <a:bodyPr wrap="square" lIns="0" tIns="0" rIns="0" bIns="0" rtlCol="0" anchor="ctr"/>
          <a:lstStyle/>
          <a:p>
            <a:pPr indent="0" marL="0">
              <a:buNone/>
            </a:pPr>
            <a:r>
              <a:rPr lang="en-US" sz="1800" b="1" dirty="0">
                <a:solidFill>
                  <a:srgbClr val="7FD1D9"/>
                </a:solidFill>
              </a:rPr>
              <a:t>Findings</a:t>
            </a:r>
            <a:endParaRPr lang="en-US" sz="1800" dirty="0"/>
          </a:p>
        </p:txBody>
      </p:sp>
      <p:sp>
        <p:nvSpPr>
          <p:cNvPr id="4" name="Text 2"/>
          <p:cNvSpPr txBox="1"/>
          <p:nvPr/>
        </p:nvSpPr>
        <p:spPr>
          <a:xfrm>
            <a:off x="457200" y="1691640"/>
            <a:ext cx="4023360" cy="29260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6F0F2"/>
                </a:solidFill>
              </a:rPr>
              <a:t>Baseline ns-3: no healthcare loss, ms-scale delay; TCP's extra throughput is headers</a:t>
            </a:r>
            <a:endParaRPr lang="en-US" sz="1400" dirty="0"/>
          </a:p>
          <a:p>
            <a:pPr marL="342900" indent="-342900">
              <a:spcAft>
                <a:spcPts val="800"/>
              </a:spcAft>
              <a:buSzPct val="100000"/>
              <a:buChar char="•"/>
            </a:pPr>
            <a:r>
              <a:rPr lang="en-US" sz="1400" dirty="0">
                <a:solidFill>
                  <a:srgbClr val="E6F0F2"/>
                </a:solidFill>
              </a:rPr>
              <a:t>Shared queues make TCP and UDP miss alarm deadlines</a:t>
            </a:r>
            <a:endParaRPr lang="en-US" sz="1400" dirty="0"/>
          </a:p>
          <a:p>
            <a:pPr marL="342900" indent="-342900">
              <a:spcAft>
                <a:spcPts val="800"/>
              </a:spcAft>
              <a:buSzPct val="100000"/>
              <a:buChar char="•"/>
            </a:pPr>
            <a:r>
              <a:rPr lang="en-US" sz="1400" dirty="0">
                <a:solidFill>
                  <a:srgbClr val="E6F0F2"/>
                </a:solidFill>
              </a:rPr>
              <a:t>Priority removes queueing delay; deadline-aware ARQ repairs loss; both are needed</a:t>
            </a:r>
            <a:endParaRPr lang="en-US" sz="1400" dirty="0"/>
          </a:p>
          <a:p>
            <a:pPr marL="342900" indent="-342900">
              <a:spcAft>
                <a:spcPts val="800"/>
              </a:spcAft>
              <a:buSzPct val="100000"/>
              <a:buChar char="•"/>
            </a:pPr>
            <a:r>
              <a:rPr lang="en-US" sz="1400" dirty="0">
                <a:solidFill>
                  <a:srgbClr val="E6F0F2"/>
                </a:solidFill>
              </a:rPr>
              <a:t>Redundancy helps mainly when RTT nears the deadline, and needs a congestion gate</a:t>
            </a:r>
            <a:endParaRPr lang="en-US" sz="1400" dirty="0"/>
          </a:p>
          <a:p>
            <a:pPr marL="342900" indent="-342900">
              <a:spcAft>
                <a:spcPts val="800"/>
              </a:spcAft>
              <a:buSzPct val="100000"/>
              <a:buChar char="•"/>
            </a:pPr>
            <a:r>
              <a:rPr lang="en-US" sz="1400" dirty="0">
                <a:solidFill>
                  <a:srgbClr val="E6F0F2"/>
                </a:solidFill>
              </a:rPr>
              <a:t>Protection costs bulk goodput</a:t>
            </a:r>
            <a:endParaRPr lang="en-US" sz="1400" dirty="0"/>
          </a:p>
        </p:txBody>
      </p:sp>
      <p:sp>
        <p:nvSpPr>
          <p:cNvPr id="5" name="Text 3"/>
          <p:cNvSpPr txBox="1"/>
          <p:nvPr/>
        </p:nvSpPr>
        <p:spPr>
          <a:xfrm>
            <a:off x="4754880" y="1280160"/>
            <a:ext cx="3931920" cy="365760"/>
          </a:xfrm>
          <a:prstGeom prst="rect">
            <a:avLst/>
          </a:prstGeom>
          <a:noFill/>
          <a:ln/>
        </p:spPr>
        <p:txBody>
          <a:bodyPr wrap="square" lIns="0" tIns="0" rIns="0" bIns="0" rtlCol="0" anchor="ctr"/>
          <a:lstStyle/>
          <a:p>
            <a:pPr indent="0" marL="0">
              <a:buNone/>
            </a:pPr>
            <a:r>
              <a:rPr lang="en-US" sz="1800" b="1" dirty="0">
                <a:solidFill>
                  <a:srgbClr val="F6B58A"/>
                </a:solidFill>
              </a:rPr>
              <a:t>Next steps</a:t>
            </a:r>
            <a:endParaRPr lang="en-US" sz="1800" dirty="0"/>
          </a:p>
        </p:txBody>
      </p:sp>
      <p:sp>
        <p:nvSpPr>
          <p:cNvPr id="6" name="Text 4"/>
          <p:cNvSpPr txBox="1"/>
          <p:nvPr/>
        </p:nvSpPr>
        <p:spPr>
          <a:xfrm>
            <a:off x="4754880" y="1691640"/>
            <a:ext cx="3931920" cy="29260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6F0F2"/>
                </a:solidFill>
              </a:rPr>
              <a:t>Validate in a packet-level simulator with 802.11 EDCA, then on a testbed</a:t>
            </a:r>
            <a:endParaRPr lang="en-US" sz="1400" dirty="0"/>
          </a:p>
          <a:p>
            <a:pPr marL="342900" indent="-342900">
              <a:spcAft>
                <a:spcPts val="800"/>
              </a:spcAft>
              <a:buSzPct val="100000"/>
              <a:buChar char="•"/>
            </a:pPr>
            <a:r>
              <a:rPr lang="en-US" sz="1400" dirty="0">
                <a:solidFill>
                  <a:srgbClr val="E6F0F2"/>
                </a:solidFill>
              </a:rPr>
              <a:t>Compare with tuned TCP (CUBIC, RACK-TLP) and QUIC</a:t>
            </a:r>
            <a:endParaRPr lang="en-US" sz="1400" dirty="0"/>
          </a:p>
          <a:p>
            <a:pPr marL="342900" indent="-342900">
              <a:spcAft>
                <a:spcPts val="800"/>
              </a:spcAft>
              <a:buSzPct val="100000"/>
              <a:buChar char="•"/>
            </a:pPr>
            <a:r>
              <a:rPr lang="en-US" sz="1400" dirty="0">
                <a:solidFill>
                  <a:srgbClr val="E6F0F2"/>
                </a:solidFill>
              </a:rPr>
              <a:t>RTT-proportional timer margin; redundancy on RTT-to-deadline ratio</a:t>
            </a:r>
            <a:endParaRPr lang="en-US" sz="1400" dirty="0"/>
          </a:p>
          <a:p>
            <a:pPr marL="342900" indent="-342900">
              <a:spcAft>
                <a:spcPts val="800"/>
              </a:spcAft>
              <a:buSzPct val="100000"/>
              <a:buChar char="•"/>
            </a:pPr>
            <a:r>
              <a:rPr lang="en-US" sz="1400" dirty="0">
                <a:solidFill>
                  <a:srgbClr val="E6F0F2"/>
                </a:solidFill>
              </a:rPr>
              <a:t>Security overhead, energy cost, clinical deadlines</a:t>
            </a:r>
            <a:endParaRPr lang="en-US" sz="14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DB4BA"/>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914400"/>
          </a:xfrm>
          <a:prstGeom prst="rect">
            <a:avLst/>
          </a:prstGeom>
          <a:noFill/>
          <a:ln/>
        </p:spPr>
        <p:txBody>
          <a:bodyPr wrap="square" lIns="0" tIns="0" rIns="0" bIns="0" rtlCol="0" anchor="ctr"/>
          <a:lstStyle/>
          <a:p>
            <a:pPr algn="l" indent="0" marL="0">
              <a:buNone/>
            </a:pPr>
            <a:r>
              <a:rPr lang="en-US" sz="3000" b="1" dirty="0">
                <a:solidFill>
                  <a:schemeClr val="tx1"/>
                </a:solidFill>
              </a:rPr>
              <a:t>Selected references (1 of 2)</a:t>
            </a:r>
            <a:endParaRPr lang="en-US" sz="3000" dirty="0"/>
          </a:p>
        </p:txBody>
      </p:sp>
      <p:sp>
        <p:nvSpPr>
          <p:cNvPr id="3" name="Text 1"/>
          <p:cNvSpPr txBox="1"/>
          <p:nvPr/>
        </p:nvSpPr>
        <p:spPr>
          <a:xfrm>
            <a:off x="457200" y="1234440"/>
            <a:ext cx="8229600" cy="3429000"/>
          </a:xfrm>
          <a:prstGeom prst="rect">
            <a:avLst/>
          </a:prstGeom>
          <a:noFill/>
          <a:ln/>
        </p:spPr>
        <p:txBody>
          <a:bodyPr wrap="square" lIns="0" tIns="0" rIns="0" bIns="0" rtlCol="0" anchor="t"/>
          <a:lstStyle/>
          <a:p>
            <a:pPr indent="0" marL="0">
              <a:spcAft>
                <a:spcPts val="500"/>
              </a:spcAft>
              <a:buNone/>
            </a:pPr>
            <a:r>
              <a:rPr lang="en-US" sz="1200" dirty="0">
                <a:solidFill>
                  <a:srgbClr val="3B4A53"/>
                </a:solidFill>
              </a:rPr>
              <a:t>Base repository: N. Samson, healthcare-telemetry-ns3, GitHub, Oct. 2026  </a:t>
            </a:r>
            <a:pPr indent="0" marL="0">
              <a:spcAft>
                <a:spcPts val="500"/>
              </a:spcAft>
              <a:buNone/>
            </a:pPr>
            <a:r>
              <a:rPr lang="en-US" sz="1100"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https://github.com/nikhilsamsonsuresh-sketch/healthcare-telemetry-ns3</a:t>
            </a:r>
            <a:endParaRPr lang="en-US" sz="1200" dirty="0"/>
          </a:p>
          <a:p>
            <a:pPr indent="0" marL="0">
              <a:spcAft>
                <a:spcPts val="500"/>
              </a:spcAft>
              <a:buNone/>
            </a:pPr>
            <a:r>
              <a:rPr lang="en-US" sz="1200" dirty="0">
                <a:solidFill>
                  <a:srgbClr val="3B4A53"/>
                </a:solidFill>
              </a:rPr>
              <a:t>W. Eddy (Ed.), "Transmission Control Protocol (TCP)," RFC 9293, 2022  </a:t>
            </a:r>
            <a:pPr indent="0" marL="0">
              <a:spcAft>
                <a:spcPts val="500"/>
              </a:spcAft>
              <a:buNone/>
            </a:pPr>
            <a:r>
              <a:rPr lang="en-US" sz="1100"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https://www.rfc-editor.org/rfc/rfc9293</a:t>
            </a:r>
            <a:endParaRPr lang="en-US" sz="1200" dirty="0"/>
          </a:p>
          <a:p>
            <a:pPr indent="0" marL="0">
              <a:spcAft>
                <a:spcPts val="500"/>
              </a:spcAft>
              <a:buNone/>
            </a:pPr>
            <a:r>
              <a:rPr lang="en-US" sz="1200" dirty="0">
                <a:solidFill>
                  <a:srgbClr val="3B4A53"/>
                </a:solidFill>
              </a:rPr>
              <a:t>J. Iyengar, M. Thomson (Eds.), "QUIC," RFC 9000, 2021  </a:t>
            </a:r>
            <a:pPr indent="0" marL="0">
              <a:spcAft>
                <a:spcPts val="500"/>
              </a:spcAft>
              <a:buNone/>
            </a:pPr>
            <a:r>
              <a:rPr lang="en-US" sz="1100" u="sng" dirty="0">
                <a:solidFill>
                  <a:schemeClr val="accent1"/>
                </a:solidFill>
                <a:hlinkClick r:id="rId3" invalidUrl="" action="" tgtFrame="" tooltip="" history="1" highlightClick="0" endSnd="0">
                  <a:extLst>
                    <a:ext uri="{A12FA001-AC4F-418D-AE19-62706E023703}">
                      <ahyp:hlinkClr xmlns:ahyp="http://schemas.microsoft.com/office/drawing/2018/hyperlinkcolor" val="tx"/>
                    </a:ext>
                  </a:extLst>
                </a:hlinkClick>
              </a:rPr>
              <a:t>https://www.rfc-editor.org/rfc/rfc9000</a:t>
            </a:r>
            <a:endParaRPr lang="en-US" sz="1200" dirty="0"/>
          </a:p>
          <a:p>
            <a:pPr indent="0" marL="0">
              <a:spcAft>
                <a:spcPts val="500"/>
              </a:spcAft>
              <a:buNone/>
            </a:pPr>
            <a:r>
              <a:rPr lang="en-US" sz="1200" dirty="0">
                <a:solidFill>
                  <a:srgbClr val="3B4A53"/>
                </a:solidFill>
              </a:rPr>
              <a:t>J. Iyengar, I. Swett (Eds.), "QUIC loss detection and congestion control," RFC 9002, 2021  </a:t>
            </a:r>
            <a:pPr indent="0" marL="0">
              <a:spcAft>
                <a:spcPts val="500"/>
              </a:spcAft>
              <a:buNone/>
            </a:pPr>
            <a:r>
              <a:rPr lang="en-US" sz="1100" u="sng" dirty="0">
                <a:solidFill>
                  <a:schemeClr val="accent1"/>
                </a:solidFill>
                <a:hlinkClick r:id="rId4" invalidUrl="" action="" tgtFrame="" tooltip="" history="1" highlightClick="0" endSnd="0">
                  <a:extLst>
                    <a:ext uri="{A12FA001-AC4F-418D-AE19-62706E023703}">
                      <ahyp:hlinkClr xmlns:ahyp="http://schemas.microsoft.com/office/drawing/2018/hyperlinkcolor" val="tx"/>
                    </a:ext>
                  </a:extLst>
                </a:hlinkClick>
              </a:rPr>
              <a:t>https://www.rfc-editor.org/rfc/rfc9002</a:t>
            </a:r>
            <a:endParaRPr lang="en-US" sz="1200" dirty="0"/>
          </a:p>
          <a:p>
            <a:pPr indent="0" marL="0">
              <a:spcAft>
                <a:spcPts val="500"/>
              </a:spcAft>
              <a:buNone/>
            </a:pPr>
            <a:r>
              <a:rPr lang="en-US" sz="1200" dirty="0">
                <a:solidFill>
                  <a:srgbClr val="3B4A53"/>
                </a:solidFill>
              </a:rPr>
              <a:t>Y. Cheng et al., "The RACK-TLP loss detection algorithm for TCP," RFC 8985, 2021  </a:t>
            </a:r>
            <a:pPr indent="0" marL="0">
              <a:spcAft>
                <a:spcPts val="500"/>
              </a:spcAft>
              <a:buNone/>
            </a:pPr>
            <a:r>
              <a:rPr lang="en-US" sz="1100" u="sng" dirty="0">
                <a:solidFill>
                  <a:schemeClr val="accent1"/>
                </a:solidFill>
                <a:hlinkClick r:id="rId5" invalidUrl="" action="" tgtFrame="" tooltip="" history="1" highlightClick="0" endSnd="0">
                  <a:extLst>
                    <a:ext uri="{A12FA001-AC4F-418D-AE19-62706E023703}">
                      <ahyp:hlinkClr xmlns:ahyp="http://schemas.microsoft.com/office/drawing/2018/hyperlinkcolor" val="tx"/>
                    </a:ext>
                  </a:extLst>
                </a:hlinkClick>
              </a:rPr>
              <a:t>https://www.rfc-editor.org/rfc/rfc8985</a:t>
            </a:r>
            <a:endParaRPr lang="en-US" sz="1200" dirty="0"/>
          </a:p>
          <a:p>
            <a:pPr indent="0" marL="0">
              <a:spcAft>
                <a:spcPts val="500"/>
              </a:spcAft>
              <a:buNone/>
            </a:pPr>
            <a:r>
              <a:rPr lang="en-US" sz="1200" dirty="0">
                <a:solidFill>
                  <a:srgbClr val="3B4A53"/>
                </a:solidFill>
              </a:rPr>
              <a:t>L. Xu et al., "CUBIC for fast and long-distance networks," RFC 9438, 2023  </a:t>
            </a:r>
            <a:pPr indent="0" marL="0">
              <a:spcAft>
                <a:spcPts val="500"/>
              </a:spcAft>
              <a:buNone/>
            </a:pPr>
            <a:r>
              <a:rPr lang="en-US" sz="1100" u="sng" dirty="0">
                <a:solidFill>
                  <a:schemeClr val="accent1"/>
                </a:solidFill>
                <a:hlinkClick r:id="rId6" invalidUrl="" action="" tgtFrame="" tooltip="" history="1" highlightClick="0" endSnd="0">
                  <a:extLst>
                    <a:ext uri="{A12FA001-AC4F-418D-AE19-62706E023703}">
                      <ahyp:hlinkClr xmlns:ahyp="http://schemas.microsoft.com/office/drawing/2018/hyperlinkcolor" val="tx"/>
                    </a:ext>
                  </a:extLst>
                </a:hlinkClick>
              </a:rPr>
              <a:t>https://www.rfc-editor.org/rfc/rfc9438</a:t>
            </a:r>
            <a:endParaRPr lang="en-US" sz="1200" dirty="0"/>
          </a:p>
          <a:p>
            <a:pPr indent="0" marL="0">
              <a:spcAft>
                <a:spcPts val="500"/>
              </a:spcAft>
              <a:buNone/>
            </a:pPr>
            <a:r>
              <a:rPr lang="en-US" sz="1200" dirty="0">
                <a:solidFill>
                  <a:srgbClr val="3B4A53"/>
                </a:solidFill>
              </a:rPr>
              <a:t>B. Briscoe (Ed.) et al., "L4S Internet service: Architecture," RFC 9330, 2023  </a:t>
            </a:r>
            <a:pPr indent="0" marL="0">
              <a:spcAft>
                <a:spcPts val="500"/>
              </a:spcAft>
              <a:buNone/>
            </a:pPr>
            <a:r>
              <a:rPr lang="en-US" sz="1100" u="sng" dirty="0">
                <a:solidFill>
                  <a:schemeClr val="accent1"/>
                </a:solidFill>
                <a:hlinkClick r:id="rId7" invalidUrl="" action="" tgtFrame="" tooltip="" history="1" highlightClick="0" endSnd="0">
                  <a:extLst>
                    <a:ext uri="{A12FA001-AC4F-418D-AE19-62706E023703}">
                      <ahyp:hlinkClr xmlns:ahyp="http://schemas.microsoft.com/office/drawing/2018/hyperlinkcolor" val="tx"/>
                    </a:ext>
                  </a:extLst>
                </a:hlinkClick>
              </a:rPr>
              <a:t>https://www.rfc-editor.org/rfc/rfc9330</a:t>
            </a:r>
            <a:endParaRPr lang="en-US" sz="1200" dirty="0"/>
          </a:p>
          <a:p>
            <a:pPr indent="0" marL="0">
              <a:spcAft>
                <a:spcPts val="500"/>
              </a:spcAft>
              <a:buNone/>
            </a:pPr>
            <a:r>
              <a:rPr lang="en-US" sz="1200" dirty="0">
                <a:solidFill>
                  <a:srgbClr val="3B4A53"/>
                </a:solidFill>
              </a:rPr>
              <a:t>D. Borsatti et al., "From IoT to cloud: Applications and performance of the MQTT protocol," ICTON 2020  </a:t>
            </a:r>
            <a:pPr indent="0" marL="0">
              <a:spcAft>
                <a:spcPts val="500"/>
              </a:spcAft>
              <a:buNone/>
            </a:pPr>
            <a:r>
              <a:rPr lang="en-US" sz="1100" u="sng" dirty="0">
                <a:solidFill>
                  <a:schemeClr val="accent1"/>
                </a:solidFill>
                <a:hlinkClick r:id="rId8" invalidUrl="" action="" tgtFrame="" tooltip="" history="1" highlightClick="0" endSnd="0">
                  <a:extLst>
                    <a:ext uri="{A12FA001-AC4F-418D-AE19-62706E023703}">
                      <ahyp:hlinkClr xmlns:ahyp="http://schemas.microsoft.com/office/drawing/2018/hyperlinkcolor" val="tx"/>
                    </a:ext>
                  </a:extLst>
                </a:hlinkClick>
              </a:rPr>
              <a:t>https://research.chalmers.se/en/publication/523631</a:t>
            </a:r>
            <a:endParaRPr lang="en-US" sz="12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914400"/>
          </a:xfrm>
          <a:prstGeom prst="rect">
            <a:avLst/>
          </a:prstGeom>
          <a:noFill/>
          <a:ln/>
        </p:spPr>
        <p:txBody>
          <a:bodyPr wrap="square" lIns="0" tIns="0" rIns="0" bIns="0" rtlCol="0" anchor="ctr"/>
          <a:lstStyle/>
          <a:p>
            <a:pPr algn="l" indent="0" marL="0">
              <a:buNone/>
            </a:pPr>
            <a:r>
              <a:rPr lang="en-US" sz="3000" b="1" dirty="0">
                <a:solidFill>
                  <a:schemeClr val="tx1"/>
                </a:solidFill>
              </a:rPr>
              <a:t>Selected references (2 of 2)</a:t>
            </a:r>
            <a:endParaRPr lang="en-US" sz="3000" dirty="0"/>
          </a:p>
        </p:txBody>
      </p:sp>
      <p:sp>
        <p:nvSpPr>
          <p:cNvPr id="3" name="Text 1"/>
          <p:cNvSpPr txBox="1"/>
          <p:nvPr/>
        </p:nvSpPr>
        <p:spPr>
          <a:xfrm>
            <a:off x="457200" y="1234440"/>
            <a:ext cx="8229600" cy="3429000"/>
          </a:xfrm>
          <a:prstGeom prst="rect">
            <a:avLst/>
          </a:prstGeom>
          <a:noFill/>
          <a:ln/>
        </p:spPr>
        <p:txBody>
          <a:bodyPr wrap="square" lIns="0" tIns="0" rIns="0" bIns="0" rtlCol="0" anchor="t"/>
          <a:lstStyle/>
          <a:p>
            <a:pPr indent="0" marL="0">
              <a:spcAft>
                <a:spcPts val="500"/>
              </a:spcAft>
              <a:buNone/>
            </a:pPr>
            <a:r>
              <a:rPr lang="en-US" sz="1200" dirty="0">
                <a:solidFill>
                  <a:srgbClr val="3B4A53"/>
                </a:solidFill>
              </a:rPr>
              <a:t>I. Ahmad et al., "Adaptive lightweight security for performance efficiency in critical healthcare monitoring," arXiv:2406.03786, 2024  </a:t>
            </a:r>
            <a:pPr indent="0" marL="0">
              <a:spcAft>
                <a:spcPts val="500"/>
              </a:spcAft>
              <a:buNone/>
            </a:pPr>
            <a:r>
              <a:rPr lang="en-US" sz="1100"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https://arxiv.org/abs/2406.03786</a:t>
            </a:r>
            <a:endParaRPr lang="en-US" sz="1200" dirty="0"/>
          </a:p>
          <a:p>
            <a:pPr indent="0" marL="0">
              <a:spcAft>
                <a:spcPts val="500"/>
              </a:spcAft>
              <a:buNone/>
            </a:pPr>
            <a:r>
              <a:rPr lang="en-US" sz="1200" dirty="0">
                <a:solidFill>
                  <a:srgbClr val="3B4A53"/>
                </a:solidFill>
              </a:rPr>
              <a:t>J. Zhou, Y. Sun, C. Tellambura, IoMT wireless communication survey, arXiv:2504.02446, 2025  </a:t>
            </a:r>
            <a:pPr indent="0" marL="0">
              <a:spcAft>
                <a:spcPts val="500"/>
              </a:spcAft>
              <a:buNone/>
            </a:pPr>
            <a:r>
              <a:rPr lang="en-US" sz="1100"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https://arxiv.org/abs/2504.02446</a:t>
            </a:r>
            <a:endParaRPr lang="en-US" sz="1200" dirty="0"/>
          </a:p>
          <a:p>
            <a:pPr indent="0" marL="0">
              <a:spcAft>
                <a:spcPts val="500"/>
              </a:spcAft>
              <a:buNone/>
            </a:pPr>
            <a:r>
              <a:rPr lang="en-US" sz="1200" dirty="0">
                <a:solidFill>
                  <a:srgbClr val="3B4A53"/>
                </a:solidFill>
              </a:rPr>
              <a:t>N. Nomikos et al., "Deadline-constrained traffic and the number of allowed retransmissions," Entropy 26(8), 2024  </a:t>
            </a:r>
            <a:pPr indent="0" marL="0">
              <a:spcAft>
                <a:spcPts val="500"/>
              </a:spcAft>
              <a:buNone/>
            </a:pPr>
            <a:r>
              <a:rPr lang="en-US" sz="1100" u="sng" dirty="0">
                <a:solidFill>
                  <a:schemeClr val="accent1"/>
                </a:solidFill>
                <a:hlinkClick r:id="rId3" invalidUrl="" action="" tgtFrame="" tooltip="" history="1" highlightClick="0" endSnd="0">
                  <a:extLst>
                    <a:ext uri="{A12FA001-AC4F-418D-AE19-62706E023703}">
                      <ahyp:hlinkClr xmlns:ahyp="http://schemas.microsoft.com/office/drawing/2018/hyperlinkcolor" val="tx"/>
                    </a:ext>
                  </a:extLst>
                </a:hlinkClick>
              </a:rPr>
              <a:t>https://www.mdpi.com/1099-4300/26/8/655</a:t>
            </a:r>
            <a:endParaRPr lang="en-US" sz="1200" dirty="0"/>
          </a:p>
          <a:p>
            <a:pPr indent="0" marL="0">
              <a:spcAft>
                <a:spcPts val="500"/>
              </a:spcAft>
              <a:buNone/>
            </a:pPr>
            <a:r>
              <a:rPr lang="en-US" sz="1200" dirty="0">
                <a:solidFill>
                  <a:srgbClr val="3B4A53"/>
                </a:solidFill>
              </a:rPr>
              <a:t>J. Livingood, "Improving latency with AQM during COVID-19," arXiv:2107.13968, 2021  </a:t>
            </a:r>
            <a:pPr indent="0" marL="0">
              <a:spcAft>
                <a:spcPts val="500"/>
              </a:spcAft>
              <a:buNone/>
            </a:pPr>
            <a:r>
              <a:rPr lang="en-US" sz="1100" u="sng" dirty="0">
                <a:solidFill>
                  <a:schemeClr val="accent1"/>
                </a:solidFill>
                <a:hlinkClick r:id="rId4" invalidUrl="" action="" tgtFrame="" tooltip="" history="1" highlightClick="0" endSnd="0">
                  <a:extLst>
                    <a:ext uri="{A12FA001-AC4F-418D-AE19-62706E023703}">
                      <ahyp:hlinkClr xmlns:ahyp="http://schemas.microsoft.com/office/drawing/2018/hyperlinkcolor" val="tx"/>
                    </a:ext>
                  </a:extLst>
                </a:hlinkClick>
              </a:rPr>
              <a:t>https://arxiv.org/abs/2107.13968</a:t>
            </a:r>
            <a:endParaRPr lang="en-US" sz="1200" dirty="0"/>
          </a:p>
          <a:p>
            <a:pPr indent="0" marL="0">
              <a:spcAft>
                <a:spcPts val="500"/>
              </a:spcAft>
              <a:buNone/>
            </a:pPr>
            <a:r>
              <a:rPr lang="en-US" sz="1200" dirty="0">
                <a:solidFill>
                  <a:srgbClr val="3B4A53"/>
                </a:solidFill>
              </a:rPr>
              <a:t>S. Aoyagi et al., "Evaluation of AQM and TCP congestion control in WiFi networks," MITA 2022  </a:t>
            </a:r>
            <a:pPr indent="0" marL="0">
              <a:spcAft>
                <a:spcPts val="500"/>
              </a:spcAft>
              <a:buNone/>
            </a:pPr>
            <a:r>
              <a:rPr lang="en-US" sz="1100" u="sng" dirty="0">
                <a:solidFill>
                  <a:schemeClr val="accent1"/>
                </a:solidFill>
                <a:hlinkClick r:id="rId5" invalidUrl="" action="" tgtFrame="" tooltip="" history="1" highlightClick="0" endSnd="0">
                  <a:extLst>
                    <a:ext uri="{A12FA001-AC4F-418D-AE19-62706E023703}">
                      <ahyp:hlinkClr xmlns:ahyp="http://schemas.microsoft.com/office/drawing/2018/hyperlinkcolor" val="tx"/>
                    </a:ext>
                  </a:extLst>
                </a:hlinkClick>
              </a:rPr>
              <a:t>https://www.s-lab.nd.chiba-u.jp/achievements/abst.php?paper=683</a:t>
            </a:r>
            <a:endParaRPr lang="en-US" sz="1200" dirty="0"/>
          </a:p>
          <a:p>
            <a:pPr indent="0" marL="0">
              <a:spcAft>
                <a:spcPts val="500"/>
              </a:spcAft>
              <a:buNone/>
            </a:pPr>
            <a:r>
              <a:rPr lang="en-US" sz="1200" dirty="0">
                <a:solidFill>
                  <a:srgbClr val="3B4A53"/>
                </a:solidFill>
              </a:rPr>
              <a:t>V. Sitaram A. et al., "QoS provisioning ability of IEEE 802.11e WLAN," arXiv:2112.07170, 2021  </a:t>
            </a:r>
            <a:pPr indent="0" marL="0">
              <a:spcAft>
                <a:spcPts val="500"/>
              </a:spcAft>
              <a:buNone/>
            </a:pPr>
            <a:r>
              <a:rPr lang="en-US" sz="1100" u="sng" dirty="0">
                <a:solidFill>
                  <a:schemeClr val="accent1"/>
                </a:solidFill>
                <a:hlinkClick r:id="rId6" invalidUrl="" action="" tgtFrame="" tooltip="" history="1" highlightClick="0" endSnd="0">
                  <a:extLst>
                    <a:ext uri="{A12FA001-AC4F-418D-AE19-62706E023703}">
                      <ahyp:hlinkClr xmlns:ahyp="http://schemas.microsoft.com/office/drawing/2018/hyperlinkcolor" val="tx"/>
                    </a:ext>
                  </a:extLst>
                </a:hlinkClick>
              </a:rPr>
              <a:t>https://arxiv.org/abs/2112.07170</a:t>
            </a:r>
            <a:endParaRPr lang="en-US" sz="1200" dirty="0"/>
          </a:p>
          <a:p>
            <a:pPr indent="0" marL="0">
              <a:spcAft>
                <a:spcPts val="500"/>
              </a:spcAft>
              <a:buNone/>
            </a:pPr>
            <a:r>
              <a:rPr lang="en-US" sz="1200" dirty="0">
                <a:solidFill>
                  <a:srgbClr val="3B4A53"/>
                </a:solidFill>
              </a:rPr>
              <a:t>Memoona, S. W. Kim, "Performance and simulation analysis of 802.11ax OFDMA," PeerJ CS 11:e2687, 2025  </a:t>
            </a:r>
            <a:pPr indent="0" marL="0">
              <a:spcAft>
                <a:spcPts val="500"/>
              </a:spcAft>
              <a:buNone/>
            </a:pPr>
            <a:r>
              <a:rPr lang="en-US" sz="1100" u="sng" dirty="0">
                <a:solidFill>
                  <a:schemeClr val="accent1"/>
                </a:solidFill>
                <a:hlinkClick r:id="rId7" invalidUrl="" action="" tgtFrame="" tooltip="" history="1" highlightClick="0" endSnd="0">
                  <a:extLst>
                    <a:ext uri="{A12FA001-AC4F-418D-AE19-62706E023703}">
                      <ahyp:hlinkClr xmlns:ahyp="http://schemas.microsoft.com/office/drawing/2018/hyperlinkcolor" val="tx"/>
                    </a:ext>
                  </a:extLst>
                </a:hlinkClick>
              </a:rPr>
              <a:t>https://peerj.com/articles/cs-2687</a:t>
            </a:r>
            <a:endParaRPr lang="en-US" sz="1200" dirty="0"/>
          </a:p>
          <a:p>
            <a:pPr indent="0" marL="0">
              <a:spcAft>
                <a:spcPts val="500"/>
              </a:spcAft>
              <a:buNone/>
            </a:pPr>
            <a:r>
              <a:rPr lang="en-US" sz="1200" dirty="0">
                <a:solidFill>
                  <a:srgbClr val="3B4A53"/>
                </a:solidFill>
              </a:rPr>
              <a:t>ns-3 network simulator (release 3.47 used for the baseline)  </a:t>
            </a:r>
            <a:pPr indent="0" marL="0">
              <a:spcAft>
                <a:spcPts val="500"/>
              </a:spcAft>
              <a:buNone/>
            </a:pPr>
            <a:r>
              <a:rPr lang="en-US" sz="1100" u="sng" dirty="0">
                <a:solidFill>
                  <a:schemeClr val="accent1"/>
                </a:solidFill>
                <a:hlinkClick r:id="rId8" invalidUrl="" action="" tgtFrame="" tooltip="" history="1" highlightClick="0" endSnd="0">
                  <a:extLst>
                    <a:ext uri="{A12FA001-AC4F-418D-AE19-62706E023703}">
                      <ahyp:hlinkClr xmlns:ahyp="http://schemas.microsoft.com/office/drawing/2018/hyperlinkcolor" val="tx"/>
                    </a:ext>
                  </a:extLst>
                </a:hlinkClick>
              </a:rPr>
              <a:t>https://www.nsnam.org/</a:t>
            </a:r>
            <a:endParaRPr lang="en-US" sz="12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Telemetry">
  <a:themeElements>
    <a:clrScheme name="Telemetry">
      <a:dk1>
        <a:srgbClr val="0E2A38"/>
      </a:dk1>
      <a:lt1>
        <a:srgbClr val="FFFFFF"/>
      </a:lt1>
      <a:dk2>
        <a:srgbClr val="0E7C86"/>
      </a:dk2>
      <a:lt2>
        <a:srgbClr val="EAF3F4"/>
      </a:lt2>
      <a:accent1>
        <a:srgbClr val="0E7C86"/>
      </a:accent1>
      <a:accent2>
        <a:srgbClr val="E4572E"/>
      </a:accent2>
      <a:accent3>
        <a:srgbClr val="F2A541"/>
      </a:accent3>
      <a:accent4>
        <a:srgbClr val="5B8FB9"/>
      </a:accent4>
      <a:accent5>
        <a:srgbClr val="7A8B99"/>
      </a:accent5>
      <a:accent6>
        <a:srgbClr val="3DA35D"/>
      </a:accent6>
      <a:hlink>
        <a:srgbClr val="0E7C86"/>
      </a:hlink>
      <a:folHlink>
        <a:srgbClr val="7A8B99"/>
      </a:folHlink>
    </a:clrScheme>
    <a:fontScheme name="Telemet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Transport Layer Optimization for Real-Time Healthcare Telemetry in Congested Wireless Networks</dc:title>
  <dc:subject>PptxGenJS Presentation</dc:subject>
  <dc:creator>[Presenter name]</dc:creator>
  <cp:lastModifiedBy>[Presenter name]</cp:lastModifiedBy>
  <cp:revision>1</cp:revision>
  <dcterms:created xsi:type="dcterms:W3CDTF">2026-10-13T15:51:00Z</dcterms:created>
  <dcterms:modified xsi:type="dcterms:W3CDTF">2026-10-13T15:51:00Z</dcterms:modified>
</cp:coreProperties>
</file>